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1" r:id="rId16"/>
    <p:sldId id="272"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6" d="100"/>
          <a:sy n="86" d="100"/>
        </p:scale>
        <p:origin x="533"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HP\Desktop\Excel%20project\car_sale_final.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HP\Desktop\Excel%20project\car_sale_final.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[car_sale_final.xlsx]Dashboard!PivotTable5</c:name>
    <c:fmtId val="12"/>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City</a:t>
            </a:r>
            <a:r>
              <a:rPr lang="en-US" baseline="0"/>
              <a:t> Wise  Sale Report</a:t>
            </a:r>
            <a:endParaRPr lang="en-US"/>
          </a:p>
        </c:rich>
      </c:tx>
      <c:layout>
        <c:manualLayout>
          <c:xMode val="edge"/>
          <c:yMode val="edge"/>
          <c:x val="0.17773962804005725"/>
          <c:y val="9.20759966973939E-2"/>
        </c:manualLayout>
      </c:layout>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dLbl>
          <c:idx val="0"/>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4"/>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5"/>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8"/>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9"/>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1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12"/>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
        <c:idx val="13"/>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pivotFmt>
    </c:pivotFmts>
    <c:plotArea>
      <c:layout>
        <c:manualLayout>
          <c:layoutTarget val="inner"/>
          <c:xMode val="edge"/>
          <c:yMode val="edge"/>
          <c:x val="0.22395217205664517"/>
          <c:y val="0.39148723545611741"/>
          <c:w val="0.42080789795066986"/>
          <c:h val="0.52415541720875913"/>
        </c:manualLayout>
      </c:layout>
      <c:doughnutChart>
        <c:varyColors val="1"/>
        <c:ser>
          <c:idx val="0"/>
          <c:order val="0"/>
          <c:tx>
            <c:strRef>
              <c:f>Dashboard!$C$18</c:f>
              <c:strCache>
                <c:ptCount val="1"/>
                <c:pt idx="0">
                  <c:v>Total</c:v>
                </c:pt>
              </c:strCache>
            </c:strRef>
          </c:tx>
          <c:dPt>
            <c:idx val="0"/>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57E7-44B2-B94C-4B22E2EEA445}"/>
              </c:ext>
            </c:extLst>
          </c:dPt>
          <c:dPt>
            <c:idx val="1"/>
            <c:bubble3D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57E7-44B2-B94C-4B22E2EEA445}"/>
              </c:ext>
            </c:extLst>
          </c:dPt>
          <c:dPt>
            <c:idx val="2"/>
            <c:bubble3D val="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57E7-44B2-B94C-4B22E2EEA445}"/>
              </c:ext>
            </c:extLst>
          </c:dPt>
          <c:cat>
            <c:strRef>
              <c:f>Dashboard!$B$19:$B$22</c:f>
              <c:strCache>
                <c:ptCount val="3"/>
                <c:pt idx="0">
                  <c:v>Metro</c:v>
                </c:pt>
                <c:pt idx="1">
                  <c:v>Tier 1</c:v>
                </c:pt>
                <c:pt idx="2">
                  <c:v>Tier 2</c:v>
                </c:pt>
              </c:strCache>
            </c:strRef>
          </c:cat>
          <c:val>
            <c:numRef>
              <c:f>Dashboard!$C$19:$C$22</c:f>
              <c:numCache>
                <c:formatCode>General</c:formatCode>
                <c:ptCount val="3"/>
                <c:pt idx="0">
                  <c:v>17</c:v>
                </c:pt>
                <c:pt idx="1">
                  <c:v>11</c:v>
                </c:pt>
                <c:pt idx="2">
                  <c:v>7</c:v>
                </c:pt>
              </c:numCache>
            </c:numRef>
          </c:val>
          <c:extLst>
            <c:ext xmlns:c16="http://schemas.microsoft.com/office/drawing/2014/chart" uri="{C3380CC4-5D6E-409C-BE32-E72D297353CC}">
              <c16:uniqueId val="{00000006-57E7-44B2-B94C-4B22E2EEA445}"/>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Series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[car_sale_final.xlsx]City_category!PivotTable3</c:name>
    <c:fmtId val="7"/>
  </c:pivotSource>
  <c:chart>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dLbl>
          <c:idx val="0"/>
          <c:showLegendKey val="0"/>
          <c:showVal val="0"/>
          <c:showCatName val="0"/>
          <c:showSerName val="0"/>
          <c:showPercent val="0"/>
          <c:showBubbleSize val="0"/>
          <c:extLst>
            <c:ext xmlns:c15="http://schemas.microsoft.com/office/drawing/2012/chart" uri="{CE6537A1-D6FC-4f65-9D91-7224C49458BB}"/>
          </c:extLst>
        </c:dLbl>
      </c:pivotFmt>
      <c:pivotFmt>
        <c:idx val="3"/>
        <c:dLbl>
          <c:idx val="0"/>
          <c:showLegendKey val="0"/>
          <c:showVal val="0"/>
          <c:showCatName val="0"/>
          <c:showSerName val="0"/>
          <c:showPercent val="0"/>
          <c:showBubbleSize val="0"/>
          <c:extLst>
            <c:ext xmlns:c15="http://schemas.microsoft.com/office/drawing/2012/chart" uri="{CE6537A1-D6FC-4f65-9D91-7224C49458BB}"/>
          </c:extLst>
        </c:dLbl>
      </c:pivotFmt>
      <c:pivotFmt>
        <c:idx val="4"/>
        <c:dLbl>
          <c:idx val="0"/>
          <c:showLegendKey val="0"/>
          <c:showVal val="0"/>
          <c:showCatName val="0"/>
          <c:showSerName val="0"/>
          <c:showPercent val="0"/>
          <c:showBubbleSize val="0"/>
          <c:extLst>
            <c:ext xmlns:c15="http://schemas.microsoft.com/office/drawing/2012/chart" uri="{CE6537A1-D6FC-4f65-9D91-7224C49458BB}"/>
          </c:extLst>
        </c:dLbl>
      </c:pivotFmt>
      <c:pivotFmt>
        <c:idx val="5"/>
        <c:dLbl>
          <c:idx val="0"/>
          <c:showLegendKey val="0"/>
          <c:showVal val="0"/>
          <c:showCatName val="0"/>
          <c:showSerName val="0"/>
          <c:showPercent val="0"/>
          <c:showBubbleSize val="0"/>
          <c:extLst>
            <c:ext xmlns:c15="http://schemas.microsoft.com/office/drawing/2012/chart" uri="{CE6537A1-D6FC-4f65-9D91-7224C49458BB}"/>
          </c:extLst>
        </c:dLbl>
      </c:pivotFmt>
      <c:pivotFmt>
        <c:idx val="6"/>
        <c:dLbl>
          <c:idx val="0"/>
          <c:showLegendKey val="0"/>
          <c:showVal val="0"/>
          <c:showCatName val="0"/>
          <c:showSerName val="0"/>
          <c:showPercent val="0"/>
          <c:showBubbleSize val="0"/>
          <c:extLst>
            <c:ext xmlns:c15="http://schemas.microsoft.com/office/drawing/2012/chart" uri="{CE6537A1-D6FC-4f65-9D91-7224C49458BB}"/>
          </c:extLst>
        </c:dLbl>
      </c:pivotFmt>
      <c:pivotFmt>
        <c:idx val="7"/>
        <c:dLbl>
          <c:idx val="0"/>
          <c:showLegendKey val="0"/>
          <c:showVal val="0"/>
          <c:showCatName val="0"/>
          <c:showSerName val="0"/>
          <c:showPercent val="0"/>
          <c:showBubbleSize val="0"/>
          <c:extLst>
            <c:ext xmlns:c15="http://schemas.microsoft.com/office/drawing/2012/chart" uri="{CE6537A1-D6FC-4f65-9D91-7224C49458BB}"/>
          </c:extLst>
        </c:dLbl>
      </c:pivotFmt>
      <c:pivotFmt>
        <c:idx val="8"/>
        <c:dLbl>
          <c:idx val="0"/>
          <c:showLegendKey val="0"/>
          <c:showVal val="0"/>
          <c:showCatName val="0"/>
          <c:showSerName val="0"/>
          <c:showPercent val="0"/>
          <c:showBubbleSize val="0"/>
          <c:extLst>
            <c:ext xmlns:c15="http://schemas.microsoft.com/office/drawing/2012/chart" uri="{CE6537A1-D6FC-4f65-9D91-7224C49458BB}"/>
          </c:extLst>
        </c:dLbl>
      </c:pivotFmt>
      <c:pivotFmt>
        <c:idx val="9"/>
        <c:dLbl>
          <c:idx val="0"/>
          <c:showLegendKey val="0"/>
          <c:showVal val="0"/>
          <c:showCatName val="0"/>
          <c:showSerName val="0"/>
          <c:showPercent val="0"/>
          <c:showBubbleSize val="0"/>
          <c:extLst>
            <c:ext xmlns:c15="http://schemas.microsoft.com/office/drawing/2012/chart" uri="{CE6537A1-D6FC-4f65-9D91-7224C49458BB}"/>
          </c:extLst>
        </c:dLbl>
      </c:pivotFmt>
      <c:pivotFmt>
        <c:idx val="10"/>
        <c:dLbl>
          <c:idx val="0"/>
          <c:showLegendKey val="0"/>
          <c:showVal val="0"/>
          <c:showCatName val="0"/>
          <c:showSerName val="0"/>
          <c:showPercent val="0"/>
          <c:showBubbleSize val="0"/>
          <c:extLst>
            <c:ext xmlns:c15="http://schemas.microsoft.com/office/drawing/2012/chart" uri="{CE6537A1-D6FC-4f65-9D91-7224C49458BB}"/>
          </c:extLst>
        </c:dLbl>
      </c:pivotFmt>
      <c:pivotFmt>
        <c:idx val="11"/>
        <c:dLbl>
          <c:idx val="0"/>
          <c:showLegendKey val="0"/>
          <c:showVal val="0"/>
          <c:showCatName val="0"/>
          <c:showSerName val="0"/>
          <c:showPercent val="0"/>
          <c:showBubbleSize val="0"/>
          <c:extLst>
            <c:ext xmlns:c15="http://schemas.microsoft.com/office/drawing/2012/chart" uri="{CE6537A1-D6FC-4f65-9D91-7224C49458BB}"/>
          </c:extLst>
        </c:dLbl>
      </c:pivotFmt>
      <c:pivotFmt>
        <c:idx val="12"/>
        <c:dLbl>
          <c:idx val="0"/>
          <c:showLegendKey val="0"/>
          <c:showVal val="0"/>
          <c:showCatName val="0"/>
          <c:showSerName val="0"/>
          <c:showPercent val="0"/>
          <c:showBubbleSize val="0"/>
          <c:extLst>
            <c:ext xmlns:c15="http://schemas.microsoft.com/office/drawing/2012/chart" uri="{CE6537A1-D6FC-4f65-9D91-7224C49458BB}"/>
          </c:extLst>
        </c:dLbl>
      </c:pivotFmt>
      <c:pivotFmt>
        <c:idx val="13"/>
        <c:dLbl>
          <c:idx val="0"/>
          <c:showLegendKey val="0"/>
          <c:showVal val="0"/>
          <c:showCatName val="0"/>
          <c:showSerName val="0"/>
          <c:showPercent val="0"/>
          <c:showBubbleSize val="0"/>
          <c:extLst>
            <c:ext xmlns:c15="http://schemas.microsoft.com/office/drawing/2012/chart" uri="{CE6537A1-D6FC-4f65-9D91-7224C49458BB}"/>
          </c:extLst>
        </c:dLbl>
      </c:pivotFmt>
      <c:pivotFmt>
        <c:idx val="14"/>
        <c:dLbl>
          <c:idx val="0"/>
          <c:showLegendKey val="0"/>
          <c:showVal val="0"/>
          <c:showCatName val="0"/>
          <c:showSerName val="0"/>
          <c:showPercent val="0"/>
          <c:showBubbleSize val="0"/>
          <c:extLst>
            <c:ext xmlns:c15="http://schemas.microsoft.com/office/drawing/2012/chart" uri="{CE6537A1-D6FC-4f65-9D91-7224C49458BB}"/>
          </c:extLst>
        </c:dLbl>
      </c:pivotFmt>
      <c:pivotFmt>
        <c:idx val="15"/>
        <c:dLbl>
          <c:idx val="0"/>
          <c:showLegendKey val="0"/>
          <c:showVal val="0"/>
          <c:showCatName val="0"/>
          <c:showSerName val="0"/>
          <c:showPercent val="0"/>
          <c:showBubbleSize val="0"/>
          <c:extLst>
            <c:ext xmlns:c15="http://schemas.microsoft.com/office/drawing/2012/chart" uri="{CE6537A1-D6FC-4f65-9D91-7224C49458BB}"/>
          </c:extLst>
        </c:dLbl>
      </c:pivotFmt>
      <c:pivotFmt>
        <c:idx val="16"/>
        <c:dLbl>
          <c:idx val="0"/>
          <c:showLegendKey val="0"/>
          <c:showVal val="0"/>
          <c:showCatName val="0"/>
          <c:showSerName val="0"/>
          <c:showPercent val="0"/>
          <c:showBubbleSize val="0"/>
          <c:extLst>
            <c:ext xmlns:c15="http://schemas.microsoft.com/office/drawing/2012/chart" uri="{CE6537A1-D6FC-4f65-9D91-7224C49458BB}"/>
          </c:extLst>
        </c:dLbl>
      </c:pivotFmt>
      <c:pivotFmt>
        <c:idx val="17"/>
        <c:dLbl>
          <c:idx val="0"/>
          <c:showLegendKey val="0"/>
          <c:showVal val="0"/>
          <c:showCatName val="0"/>
          <c:showSerName val="0"/>
          <c:showPercent val="0"/>
          <c:showBubbleSize val="0"/>
          <c:extLst>
            <c:ext xmlns:c15="http://schemas.microsoft.com/office/drawing/2012/chart" uri="{CE6537A1-D6FC-4f65-9D91-7224C49458BB}"/>
          </c:extLst>
        </c:dLbl>
      </c:pivotFmt>
      <c:pivotFmt>
        <c:idx val="18"/>
        <c:dLbl>
          <c:idx val="0"/>
          <c:showLegendKey val="0"/>
          <c:showVal val="0"/>
          <c:showCatName val="0"/>
          <c:showSerName val="0"/>
          <c:showPercent val="0"/>
          <c:showBubbleSize val="0"/>
          <c:extLst>
            <c:ext xmlns:c15="http://schemas.microsoft.com/office/drawing/2012/chart" uri="{CE6537A1-D6FC-4f65-9D91-7224C49458BB}"/>
          </c:extLst>
        </c:dLbl>
      </c:pivotFmt>
      <c:pivotFmt>
        <c:idx val="19"/>
        <c:dLbl>
          <c:idx val="0"/>
          <c:showLegendKey val="0"/>
          <c:showVal val="0"/>
          <c:showCatName val="0"/>
          <c:showSerName val="0"/>
          <c:showPercent val="0"/>
          <c:showBubbleSize val="0"/>
          <c:extLst>
            <c:ext xmlns:c15="http://schemas.microsoft.com/office/drawing/2012/chart" uri="{CE6537A1-D6FC-4f65-9D91-7224C49458BB}"/>
          </c:extLst>
        </c:dLbl>
      </c:pivotFmt>
      <c:pivotFmt>
        <c:idx val="20"/>
        <c:dLbl>
          <c:idx val="0"/>
          <c:showLegendKey val="0"/>
          <c:showVal val="0"/>
          <c:showCatName val="0"/>
          <c:showSerName val="0"/>
          <c:showPercent val="0"/>
          <c:showBubbleSize val="0"/>
          <c:extLst>
            <c:ext xmlns:c15="http://schemas.microsoft.com/office/drawing/2012/chart" uri="{CE6537A1-D6FC-4f65-9D91-7224C49458BB}"/>
          </c:extLst>
        </c:dLbl>
      </c:pivotFmt>
      <c:pivotFmt>
        <c:idx val="21"/>
        <c:dLbl>
          <c:idx val="0"/>
          <c:showLegendKey val="0"/>
          <c:showVal val="0"/>
          <c:showCatName val="0"/>
          <c:showSerName val="0"/>
          <c:showPercent val="0"/>
          <c:showBubbleSize val="0"/>
          <c:extLst>
            <c:ext xmlns:c15="http://schemas.microsoft.com/office/drawing/2012/chart" uri="{CE6537A1-D6FC-4f65-9D91-7224C49458BB}"/>
          </c:extLst>
        </c:dLbl>
      </c:pivotFmt>
      <c:pivotFmt>
        <c:idx val="22"/>
        <c:dLbl>
          <c:idx val="0"/>
          <c:showLegendKey val="0"/>
          <c:showVal val="0"/>
          <c:showCatName val="0"/>
          <c:showSerName val="0"/>
          <c:showPercent val="0"/>
          <c:showBubbleSize val="0"/>
          <c:extLst>
            <c:ext xmlns:c15="http://schemas.microsoft.com/office/drawing/2012/chart" uri="{CE6537A1-D6FC-4f65-9D91-7224C49458BB}"/>
          </c:extLst>
        </c:dLbl>
      </c:pivotFmt>
      <c:pivotFmt>
        <c:idx val="23"/>
        <c:dLbl>
          <c:idx val="0"/>
          <c:showLegendKey val="0"/>
          <c:showVal val="0"/>
          <c:showCatName val="0"/>
          <c:showSerName val="0"/>
          <c:showPercent val="0"/>
          <c:showBubbleSize val="0"/>
          <c:extLst>
            <c:ext xmlns:c15="http://schemas.microsoft.com/office/drawing/2012/chart" uri="{CE6537A1-D6FC-4f65-9D91-7224C49458BB}"/>
          </c:extLst>
        </c:dLbl>
      </c:pivotFmt>
      <c:pivotFmt>
        <c:idx val="24"/>
        <c:dLbl>
          <c:idx val="0"/>
          <c:showLegendKey val="0"/>
          <c:showVal val="0"/>
          <c:showCatName val="0"/>
          <c:showSerName val="0"/>
          <c:showPercent val="0"/>
          <c:showBubbleSize val="0"/>
          <c:extLst>
            <c:ext xmlns:c15="http://schemas.microsoft.com/office/drawing/2012/chart" uri="{CE6537A1-D6FC-4f65-9D91-7224C49458BB}"/>
          </c:extLst>
        </c:dLbl>
      </c:pivotFmt>
      <c:pivotFmt>
        <c:idx val="25"/>
        <c:dLbl>
          <c:idx val="0"/>
          <c:showLegendKey val="0"/>
          <c:showVal val="0"/>
          <c:showCatName val="0"/>
          <c:showSerName val="0"/>
          <c:showPercent val="0"/>
          <c:showBubbleSize val="0"/>
          <c:extLst>
            <c:ext xmlns:c15="http://schemas.microsoft.com/office/drawing/2012/chart" uri="{CE6537A1-D6FC-4f65-9D91-7224C49458BB}"/>
          </c:extLst>
        </c:dLbl>
      </c:pivotFmt>
      <c:pivotFmt>
        <c:idx val="26"/>
        <c:dLbl>
          <c:idx val="0"/>
          <c:showLegendKey val="0"/>
          <c:showVal val="0"/>
          <c:showCatName val="0"/>
          <c:showSerName val="0"/>
          <c:showPercent val="0"/>
          <c:showBubbleSize val="0"/>
          <c:extLst>
            <c:ext xmlns:c15="http://schemas.microsoft.com/office/drawing/2012/chart" uri="{CE6537A1-D6FC-4f65-9D91-7224C49458BB}"/>
          </c:extLst>
        </c:dLbl>
      </c:pivotFmt>
      <c:pivotFmt>
        <c:idx val="27"/>
        <c:dLbl>
          <c:idx val="0"/>
          <c:showLegendKey val="0"/>
          <c:showVal val="0"/>
          <c:showCatName val="0"/>
          <c:showSerName val="0"/>
          <c:showPercent val="0"/>
          <c:showBubbleSize val="0"/>
          <c:extLst>
            <c:ext xmlns:c15="http://schemas.microsoft.com/office/drawing/2012/chart" uri="{CE6537A1-D6FC-4f65-9D91-7224C49458BB}"/>
          </c:extLst>
        </c:dLbl>
      </c:pivotFmt>
      <c:pivotFmt>
        <c:idx val="28"/>
        <c:dLbl>
          <c:idx val="0"/>
          <c:showLegendKey val="0"/>
          <c:showVal val="0"/>
          <c:showCatName val="0"/>
          <c:showSerName val="0"/>
          <c:showPercent val="0"/>
          <c:showBubbleSize val="0"/>
          <c:extLst>
            <c:ext xmlns:c15="http://schemas.microsoft.com/office/drawing/2012/chart" uri="{CE6537A1-D6FC-4f65-9D91-7224C49458BB}"/>
          </c:extLst>
        </c:dLbl>
      </c:pivotFmt>
      <c:pivotFmt>
        <c:idx val="29"/>
        <c:dLbl>
          <c:idx val="0"/>
          <c:showLegendKey val="0"/>
          <c:showVal val="0"/>
          <c:showCatName val="0"/>
          <c:showSerName val="0"/>
          <c:showPercent val="0"/>
          <c:showBubbleSize val="0"/>
          <c:extLst>
            <c:ext xmlns:c15="http://schemas.microsoft.com/office/drawing/2012/chart" uri="{CE6537A1-D6FC-4f65-9D91-7224C49458BB}"/>
          </c:extLst>
        </c:dLbl>
      </c:pivotFmt>
      <c:pivotFmt>
        <c:idx val="30"/>
        <c:dLbl>
          <c:idx val="0"/>
          <c:showLegendKey val="0"/>
          <c:showVal val="0"/>
          <c:showCatName val="0"/>
          <c:showSerName val="0"/>
          <c:showPercent val="0"/>
          <c:showBubbleSize val="0"/>
          <c:extLst>
            <c:ext xmlns:c15="http://schemas.microsoft.com/office/drawing/2012/chart" uri="{CE6537A1-D6FC-4f65-9D91-7224C49458BB}"/>
          </c:extLst>
        </c:dLbl>
      </c:pivotFmt>
      <c:pivotFmt>
        <c:idx val="31"/>
        <c:dLbl>
          <c:idx val="0"/>
          <c:showLegendKey val="0"/>
          <c:showVal val="0"/>
          <c:showCatName val="0"/>
          <c:showSerName val="0"/>
          <c:showPercent val="0"/>
          <c:showBubbleSize val="0"/>
          <c:extLst>
            <c:ext xmlns:c15="http://schemas.microsoft.com/office/drawing/2012/chart" uri="{CE6537A1-D6FC-4f65-9D91-7224C49458BB}"/>
          </c:extLst>
        </c:dLbl>
      </c:pivotFmt>
      <c:pivotFmt>
        <c:idx val="32"/>
        <c:dLbl>
          <c:idx val="0"/>
          <c:showLegendKey val="0"/>
          <c:showVal val="0"/>
          <c:showCatName val="0"/>
          <c:showSerName val="0"/>
          <c:showPercent val="0"/>
          <c:showBubbleSize val="0"/>
          <c:extLst>
            <c:ext xmlns:c15="http://schemas.microsoft.com/office/drawing/2012/chart" uri="{CE6537A1-D6FC-4f65-9D91-7224C49458BB}"/>
          </c:extLst>
        </c:dLbl>
      </c:pivotFmt>
      <c:pivotFmt>
        <c:idx val="33"/>
        <c:dLbl>
          <c:idx val="0"/>
          <c:showLegendKey val="0"/>
          <c:showVal val="0"/>
          <c:showCatName val="0"/>
          <c:showSerName val="0"/>
          <c:showPercent val="0"/>
          <c:showBubbleSize val="0"/>
          <c:extLst>
            <c:ext xmlns:c15="http://schemas.microsoft.com/office/drawing/2012/chart" uri="{CE6537A1-D6FC-4f65-9D91-7224C49458BB}"/>
          </c:extLst>
        </c:dLbl>
      </c:pivotFmt>
      <c:pivotFmt>
        <c:idx val="34"/>
        <c:dLbl>
          <c:idx val="0"/>
          <c:showLegendKey val="0"/>
          <c:showVal val="0"/>
          <c:showCatName val="0"/>
          <c:showSerName val="0"/>
          <c:showPercent val="0"/>
          <c:showBubbleSize val="0"/>
          <c:extLst>
            <c:ext xmlns:c15="http://schemas.microsoft.com/office/drawing/2012/chart" uri="{CE6537A1-D6FC-4f65-9D91-7224C49458BB}"/>
          </c:extLst>
        </c:dLbl>
      </c:pivotFmt>
      <c:pivotFmt>
        <c:idx val="35"/>
        <c:dLbl>
          <c:idx val="0"/>
          <c:showLegendKey val="0"/>
          <c:showVal val="0"/>
          <c:showCatName val="0"/>
          <c:showSerName val="0"/>
          <c:showPercent val="0"/>
          <c:showBubbleSize val="0"/>
          <c:extLst>
            <c:ext xmlns:c15="http://schemas.microsoft.com/office/drawing/2012/chart" uri="{CE6537A1-D6FC-4f65-9D91-7224C49458BB}"/>
          </c:extLst>
        </c:dLbl>
      </c:pivotFmt>
      <c:pivotFmt>
        <c:idx val="36"/>
        <c:dLbl>
          <c:idx val="0"/>
          <c:showLegendKey val="0"/>
          <c:showVal val="0"/>
          <c:showCatName val="0"/>
          <c:showSerName val="0"/>
          <c:showPercent val="0"/>
          <c:showBubbleSize val="0"/>
          <c:extLst>
            <c:ext xmlns:c15="http://schemas.microsoft.com/office/drawing/2012/chart" uri="{CE6537A1-D6FC-4f65-9D91-7224C49458BB}"/>
          </c:extLst>
        </c:dLbl>
      </c:pivotFmt>
      <c:pivotFmt>
        <c:idx val="37"/>
        <c:dLbl>
          <c:idx val="0"/>
          <c:showLegendKey val="0"/>
          <c:showVal val="0"/>
          <c:showCatName val="0"/>
          <c:showSerName val="0"/>
          <c:showPercent val="0"/>
          <c:showBubbleSize val="0"/>
          <c:extLst>
            <c:ext xmlns:c15="http://schemas.microsoft.com/office/drawing/2012/chart" uri="{CE6537A1-D6FC-4f65-9D91-7224C49458BB}"/>
          </c:extLst>
        </c:dLbl>
      </c:pivotFmt>
      <c:pivotFmt>
        <c:idx val="38"/>
        <c:dLbl>
          <c:idx val="0"/>
          <c:showLegendKey val="0"/>
          <c:showVal val="0"/>
          <c:showCatName val="0"/>
          <c:showSerName val="0"/>
          <c:showPercent val="0"/>
          <c:showBubbleSize val="0"/>
          <c:extLst>
            <c:ext xmlns:c15="http://schemas.microsoft.com/office/drawing/2012/chart" uri="{CE6537A1-D6FC-4f65-9D91-7224C49458BB}"/>
          </c:extLst>
        </c:dLbl>
      </c:pivotFmt>
      <c:pivotFmt>
        <c:idx val="39"/>
        <c:dLbl>
          <c:idx val="0"/>
          <c:showLegendKey val="0"/>
          <c:showVal val="0"/>
          <c:showCatName val="0"/>
          <c:showSerName val="0"/>
          <c:showPercent val="0"/>
          <c:showBubbleSize val="0"/>
          <c:extLst>
            <c:ext xmlns:c15="http://schemas.microsoft.com/office/drawing/2012/chart" uri="{CE6537A1-D6FC-4f65-9D91-7224C49458BB}"/>
          </c:extLst>
        </c:dLbl>
      </c:pivotFmt>
      <c:pivotFmt>
        <c:idx val="40"/>
        <c:dLbl>
          <c:idx val="0"/>
          <c:showLegendKey val="0"/>
          <c:showVal val="0"/>
          <c:showCatName val="0"/>
          <c:showSerName val="0"/>
          <c:showPercent val="0"/>
          <c:showBubbleSize val="0"/>
          <c:extLst>
            <c:ext xmlns:c15="http://schemas.microsoft.com/office/drawing/2012/chart" uri="{CE6537A1-D6FC-4f65-9D91-7224C49458BB}"/>
          </c:extLst>
        </c:dLbl>
      </c:pivotFmt>
      <c:pivotFmt>
        <c:idx val="41"/>
        <c:dLbl>
          <c:idx val="0"/>
          <c:showLegendKey val="0"/>
          <c:showVal val="0"/>
          <c:showCatName val="0"/>
          <c:showSerName val="0"/>
          <c:showPercent val="0"/>
          <c:showBubbleSize val="0"/>
          <c:extLst>
            <c:ext xmlns:c15="http://schemas.microsoft.com/office/drawing/2012/chart" uri="{CE6537A1-D6FC-4f65-9D91-7224C49458BB}"/>
          </c:extLst>
        </c:dLbl>
      </c:pivotFmt>
      <c:pivotFmt>
        <c:idx val="42"/>
        <c:dLbl>
          <c:idx val="0"/>
          <c:showLegendKey val="0"/>
          <c:showVal val="0"/>
          <c:showCatName val="0"/>
          <c:showSerName val="0"/>
          <c:showPercent val="0"/>
          <c:showBubbleSize val="0"/>
          <c:extLst>
            <c:ext xmlns:c15="http://schemas.microsoft.com/office/drawing/2012/chart" uri="{CE6537A1-D6FC-4f65-9D91-7224C49458BB}"/>
          </c:extLst>
        </c:dLbl>
      </c:pivotFmt>
      <c:pivotFmt>
        <c:idx val="43"/>
        <c:dLbl>
          <c:idx val="0"/>
          <c:showLegendKey val="0"/>
          <c:showVal val="0"/>
          <c:showCatName val="0"/>
          <c:showSerName val="0"/>
          <c:showPercent val="0"/>
          <c:showBubbleSize val="0"/>
          <c:extLst>
            <c:ext xmlns:c15="http://schemas.microsoft.com/office/drawing/2012/chart" uri="{CE6537A1-D6FC-4f65-9D91-7224C49458BB}"/>
          </c:extLst>
        </c:dLbl>
      </c:pivotFmt>
      <c:pivotFmt>
        <c:idx val="44"/>
        <c:spPr>
          <a:noFill/>
          <a:ln w="9525" cap="flat" cmpd="sng" algn="ctr">
            <a:solidFill>
              <a:schemeClr val="accent1"/>
            </a:solidFill>
            <a:miter lim="800000"/>
          </a:ln>
          <a:effectLst>
            <a:glow rad="63500">
              <a:schemeClr val="accent1">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5"/>
        <c:spPr>
          <a:noFill/>
          <a:ln w="9525" cap="flat" cmpd="sng" algn="ctr">
            <a:solidFill>
              <a:schemeClr val="accent1"/>
            </a:solidFill>
            <a:miter lim="800000"/>
          </a:ln>
          <a:effectLst>
            <a:glow rad="63500">
              <a:schemeClr val="accent1">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6"/>
        <c:spPr>
          <a:noFill/>
          <a:ln w="9525" cap="flat" cmpd="sng" algn="ctr">
            <a:solidFill>
              <a:schemeClr val="accent1"/>
            </a:solidFill>
            <a:miter lim="800000"/>
          </a:ln>
          <a:effectLst>
            <a:glow rad="63500">
              <a:schemeClr val="accent1">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7"/>
        <c:spPr>
          <a:noFill/>
          <a:ln w="9525" cap="flat" cmpd="sng" algn="ctr">
            <a:solidFill>
              <a:schemeClr val="accent1"/>
            </a:solidFill>
            <a:miter lim="800000"/>
          </a:ln>
          <a:effectLst>
            <a:glow rad="63500">
              <a:schemeClr val="accent1">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8"/>
        <c:spPr>
          <a:noFill/>
          <a:ln w="9525" cap="flat" cmpd="sng" algn="ctr">
            <a:solidFill>
              <a:schemeClr val="accent1"/>
            </a:solidFill>
            <a:miter lim="800000"/>
          </a:ln>
          <a:effectLst>
            <a:glow rad="63500">
              <a:schemeClr val="accent1">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9"/>
        <c:spPr>
          <a:noFill/>
          <a:ln w="9525" cap="flat" cmpd="sng" algn="ctr">
            <a:solidFill>
              <a:schemeClr val="accent1"/>
            </a:solidFill>
            <a:miter lim="800000"/>
          </a:ln>
          <a:effectLst>
            <a:glow rad="63500">
              <a:schemeClr val="accent1">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0"/>
        <c:spPr>
          <a:noFill/>
          <a:ln w="9525" cap="flat" cmpd="sng" algn="ctr">
            <a:solidFill>
              <a:schemeClr val="accent1"/>
            </a:solidFill>
            <a:miter lim="800000"/>
          </a:ln>
          <a:effectLst>
            <a:glow rad="63500">
              <a:schemeClr val="accent1">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1"/>
        <c:spPr>
          <a:noFill/>
          <a:ln w="9525" cap="flat" cmpd="sng" algn="ctr">
            <a:solidFill>
              <a:schemeClr val="accent1"/>
            </a:solidFill>
            <a:miter lim="800000"/>
          </a:ln>
          <a:effectLst>
            <a:glow rad="63500">
              <a:schemeClr val="accent1">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2"/>
        <c:spPr>
          <a:noFill/>
          <a:ln w="9525" cap="flat" cmpd="sng" algn="ctr">
            <a:solidFill>
              <a:schemeClr val="accent1"/>
            </a:solidFill>
            <a:miter lim="800000"/>
          </a:ln>
          <a:effectLst>
            <a:glow rad="63500">
              <a:schemeClr val="accent1">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3"/>
        <c:spPr>
          <a:noFill/>
          <a:ln w="9525" cap="flat" cmpd="sng" algn="ctr">
            <a:solidFill>
              <a:schemeClr val="accent1"/>
            </a:solidFill>
            <a:miter lim="800000"/>
          </a:ln>
          <a:effectLst>
            <a:glow rad="63500">
              <a:schemeClr val="accent1">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4"/>
        <c:spPr>
          <a:noFill/>
          <a:ln w="9525" cap="flat" cmpd="sng" algn="ctr">
            <a:solidFill>
              <a:schemeClr val="accent1"/>
            </a:solidFill>
            <a:miter lim="800000"/>
          </a:ln>
          <a:effectLst>
            <a:glow rad="63500">
              <a:schemeClr val="accent1">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5"/>
        <c:spPr>
          <a:noFill/>
          <a:ln w="9525" cap="flat" cmpd="sng" algn="ctr">
            <a:solidFill>
              <a:schemeClr val="accent1"/>
            </a:solidFill>
            <a:miter lim="800000"/>
          </a:ln>
          <a:effectLst>
            <a:glow rad="63500">
              <a:schemeClr val="accent1">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6"/>
        <c:spPr>
          <a:noFill/>
          <a:ln w="9525" cap="flat" cmpd="sng" algn="ctr">
            <a:solidFill>
              <a:schemeClr val="accent1"/>
            </a:solidFill>
            <a:miter lim="800000"/>
          </a:ln>
          <a:effectLst>
            <a:glow rad="63500">
              <a:schemeClr val="accent1">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7"/>
        <c:spPr>
          <a:noFill/>
          <a:ln w="9525" cap="flat" cmpd="sng" algn="ctr">
            <a:solidFill>
              <a:schemeClr val="accent1"/>
            </a:solidFill>
            <a:miter lim="800000"/>
          </a:ln>
          <a:effectLst>
            <a:glow rad="63500">
              <a:schemeClr val="accent1">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8"/>
        <c:spPr>
          <a:noFill/>
          <a:ln w="9525" cap="flat" cmpd="sng" algn="ctr">
            <a:solidFill>
              <a:schemeClr val="accent1"/>
            </a:solidFill>
            <a:miter lim="800000"/>
          </a:ln>
          <a:effectLst>
            <a:glow rad="63500">
              <a:schemeClr val="accent1">
                <a:satMod val="175000"/>
                <a:alpha val="25000"/>
              </a:schemeClr>
            </a:glo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7.4740614710738576E-2"/>
          <c:y val="9.6873379087160941E-2"/>
          <c:w val="0.84889140041515398"/>
          <c:h val="0.83063324727834276"/>
        </c:manualLayout>
      </c:layout>
      <c:barChart>
        <c:barDir val="col"/>
        <c:grouping val="clustered"/>
        <c:varyColors val="0"/>
        <c:ser>
          <c:idx val="0"/>
          <c:order val="0"/>
          <c:tx>
            <c:strRef>
              <c:f>City_category!$B$3:$B$4</c:f>
              <c:strCache>
                <c:ptCount val="1"/>
                <c:pt idx="0">
                  <c:v>Metro</c:v>
                </c:pt>
              </c:strCache>
            </c:strRef>
          </c:tx>
          <c:spPr>
            <a:noFill/>
            <a:ln w="9525" cap="flat" cmpd="sng" algn="ctr">
              <a:solidFill>
                <a:schemeClr val="accent1"/>
              </a:solidFill>
              <a:miter lim="800000"/>
            </a:ln>
            <a:effectLst>
              <a:glow rad="63500">
                <a:schemeClr val="accent1">
                  <a:satMod val="175000"/>
                  <a:alpha val="25000"/>
                </a:schemeClr>
              </a:glow>
            </a:effectLst>
          </c:spPr>
          <c:invertIfNegative val="0"/>
          <c:cat>
            <c:strRef>
              <c:f>City_category!$A$5:$A$16</c:f>
              <c:strCache>
                <c:ptCount val="11"/>
                <c:pt idx="0">
                  <c:v>Tata Altroz</c:v>
                </c:pt>
                <c:pt idx="1">
                  <c:v>Tata Curvv</c:v>
                </c:pt>
                <c:pt idx="2">
                  <c:v>Tata Harrier</c:v>
                </c:pt>
                <c:pt idx="3">
                  <c:v>Tata Nexon</c:v>
                </c:pt>
                <c:pt idx="4">
                  <c:v>Tata Nexon EV</c:v>
                </c:pt>
                <c:pt idx="5">
                  <c:v>Tata Punch</c:v>
                </c:pt>
                <c:pt idx="6">
                  <c:v>Tata Punch EV</c:v>
                </c:pt>
                <c:pt idx="7">
                  <c:v>Tata Safari</c:v>
                </c:pt>
                <c:pt idx="8">
                  <c:v>Tata Tiago</c:v>
                </c:pt>
                <c:pt idx="9">
                  <c:v>Tata Tiago EV</c:v>
                </c:pt>
                <c:pt idx="10">
                  <c:v>Tata Tigor</c:v>
                </c:pt>
              </c:strCache>
            </c:strRef>
          </c:cat>
          <c:val>
            <c:numRef>
              <c:f>City_category!$B$5:$B$16</c:f>
              <c:numCache>
                <c:formatCode>General</c:formatCode>
                <c:ptCount val="11"/>
                <c:pt idx="0">
                  <c:v>2130000</c:v>
                </c:pt>
                <c:pt idx="1">
                  <c:v>2180000</c:v>
                </c:pt>
                <c:pt idx="2">
                  <c:v>4450000</c:v>
                </c:pt>
                <c:pt idx="3">
                  <c:v>2510000</c:v>
                </c:pt>
                <c:pt idx="4">
                  <c:v>2930000</c:v>
                </c:pt>
                <c:pt idx="5">
                  <c:v>670000</c:v>
                </c:pt>
                <c:pt idx="6">
                  <c:v>1220000</c:v>
                </c:pt>
                <c:pt idx="7">
                  <c:v>1650000</c:v>
                </c:pt>
                <c:pt idx="9">
                  <c:v>1950000</c:v>
                </c:pt>
                <c:pt idx="10">
                  <c:v>645000</c:v>
                </c:pt>
              </c:numCache>
            </c:numRef>
          </c:val>
          <c:extLst>
            <c:ext xmlns:c16="http://schemas.microsoft.com/office/drawing/2014/chart" uri="{C3380CC4-5D6E-409C-BE32-E72D297353CC}">
              <c16:uniqueId val="{00000000-362A-4116-BFD0-E237742E5BF6}"/>
            </c:ext>
          </c:extLst>
        </c:ser>
        <c:ser>
          <c:idx val="1"/>
          <c:order val="1"/>
          <c:tx>
            <c:strRef>
              <c:f>City_category!$C$3:$C$4</c:f>
              <c:strCache>
                <c:ptCount val="1"/>
                <c:pt idx="0">
                  <c:v>Tier 1</c:v>
                </c:pt>
              </c:strCache>
            </c:strRef>
          </c:tx>
          <c:spPr>
            <a:noFill/>
            <a:ln w="9525" cap="flat" cmpd="sng" algn="ctr">
              <a:solidFill>
                <a:schemeClr val="accent2"/>
              </a:solidFill>
              <a:miter lim="800000"/>
            </a:ln>
            <a:effectLst>
              <a:glow rad="63500">
                <a:schemeClr val="accent2">
                  <a:satMod val="175000"/>
                  <a:alpha val="25000"/>
                </a:schemeClr>
              </a:glow>
            </a:effectLst>
          </c:spPr>
          <c:invertIfNegative val="0"/>
          <c:cat>
            <c:strRef>
              <c:f>City_category!$A$5:$A$16</c:f>
              <c:strCache>
                <c:ptCount val="11"/>
                <c:pt idx="0">
                  <c:v>Tata Altroz</c:v>
                </c:pt>
                <c:pt idx="1">
                  <c:v>Tata Curvv</c:v>
                </c:pt>
                <c:pt idx="2">
                  <c:v>Tata Harrier</c:v>
                </c:pt>
                <c:pt idx="3">
                  <c:v>Tata Nexon</c:v>
                </c:pt>
                <c:pt idx="4">
                  <c:v>Tata Nexon EV</c:v>
                </c:pt>
                <c:pt idx="5">
                  <c:v>Tata Punch</c:v>
                </c:pt>
                <c:pt idx="6">
                  <c:v>Tata Punch EV</c:v>
                </c:pt>
                <c:pt idx="7">
                  <c:v>Tata Safari</c:v>
                </c:pt>
                <c:pt idx="8">
                  <c:v>Tata Tiago</c:v>
                </c:pt>
                <c:pt idx="9">
                  <c:v>Tata Tiago EV</c:v>
                </c:pt>
                <c:pt idx="10">
                  <c:v>Tata Tigor</c:v>
                </c:pt>
              </c:strCache>
            </c:strRef>
          </c:cat>
          <c:val>
            <c:numRef>
              <c:f>City_category!$C$5:$C$16</c:f>
              <c:numCache>
                <c:formatCode>General</c:formatCode>
                <c:ptCount val="11"/>
                <c:pt idx="0">
                  <c:v>1455000</c:v>
                </c:pt>
                <c:pt idx="1">
                  <c:v>2170000</c:v>
                </c:pt>
                <c:pt idx="2">
                  <c:v>1550000</c:v>
                </c:pt>
                <c:pt idx="3">
                  <c:v>870000</c:v>
                </c:pt>
                <c:pt idx="4">
                  <c:v>1500000</c:v>
                </c:pt>
                <c:pt idx="5">
                  <c:v>1300000</c:v>
                </c:pt>
                <c:pt idx="6">
                  <c:v>1180000</c:v>
                </c:pt>
                <c:pt idx="7">
                  <c:v>4750000</c:v>
                </c:pt>
                <c:pt idx="9">
                  <c:v>980000</c:v>
                </c:pt>
                <c:pt idx="10">
                  <c:v>1290000</c:v>
                </c:pt>
              </c:numCache>
            </c:numRef>
          </c:val>
          <c:extLst>
            <c:ext xmlns:c16="http://schemas.microsoft.com/office/drawing/2014/chart" uri="{C3380CC4-5D6E-409C-BE32-E72D297353CC}">
              <c16:uniqueId val="{00000001-362A-4116-BFD0-E237742E5BF6}"/>
            </c:ext>
          </c:extLst>
        </c:ser>
        <c:ser>
          <c:idx val="2"/>
          <c:order val="2"/>
          <c:tx>
            <c:strRef>
              <c:f>City_category!$D$3:$D$4</c:f>
              <c:strCache>
                <c:ptCount val="1"/>
                <c:pt idx="0">
                  <c:v>Tier 2</c:v>
                </c:pt>
              </c:strCache>
            </c:strRef>
          </c:tx>
          <c:spPr>
            <a:noFill/>
            <a:ln w="9525" cap="flat" cmpd="sng" algn="ctr">
              <a:solidFill>
                <a:schemeClr val="accent3"/>
              </a:solidFill>
              <a:miter lim="800000"/>
            </a:ln>
            <a:effectLst>
              <a:glow rad="63500">
                <a:schemeClr val="accent3">
                  <a:satMod val="175000"/>
                  <a:alpha val="25000"/>
                </a:schemeClr>
              </a:glow>
            </a:effectLst>
          </c:spPr>
          <c:invertIfNegative val="0"/>
          <c:cat>
            <c:strRef>
              <c:f>City_category!$A$5:$A$16</c:f>
              <c:strCache>
                <c:ptCount val="11"/>
                <c:pt idx="0">
                  <c:v>Tata Altroz</c:v>
                </c:pt>
                <c:pt idx="1">
                  <c:v>Tata Curvv</c:v>
                </c:pt>
                <c:pt idx="2">
                  <c:v>Tata Harrier</c:v>
                </c:pt>
                <c:pt idx="3">
                  <c:v>Tata Nexon</c:v>
                </c:pt>
                <c:pt idx="4">
                  <c:v>Tata Nexon EV</c:v>
                </c:pt>
                <c:pt idx="5">
                  <c:v>Tata Punch</c:v>
                </c:pt>
                <c:pt idx="6">
                  <c:v>Tata Punch EV</c:v>
                </c:pt>
                <c:pt idx="7">
                  <c:v>Tata Safari</c:v>
                </c:pt>
                <c:pt idx="8">
                  <c:v>Tata Tiago</c:v>
                </c:pt>
                <c:pt idx="9">
                  <c:v>Tata Tiago EV</c:v>
                </c:pt>
                <c:pt idx="10">
                  <c:v>Tata Tigor</c:v>
                </c:pt>
              </c:strCache>
            </c:strRef>
          </c:cat>
          <c:val>
            <c:numRef>
              <c:f>City_category!$D$5:$D$16</c:f>
              <c:numCache>
                <c:formatCode>General</c:formatCode>
                <c:ptCount val="11"/>
                <c:pt idx="1">
                  <c:v>1150000</c:v>
                </c:pt>
                <c:pt idx="2">
                  <c:v>1500000</c:v>
                </c:pt>
                <c:pt idx="3">
                  <c:v>1620000</c:v>
                </c:pt>
                <c:pt idx="4">
                  <c:v>1520000</c:v>
                </c:pt>
                <c:pt idx="5">
                  <c:v>1285000</c:v>
                </c:pt>
                <c:pt idx="6">
                  <c:v>2350000</c:v>
                </c:pt>
                <c:pt idx="7">
                  <c:v>1600000</c:v>
                </c:pt>
                <c:pt idx="8">
                  <c:v>1610000</c:v>
                </c:pt>
                <c:pt idx="10">
                  <c:v>1235000</c:v>
                </c:pt>
              </c:numCache>
            </c:numRef>
          </c:val>
          <c:extLst>
            <c:ext xmlns:c16="http://schemas.microsoft.com/office/drawing/2014/chart" uri="{C3380CC4-5D6E-409C-BE32-E72D297353CC}">
              <c16:uniqueId val="{00000002-362A-4116-BFD0-E237742E5BF6}"/>
            </c:ext>
          </c:extLst>
        </c:ser>
        <c:dLbls>
          <c:showLegendKey val="0"/>
          <c:showVal val="0"/>
          <c:showCatName val="0"/>
          <c:showSerName val="0"/>
          <c:showPercent val="0"/>
          <c:showBubbleSize val="0"/>
        </c:dLbls>
        <c:gapWidth val="315"/>
        <c:overlap val="-40"/>
        <c:axId val="898195039"/>
        <c:axId val="898197919"/>
      </c:barChart>
      <c:catAx>
        <c:axId val="898195039"/>
        <c:scaling>
          <c:orientation val="minMax"/>
        </c:scaling>
        <c:delete val="0"/>
        <c:axPos val="b"/>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898197919"/>
        <c:crosses val="autoZero"/>
        <c:auto val="1"/>
        <c:lblAlgn val="ctr"/>
        <c:lblOffset val="100"/>
        <c:noMultiLvlLbl val="0"/>
      </c:catAx>
      <c:valAx>
        <c:axId val="898197919"/>
        <c:scaling>
          <c:orientation val="minMax"/>
        </c:scaling>
        <c:delete val="0"/>
        <c:axPos val="l"/>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898195039"/>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050" b="0" i="0" u="none" strike="noStrike" kern="1200" baseline="0">
              <a:solidFill>
                <a:schemeClr val="lt1">
                  <a:lumMod val="7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dk1">
        <a:lumMod val="75000"/>
        <a:lumOff val="25000"/>
      </a:scheme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7">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13">
  <cs:axisTitle>
    <cs:lnRef idx="0"/>
    <cs:fillRef idx="0"/>
    <cs:effectRef idx="0"/>
    <cs:fontRef idx="minor">
      <a:schemeClr val="lt1">
        <a:lumMod val="75000"/>
      </a:schemeClr>
    </cs:fontRef>
    <cs:defRPr sz="900" b="1" kern="1200"/>
  </cs:axisTitle>
  <cs:categoryAxis>
    <cs:lnRef idx="0"/>
    <cs:fillRef idx="0"/>
    <cs:effectRef idx="0"/>
    <cs:fontRef idx="minor">
      <a:schemeClr val="lt1">
        <a:lumMod val="75000"/>
      </a:schemeClr>
    </cs:fontRef>
    <cs:defRPr sz="900"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9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900"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75000"/>
                <a:lumOff val="25000"/>
              </a:schemeClr>
            </a:gs>
            <a:gs pos="0">
              <a:schemeClr val="dk1">
                <a:lumMod val="65000"/>
                <a:lumOff val="3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900"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400"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69745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jpe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B36"/>
        </a:solidFill>
        <a:effectLst/>
      </p:bgPr>
    </p:bg>
    <p:spTree>
      <p:nvGrpSpPr>
        <p:cNvPr id="1" name=""/>
        <p:cNvGrpSpPr/>
        <p:nvPr/>
      </p:nvGrpSpPr>
      <p:grpSpPr>
        <a:xfrm>
          <a:off x="0" y="0"/>
          <a:ext cx="0" cy="0"/>
          <a:chOff x="0" y="0"/>
          <a:chExt cx="0" cy="0"/>
        </a:xfrm>
      </p:grpSpPr>
      <p:sp>
        <p:nvSpPr>
          <p:cNvPr id="2" name="Shape 0"/>
          <p:cNvSpPr/>
          <p:nvPr/>
        </p:nvSpPr>
        <p:spPr>
          <a:xfrm>
            <a:off x="0" y="5989320"/>
            <a:ext cx="12191695" cy="868680"/>
          </a:xfrm>
          <a:prstGeom prst="rect">
            <a:avLst/>
          </a:prstGeom>
          <a:solidFill>
            <a:srgbClr val="132A52"/>
          </a:solidFill>
          <a:ln/>
        </p:spPr>
        <p:txBody>
          <a:bodyPr/>
          <a:lstStyle/>
          <a:p>
            <a:endParaRPr lang="en-IN"/>
          </a:p>
        </p:txBody>
      </p:sp>
      <p:sp>
        <p:nvSpPr>
          <p:cNvPr id="3" name="Shape 1"/>
          <p:cNvSpPr/>
          <p:nvPr/>
        </p:nvSpPr>
        <p:spPr>
          <a:xfrm>
            <a:off x="365760" y="6391656"/>
            <a:ext cx="594360" cy="64008"/>
          </a:xfrm>
          <a:prstGeom prst="rect">
            <a:avLst/>
          </a:prstGeom>
          <a:solidFill>
            <a:srgbClr val="F2C94C"/>
          </a:solidFill>
          <a:ln/>
        </p:spPr>
        <p:txBody>
          <a:bodyPr/>
          <a:lstStyle/>
          <a:p>
            <a:endParaRPr lang="en-IN"/>
          </a:p>
        </p:txBody>
      </p:sp>
      <p:sp>
        <p:nvSpPr>
          <p:cNvPr id="4" name="Shape 2"/>
          <p:cNvSpPr/>
          <p:nvPr/>
        </p:nvSpPr>
        <p:spPr>
          <a:xfrm>
            <a:off x="1600200" y="6391656"/>
            <a:ext cx="594360" cy="64008"/>
          </a:xfrm>
          <a:prstGeom prst="rect">
            <a:avLst/>
          </a:prstGeom>
          <a:solidFill>
            <a:srgbClr val="F2C94C"/>
          </a:solidFill>
          <a:ln/>
        </p:spPr>
        <p:txBody>
          <a:bodyPr/>
          <a:lstStyle/>
          <a:p>
            <a:endParaRPr lang="en-IN"/>
          </a:p>
        </p:txBody>
      </p:sp>
      <p:sp>
        <p:nvSpPr>
          <p:cNvPr id="5" name="Shape 3"/>
          <p:cNvSpPr/>
          <p:nvPr/>
        </p:nvSpPr>
        <p:spPr>
          <a:xfrm>
            <a:off x="2834640" y="6391656"/>
            <a:ext cx="594360" cy="64008"/>
          </a:xfrm>
          <a:prstGeom prst="rect">
            <a:avLst/>
          </a:prstGeom>
          <a:solidFill>
            <a:srgbClr val="F2C94C"/>
          </a:solidFill>
          <a:ln/>
        </p:spPr>
        <p:txBody>
          <a:bodyPr/>
          <a:lstStyle/>
          <a:p>
            <a:endParaRPr lang="en-IN"/>
          </a:p>
        </p:txBody>
      </p:sp>
      <p:sp>
        <p:nvSpPr>
          <p:cNvPr id="6" name="Shape 4"/>
          <p:cNvSpPr/>
          <p:nvPr/>
        </p:nvSpPr>
        <p:spPr>
          <a:xfrm>
            <a:off x="4069080" y="6391656"/>
            <a:ext cx="594360" cy="64008"/>
          </a:xfrm>
          <a:prstGeom prst="rect">
            <a:avLst/>
          </a:prstGeom>
          <a:solidFill>
            <a:srgbClr val="F2C94C"/>
          </a:solidFill>
          <a:ln/>
        </p:spPr>
        <p:txBody>
          <a:bodyPr/>
          <a:lstStyle/>
          <a:p>
            <a:endParaRPr lang="en-IN"/>
          </a:p>
        </p:txBody>
      </p:sp>
      <p:sp>
        <p:nvSpPr>
          <p:cNvPr id="7" name="Shape 5"/>
          <p:cNvSpPr/>
          <p:nvPr/>
        </p:nvSpPr>
        <p:spPr>
          <a:xfrm>
            <a:off x="5303520" y="6391656"/>
            <a:ext cx="594360" cy="64008"/>
          </a:xfrm>
          <a:prstGeom prst="rect">
            <a:avLst/>
          </a:prstGeom>
          <a:solidFill>
            <a:srgbClr val="F2C94C"/>
          </a:solidFill>
          <a:ln/>
        </p:spPr>
        <p:txBody>
          <a:bodyPr/>
          <a:lstStyle/>
          <a:p>
            <a:endParaRPr lang="en-IN"/>
          </a:p>
        </p:txBody>
      </p:sp>
      <p:sp>
        <p:nvSpPr>
          <p:cNvPr id="8" name="Shape 6"/>
          <p:cNvSpPr/>
          <p:nvPr/>
        </p:nvSpPr>
        <p:spPr>
          <a:xfrm>
            <a:off x="6537960" y="6391656"/>
            <a:ext cx="594360" cy="64008"/>
          </a:xfrm>
          <a:prstGeom prst="rect">
            <a:avLst/>
          </a:prstGeom>
          <a:solidFill>
            <a:srgbClr val="F2C94C"/>
          </a:solidFill>
          <a:ln/>
        </p:spPr>
        <p:txBody>
          <a:bodyPr/>
          <a:lstStyle/>
          <a:p>
            <a:endParaRPr lang="en-IN"/>
          </a:p>
        </p:txBody>
      </p:sp>
      <p:sp>
        <p:nvSpPr>
          <p:cNvPr id="9" name="Shape 7"/>
          <p:cNvSpPr/>
          <p:nvPr/>
        </p:nvSpPr>
        <p:spPr>
          <a:xfrm>
            <a:off x="7772400" y="6391656"/>
            <a:ext cx="594360" cy="64008"/>
          </a:xfrm>
          <a:prstGeom prst="rect">
            <a:avLst/>
          </a:prstGeom>
          <a:solidFill>
            <a:srgbClr val="F2C94C"/>
          </a:solidFill>
          <a:ln/>
        </p:spPr>
        <p:txBody>
          <a:bodyPr/>
          <a:lstStyle/>
          <a:p>
            <a:endParaRPr lang="en-IN"/>
          </a:p>
        </p:txBody>
      </p:sp>
      <p:sp>
        <p:nvSpPr>
          <p:cNvPr id="10" name="Shape 8"/>
          <p:cNvSpPr/>
          <p:nvPr/>
        </p:nvSpPr>
        <p:spPr>
          <a:xfrm>
            <a:off x="9006840" y="6391656"/>
            <a:ext cx="594360" cy="64008"/>
          </a:xfrm>
          <a:prstGeom prst="rect">
            <a:avLst/>
          </a:prstGeom>
          <a:solidFill>
            <a:srgbClr val="F2C94C"/>
          </a:solidFill>
          <a:ln/>
        </p:spPr>
        <p:txBody>
          <a:bodyPr/>
          <a:lstStyle/>
          <a:p>
            <a:endParaRPr lang="en-IN"/>
          </a:p>
        </p:txBody>
      </p:sp>
      <p:sp>
        <p:nvSpPr>
          <p:cNvPr id="11" name="Shape 9"/>
          <p:cNvSpPr/>
          <p:nvPr/>
        </p:nvSpPr>
        <p:spPr>
          <a:xfrm>
            <a:off x="10241280" y="6391656"/>
            <a:ext cx="594360" cy="64008"/>
          </a:xfrm>
          <a:prstGeom prst="rect">
            <a:avLst/>
          </a:prstGeom>
          <a:solidFill>
            <a:srgbClr val="F2C94C"/>
          </a:solidFill>
          <a:ln/>
        </p:spPr>
        <p:txBody>
          <a:bodyPr/>
          <a:lstStyle/>
          <a:p>
            <a:endParaRPr lang="en-IN"/>
          </a:p>
        </p:txBody>
      </p:sp>
      <p:sp>
        <p:nvSpPr>
          <p:cNvPr id="12" name="Shape 10"/>
          <p:cNvSpPr/>
          <p:nvPr/>
        </p:nvSpPr>
        <p:spPr>
          <a:xfrm>
            <a:off x="11475720" y="6391656"/>
            <a:ext cx="594360" cy="64008"/>
          </a:xfrm>
          <a:prstGeom prst="rect">
            <a:avLst/>
          </a:prstGeom>
          <a:solidFill>
            <a:srgbClr val="F2C94C"/>
          </a:solidFill>
          <a:ln/>
        </p:spPr>
        <p:txBody>
          <a:bodyPr/>
          <a:lstStyle/>
          <a:p>
            <a:endParaRPr lang="en-IN"/>
          </a:p>
        </p:txBody>
      </p:sp>
      <p:sp>
        <p:nvSpPr>
          <p:cNvPr id="13" name="Text 11"/>
          <p:cNvSpPr/>
          <p:nvPr/>
        </p:nvSpPr>
        <p:spPr>
          <a:xfrm>
            <a:off x="298955" y="402336"/>
            <a:ext cx="5665729" cy="320040"/>
          </a:xfrm>
          <a:prstGeom prst="rect">
            <a:avLst/>
          </a:prstGeom>
          <a:noFill/>
          <a:ln/>
        </p:spPr>
        <p:txBody>
          <a:bodyPr wrap="square" lIns="0" tIns="0" rIns="0" bIns="0" rtlCol="0" anchor="ctr"/>
          <a:lstStyle/>
          <a:p>
            <a:pPr marL="0" indent="0">
              <a:buNone/>
            </a:pPr>
            <a:r>
              <a:rPr lang="en-US" sz="1200" b="1" kern="0" spc="120" dirty="0">
                <a:solidFill>
                  <a:srgbClr val="2EC4B6"/>
                </a:solidFill>
                <a:latin typeface="Calibri" pitchFamily="34" charset="0"/>
                <a:ea typeface="Calibri" pitchFamily="34" charset="-122"/>
                <a:cs typeface="Calibri" pitchFamily="34" charset="-120"/>
              </a:rPr>
              <a:t>ANUDIP FOUNDATION   •   IN ASSOCIATION WITH ACCENTURE</a:t>
            </a:r>
            <a:endParaRPr lang="en-US" sz="1200" dirty="0"/>
          </a:p>
        </p:txBody>
      </p:sp>
      <p:sp>
        <p:nvSpPr>
          <p:cNvPr id="14" name="Shape 12"/>
          <p:cNvSpPr/>
          <p:nvPr/>
        </p:nvSpPr>
        <p:spPr>
          <a:xfrm>
            <a:off x="365760" y="773632"/>
            <a:ext cx="1554480" cy="54864"/>
          </a:xfrm>
          <a:prstGeom prst="rect">
            <a:avLst/>
          </a:prstGeom>
          <a:solidFill>
            <a:srgbClr val="2E75D6"/>
          </a:solidFill>
          <a:ln/>
        </p:spPr>
        <p:txBody>
          <a:bodyPr/>
          <a:lstStyle/>
          <a:p>
            <a:endParaRPr lang="en-IN"/>
          </a:p>
        </p:txBody>
      </p:sp>
      <p:sp>
        <p:nvSpPr>
          <p:cNvPr id="15" name="Text 13"/>
          <p:cNvSpPr/>
          <p:nvPr/>
        </p:nvSpPr>
        <p:spPr>
          <a:xfrm>
            <a:off x="502920" y="1640629"/>
            <a:ext cx="11155680" cy="731520"/>
          </a:xfrm>
          <a:prstGeom prst="rect">
            <a:avLst/>
          </a:prstGeom>
          <a:noFill/>
          <a:ln/>
        </p:spPr>
        <p:txBody>
          <a:bodyPr wrap="square" lIns="0" tIns="0" rIns="0" bIns="0" rtlCol="0" anchor="ctr"/>
          <a:lstStyle/>
          <a:p>
            <a:pPr marL="0" indent="0" algn="l">
              <a:buNone/>
            </a:pPr>
            <a:r>
              <a:rPr lang="en-US" sz="4400" b="1" dirty="0">
                <a:ln w="22225">
                  <a:solidFill>
                    <a:schemeClr val="accent2"/>
                  </a:solidFill>
                  <a:prstDash val="solid"/>
                </a:ln>
                <a:solidFill>
                  <a:schemeClr val="accent2">
                    <a:lumMod val="40000"/>
                    <a:lumOff val="60000"/>
                  </a:schemeClr>
                </a:solidFill>
                <a:latin typeface="Cambria" pitchFamily="34" charset="0"/>
                <a:ea typeface="Cambria" pitchFamily="34" charset="-122"/>
                <a:cs typeface="Cambria" pitchFamily="34" charset="-120"/>
              </a:rPr>
              <a:t>TATA MOTORS</a:t>
            </a:r>
            <a:endParaRPr lang="en-US" sz="4400" b="1" dirty="0">
              <a:ln w="22225">
                <a:solidFill>
                  <a:schemeClr val="accent2"/>
                </a:solidFill>
                <a:prstDash val="solid"/>
              </a:ln>
              <a:solidFill>
                <a:schemeClr val="accent2">
                  <a:lumMod val="40000"/>
                  <a:lumOff val="60000"/>
                </a:schemeClr>
              </a:solidFill>
            </a:endParaRPr>
          </a:p>
        </p:txBody>
      </p:sp>
      <p:sp>
        <p:nvSpPr>
          <p:cNvPr id="16" name="Text 14"/>
          <p:cNvSpPr/>
          <p:nvPr/>
        </p:nvSpPr>
        <p:spPr>
          <a:xfrm>
            <a:off x="502920" y="2341726"/>
            <a:ext cx="11155680" cy="822960"/>
          </a:xfrm>
          <a:prstGeom prst="rect">
            <a:avLst/>
          </a:prstGeom>
          <a:noFill/>
          <a:ln/>
        </p:spPr>
        <p:txBody>
          <a:bodyPr wrap="square" lIns="0" tIns="0" rIns="0" bIns="0" rtlCol="0" anchor="ctr"/>
          <a:lstStyle/>
          <a:p>
            <a:pPr marL="0" indent="0" algn="l">
              <a:buNone/>
            </a:pPr>
            <a:r>
              <a:rPr lang="en-US" sz="2700" b="1" dirty="0">
                <a:solidFill>
                  <a:srgbClr val="F2C94C"/>
                </a:solidFill>
                <a:latin typeface="Cambria" pitchFamily="34" charset="0"/>
                <a:ea typeface="Cambria" pitchFamily="34" charset="-122"/>
                <a:cs typeface="Cambria" pitchFamily="34" charset="-120"/>
              </a:rPr>
              <a:t>SALES PERFORMANCE &amp; DELIVERY TRACKING DASHBOARD</a:t>
            </a:r>
            <a:endParaRPr lang="en-US" sz="2700" dirty="0"/>
          </a:p>
        </p:txBody>
      </p:sp>
      <p:sp>
        <p:nvSpPr>
          <p:cNvPr id="17" name="Text 15"/>
          <p:cNvSpPr/>
          <p:nvPr/>
        </p:nvSpPr>
        <p:spPr>
          <a:xfrm>
            <a:off x="502920" y="3220615"/>
            <a:ext cx="10058400" cy="365760"/>
          </a:xfrm>
          <a:prstGeom prst="rect">
            <a:avLst/>
          </a:prstGeom>
          <a:noFill/>
          <a:ln/>
        </p:spPr>
        <p:txBody>
          <a:bodyPr wrap="square" lIns="0" tIns="0" rIns="0" bIns="0" rtlCol="0" anchor="ctr"/>
          <a:lstStyle/>
          <a:p>
            <a:pPr marL="0" indent="0" algn="l">
              <a:buNone/>
            </a:pPr>
            <a:r>
              <a:rPr lang="en-US" sz="1500" i="1" dirty="0">
                <a:solidFill>
                  <a:srgbClr val="9FB0CC"/>
                </a:solidFill>
                <a:latin typeface="Calibri" pitchFamily="34" charset="0"/>
                <a:ea typeface="Calibri" pitchFamily="34" charset="-122"/>
                <a:cs typeface="Calibri" pitchFamily="34" charset="-120"/>
              </a:rPr>
              <a:t>A Project Report on Automotive Sales Analytics and Business Intelligence with KPI CARDs </a:t>
            </a:r>
            <a:endParaRPr lang="en-US" sz="1500" dirty="0"/>
          </a:p>
        </p:txBody>
      </p:sp>
      <p:sp>
        <p:nvSpPr>
          <p:cNvPr id="18" name="Shape 16"/>
          <p:cNvSpPr/>
          <p:nvPr/>
        </p:nvSpPr>
        <p:spPr>
          <a:xfrm>
            <a:off x="502920" y="4023360"/>
            <a:ext cx="6949440" cy="1783080"/>
          </a:xfrm>
          <a:prstGeom prst="roundRect">
            <a:avLst>
              <a:gd name="adj" fmla="val 4103"/>
            </a:avLst>
          </a:prstGeom>
          <a:solidFill>
            <a:srgbClr val="132A52"/>
          </a:solidFill>
          <a:ln w="12700">
            <a:solidFill>
              <a:srgbClr val="24406F"/>
            </a:solidFill>
            <a:prstDash val="solid"/>
          </a:ln>
        </p:spPr>
        <p:txBody>
          <a:bodyPr/>
          <a:lstStyle/>
          <a:p>
            <a:endParaRPr lang="en-IN"/>
          </a:p>
        </p:txBody>
      </p:sp>
      <p:sp>
        <p:nvSpPr>
          <p:cNvPr id="19" name="Text 17"/>
          <p:cNvSpPr/>
          <p:nvPr/>
        </p:nvSpPr>
        <p:spPr>
          <a:xfrm>
            <a:off x="731520" y="4187952"/>
            <a:ext cx="1828800" cy="274320"/>
          </a:xfrm>
          <a:prstGeom prst="rect">
            <a:avLst/>
          </a:prstGeom>
          <a:noFill/>
          <a:ln/>
        </p:spPr>
        <p:txBody>
          <a:bodyPr wrap="square" lIns="0" tIns="0" rIns="0" bIns="0" rtlCol="0" anchor="ctr"/>
          <a:lstStyle/>
          <a:p>
            <a:pPr marL="0" indent="0">
              <a:buNone/>
            </a:pPr>
            <a:r>
              <a:rPr lang="en-US" sz="1050" b="1" dirty="0">
                <a:solidFill>
                  <a:srgbClr val="2EC4B6"/>
                </a:solidFill>
                <a:latin typeface="Calibri" pitchFamily="34" charset="0"/>
                <a:ea typeface="Calibri" pitchFamily="34" charset="-122"/>
                <a:cs typeface="Calibri" pitchFamily="34" charset="-120"/>
              </a:rPr>
              <a:t>PREPARED BY</a:t>
            </a:r>
            <a:endParaRPr lang="en-US" sz="1050" dirty="0"/>
          </a:p>
        </p:txBody>
      </p:sp>
      <p:sp>
        <p:nvSpPr>
          <p:cNvPr id="20" name="Text 18"/>
          <p:cNvSpPr/>
          <p:nvPr/>
        </p:nvSpPr>
        <p:spPr>
          <a:xfrm>
            <a:off x="2606040" y="4187952"/>
            <a:ext cx="4709160" cy="320040"/>
          </a:xfrm>
          <a:prstGeom prst="rect">
            <a:avLst/>
          </a:prstGeom>
          <a:noFill/>
          <a:ln/>
        </p:spPr>
        <p:txBody>
          <a:bodyPr wrap="square" lIns="0" tIns="0" rIns="0" bIns="0" rtlCol="0" anchor="ctr"/>
          <a:lstStyle/>
          <a:p>
            <a:r>
              <a:rPr lang="en-US" sz="1100" dirty="0">
                <a:solidFill>
                  <a:srgbClr val="FFFFFF"/>
                </a:solidFill>
                <a:latin typeface="Calibri" pitchFamily="34" charset="0"/>
                <a:ea typeface="Calibri" pitchFamily="34" charset="-122"/>
                <a:cs typeface="Calibri" pitchFamily="34" charset="-120"/>
              </a:rPr>
              <a:t>Tandrima Nandy (MCA) · Vivek Kumar (BCA) · Shrayan Biswas (BSC IT)</a:t>
            </a:r>
            <a:endParaRPr lang="en-US" sz="1100" dirty="0"/>
          </a:p>
        </p:txBody>
      </p:sp>
      <p:sp>
        <p:nvSpPr>
          <p:cNvPr id="21" name="Text 19"/>
          <p:cNvSpPr/>
          <p:nvPr/>
        </p:nvSpPr>
        <p:spPr>
          <a:xfrm>
            <a:off x="731520" y="4590288"/>
            <a:ext cx="1828800" cy="274320"/>
          </a:xfrm>
          <a:prstGeom prst="rect">
            <a:avLst/>
          </a:prstGeom>
          <a:noFill/>
          <a:ln/>
        </p:spPr>
        <p:txBody>
          <a:bodyPr wrap="square" lIns="0" tIns="0" rIns="0" bIns="0" rtlCol="0" anchor="ctr"/>
          <a:lstStyle/>
          <a:p>
            <a:pPr marL="0" indent="0">
              <a:buNone/>
            </a:pPr>
            <a:r>
              <a:rPr lang="en-US" sz="1050" b="1" dirty="0">
                <a:solidFill>
                  <a:srgbClr val="2EC4B6"/>
                </a:solidFill>
                <a:latin typeface="Calibri" pitchFamily="34" charset="0"/>
                <a:ea typeface="Calibri" pitchFamily="34" charset="-122"/>
                <a:cs typeface="Calibri" pitchFamily="34" charset="-120"/>
              </a:rPr>
              <a:t>PROJECT TYPE</a:t>
            </a:r>
            <a:endParaRPr lang="en-US" sz="1050" dirty="0"/>
          </a:p>
        </p:txBody>
      </p:sp>
      <p:sp>
        <p:nvSpPr>
          <p:cNvPr id="22" name="Text 20"/>
          <p:cNvSpPr/>
          <p:nvPr/>
        </p:nvSpPr>
        <p:spPr>
          <a:xfrm>
            <a:off x="2606040" y="4590288"/>
            <a:ext cx="4709160" cy="3200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Excel Data Analytics / Business Intelligence Project</a:t>
            </a:r>
            <a:endParaRPr lang="en-US" sz="1100" dirty="0"/>
          </a:p>
        </p:txBody>
      </p:sp>
      <p:sp>
        <p:nvSpPr>
          <p:cNvPr id="23" name="Text 21"/>
          <p:cNvSpPr/>
          <p:nvPr/>
        </p:nvSpPr>
        <p:spPr>
          <a:xfrm>
            <a:off x="731520" y="4992624"/>
            <a:ext cx="1828800" cy="274320"/>
          </a:xfrm>
          <a:prstGeom prst="rect">
            <a:avLst/>
          </a:prstGeom>
          <a:noFill/>
          <a:ln/>
        </p:spPr>
        <p:txBody>
          <a:bodyPr wrap="square" lIns="0" tIns="0" rIns="0" bIns="0" rtlCol="0" anchor="ctr"/>
          <a:lstStyle/>
          <a:p>
            <a:pPr marL="0" indent="0">
              <a:buNone/>
            </a:pPr>
            <a:r>
              <a:rPr lang="en-US" sz="1050" b="1" dirty="0">
                <a:solidFill>
                  <a:srgbClr val="2EC4B6"/>
                </a:solidFill>
                <a:latin typeface="Calibri" pitchFamily="34" charset="0"/>
                <a:ea typeface="Calibri" pitchFamily="34" charset="-122"/>
                <a:cs typeface="Calibri" pitchFamily="34" charset="-120"/>
              </a:rPr>
              <a:t>BATCH / YEAR</a:t>
            </a:r>
            <a:endParaRPr lang="en-US" sz="1050" dirty="0"/>
          </a:p>
        </p:txBody>
      </p:sp>
      <p:sp>
        <p:nvSpPr>
          <p:cNvPr id="24" name="Text 22"/>
          <p:cNvSpPr/>
          <p:nvPr/>
        </p:nvSpPr>
        <p:spPr>
          <a:xfrm>
            <a:off x="2606040" y="4992624"/>
            <a:ext cx="4709160" cy="3200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Batch 3, 2026</a:t>
            </a:r>
            <a:endParaRPr lang="en-US" sz="1100" dirty="0"/>
          </a:p>
        </p:txBody>
      </p:sp>
      <p:sp>
        <p:nvSpPr>
          <p:cNvPr id="25" name="Text 23"/>
          <p:cNvSpPr/>
          <p:nvPr/>
        </p:nvSpPr>
        <p:spPr>
          <a:xfrm>
            <a:off x="731520" y="5394960"/>
            <a:ext cx="1828800" cy="274320"/>
          </a:xfrm>
          <a:prstGeom prst="rect">
            <a:avLst/>
          </a:prstGeom>
          <a:noFill/>
          <a:ln/>
        </p:spPr>
        <p:txBody>
          <a:bodyPr wrap="square" lIns="0" tIns="0" rIns="0" bIns="0" rtlCol="0" anchor="ctr"/>
          <a:lstStyle/>
          <a:p>
            <a:pPr marL="0" indent="0">
              <a:buNone/>
            </a:pPr>
            <a:r>
              <a:rPr lang="en-US" sz="1050" b="1" dirty="0">
                <a:solidFill>
                  <a:srgbClr val="2EC4B6"/>
                </a:solidFill>
                <a:latin typeface="Calibri" pitchFamily="34" charset="0"/>
                <a:ea typeface="Calibri" pitchFamily="34" charset="-122"/>
                <a:cs typeface="Calibri" pitchFamily="34" charset="-120"/>
              </a:rPr>
              <a:t>MENTORS</a:t>
            </a:r>
            <a:endParaRPr lang="en-US" sz="1050" dirty="0"/>
          </a:p>
        </p:txBody>
      </p:sp>
      <p:sp>
        <p:nvSpPr>
          <p:cNvPr id="26" name="Text 24"/>
          <p:cNvSpPr/>
          <p:nvPr/>
        </p:nvSpPr>
        <p:spPr>
          <a:xfrm>
            <a:off x="2606040" y="5394960"/>
            <a:ext cx="4709160" cy="3200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Sayan Sau &amp; Arpita Gupta</a:t>
            </a:r>
            <a:endParaRPr lang="en-US" sz="1100" dirty="0"/>
          </a:p>
        </p:txBody>
      </p:sp>
      <p:sp>
        <p:nvSpPr>
          <p:cNvPr id="27" name="Shape 25"/>
          <p:cNvSpPr/>
          <p:nvPr/>
        </p:nvSpPr>
        <p:spPr>
          <a:xfrm>
            <a:off x="7680960" y="4026955"/>
            <a:ext cx="4069080" cy="1783080"/>
          </a:xfrm>
          <a:prstGeom prst="roundRect">
            <a:avLst>
              <a:gd name="adj" fmla="val 4103"/>
            </a:avLst>
          </a:prstGeom>
          <a:solidFill>
            <a:srgbClr val="2E75D6"/>
          </a:solidFill>
          <a:ln/>
          <a:effectLst>
            <a:outerShdw blurRad="101600" dist="38100" dir="5400000" algn="bl" rotWithShape="0">
              <a:srgbClr val="000000">
                <a:alpha val="30000"/>
              </a:srgbClr>
            </a:outerShdw>
          </a:effectLst>
        </p:spPr>
        <p:txBody>
          <a:bodyPr/>
          <a:lstStyle/>
          <a:p>
            <a:endParaRPr lang="en-IN"/>
          </a:p>
        </p:txBody>
      </p:sp>
      <p:sp>
        <p:nvSpPr>
          <p:cNvPr id="28" name="Text 26"/>
          <p:cNvSpPr/>
          <p:nvPr/>
        </p:nvSpPr>
        <p:spPr>
          <a:xfrm>
            <a:off x="7620000" y="4590022"/>
            <a:ext cx="4069080" cy="274320"/>
          </a:xfrm>
          <a:prstGeom prst="rect">
            <a:avLst/>
          </a:prstGeom>
          <a:noFill/>
          <a:ln/>
        </p:spPr>
        <p:txBody>
          <a:bodyPr wrap="square" lIns="0" tIns="0" rIns="0" bIns="0" rtlCol="0" anchor="ctr"/>
          <a:lstStyle/>
          <a:p>
            <a:pPr marL="0" indent="0" algn="ctr">
              <a:buNone/>
            </a:pPr>
            <a:r>
              <a:rPr lang="en-US" sz="1100" b="1" dirty="0">
                <a:solidFill>
                  <a:srgbClr val="CFE0FA"/>
                </a:solidFill>
                <a:latin typeface="Calibri" pitchFamily="34" charset="0"/>
                <a:ea typeface="Calibri" pitchFamily="34" charset="-122"/>
                <a:cs typeface="Calibri" pitchFamily="34" charset="-120"/>
              </a:rPr>
              <a:t>REPORTED ON</a:t>
            </a:r>
            <a:endParaRPr lang="en-US" sz="1100" dirty="0"/>
          </a:p>
        </p:txBody>
      </p:sp>
      <p:sp>
        <p:nvSpPr>
          <p:cNvPr id="29" name="Text 27"/>
          <p:cNvSpPr/>
          <p:nvPr/>
        </p:nvSpPr>
        <p:spPr>
          <a:xfrm>
            <a:off x="7635240" y="4741164"/>
            <a:ext cx="4069080" cy="502920"/>
          </a:xfrm>
          <a:prstGeom prst="rect">
            <a:avLst/>
          </a:prstGeom>
          <a:noFill/>
          <a:ln/>
        </p:spPr>
        <p:txBody>
          <a:bodyPr wrap="square" lIns="0" tIns="0" rIns="0" bIns="0" rtlCol="0" anchor="ctr"/>
          <a:lstStyle/>
          <a:p>
            <a:pPr marL="0" indent="0" algn="ctr">
              <a:buNone/>
            </a:pPr>
            <a:r>
              <a:rPr lang="en-US" sz="2200" b="1" i="1" dirty="0">
                <a:solidFill>
                  <a:srgbClr val="FFFFFF"/>
                </a:solidFill>
                <a:latin typeface="Cambria" pitchFamily="34" charset="0"/>
                <a:ea typeface="Cambria" pitchFamily="34" charset="-122"/>
                <a:cs typeface="Cambria" pitchFamily="34" charset="-120"/>
              </a:rPr>
              <a:t>December 2025</a:t>
            </a:r>
            <a:endParaRPr lang="en-US" sz="2200" dirty="0"/>
          </a:p>
        </p:txBody>
      </p:sp>
      <p:sp>
        <p:nvSpPr>
          <p:cNvPr id="30" name="Text 28"/>
          <p:cNvSpPr/>
          <p:nvPr/>
        </p:nvSpPr>
        <p:spPr>
          <a:xfrm>
            <a:off x="7635240" y="5247413"/>
            <a:ext cx="4069080" cy="548640"/>
          </a:xfrm>
          <a:prstGeom prst="rect">
            <a:avLst/>
          </a:prstGeom>
          <a:noFill/>
          <a:ln/>
        </p:spPr>
        <p:txBody>
          <a:bodyPr wrap="square" lIns="0" tIns="0" rIns="0" bIns="0" rtlCol="0" anchor="ctr"/>
          <a:lstStyle/>
          <a:p>
            <a:pPr marL="0" indent="0" algn="ctr">
              <a:buNone/>
            </a:pPr>
            <a:r>
              <a:rPr lang="en-US" sz="1050" dirty="0">
                <a:solidFill>
                  <a:srgbClr val="CFE0FA"/>
                </a:solidFill>
                <a:latin typeface="Calibri" pitchFamily="34" charset="0"/>
                <a:ea typeface="Calibri" pitchFamily="34" charset="-122"/>
                <a:cs typeface="Calibri" pitchFamily="34" charset="-120"/>
              </a:rPr>
              <a:t>Dataset: car_sale_final.xlsx  |  65 records</a:t>
            </a:r>
            <a:endParaRPr lang="en-US" sz="1050" dirty="0"/>
          </a:p>
        </p:txBody>
      </p:sp>
      <p:pic>
        <p:nvPicPr>
          <p:cNvPr id="31" name="Picture 30" descr="Anudip USA">
            <a:extLst>
              <a:ext uri="{FF2B5EF4-FFF2-40B4-BE49-F238E27FC236}">
                <a16:creationId xmlns:a16="http://schemas.microsoft.com/office/drawing/2014/main" id="{D5D358D9-7A55-A89D-6119-3CC46CDA046B}"/>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7200"/>
                    </a14:imgEffect>
                  </a14:imgLayer>
                </a14:imgProps>
              </a:ext>
              <a:ext uri="{28A0092B-C50C-407E-A947-70E740481C1C}">
                <a14:useLocalDpi xmlns:a14="http://schemas.microsoft.com/office/drawing/2010/main" val="0"/>
              </a:ext>
            </a:extLst>
          </a:blip>
          <a:srcRect/>
          <a:stretch>
            <a:fillRect/>
          </a:stretch>
        </p:blipFill>
        <p:spPr bwMode="auto">
          <a:xfrm>
            <a:off x="8238478" y="76517"/>
            <a:ext cx="3675392" cy="1183429"/>
          </a:xfrm>
          <a:prstGeom prst="rect">
            <a:avLst/>
          </a:prstGeom>
          <a:noFill/>
          <a:ln>
            <a:noFill/>
          </a:ln>
        </p:spPr>
      </p:pic>
      <p:sp>
        <p:nvSpPr>
          <p:cNvPr id="33" name="AutoShape 2" descr="Accenture Logo PNG Images – Free Transparent PNG Download ...">
            <a:extLst>
              <a:ext uri="{FF2B5EF4-FFF2-40B4-BE49-F238E27FC236}">
                <a16:creationId xmlns:a16="http://schemas.microsoft.com/office/drawing/2014/main" id="{CDF4C2E6-D158-6D9A-EE51-9CB32D705459}"/>
              </a:ext>
            </a:extLst>
          </p:cNvPr>
          <p:cNvSpPr>
            <a:spLocks noChangeAspect="1" noChangeArrowheads="1"/>
          </p:cNvSpPr>
          <p:nvPr/>
        </p:nvSpPr>
        <p:spPr bwMode="auto">
          <a:xfrm>
            <a:off x="5943599" y="3276599"/>
            <a:ext cx="4176065" cy="417606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5" name="Picture 34">
            <a:extLst>
              <a:ext uri="{FF2B5EF4-FFF2-40B4-BE49-F238E27FC236}">
                <a16:creationId xmlns:a16="http://schemas.microsoft.com/office/drawing/2014/main" id="{B6586C94-61AA-73F0-F60F-1F48841B4B0B}"/>
              </a:ext>
            </a:extLst>
          </p:cNvPr>
          <p:cNvPicPr>
            <a:picLocks noChangeAspect="1"/>
          </p:cNvPicPr>
          <p:nvPr/>
        </p:nvPicPr>
        <p:blipFill>
          <a:blip r:embed="rId5" cstate="print">
            <a:duotone>
              <a:prstClr val="black"/>
              <a:srgbClr val="D9C3A5">
                <a:tint val="50000"/>
                <a:satMod val="180000"/>
              </a:srgbClr>
            </a:duotone>
            <a:extLst>
              <a:ext uri="{28A0092B-C50C-407E-A947-70E740481C1C}">
                <a14:useLocalDpi xmlns:a14="http://schemas.microsoft.com/office/drawing/2010/main" val="0"/>
              </a:ext>
            </a:extLst>
          </a:blip>
          <a:stretch>
            <a:fillRect/>
          </a:stretch>
        </p:blipFill>
        <p:spPr>
          <a:xfrm>
            <a:off x="10165383" y="4055364"/>
            <a:ext cx="1469382" cy="40690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B36"/>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502920"/>
          </a:xfrm>
          <a:prstGeom prst="rect">
            <a:avLst/>
          </a:prstGeom>
          <a:ln/>
        </p:spPr>
        <p:style>
          <a:lnRef idx="1">
            <a:schemeClr val="accent2"/>
          </a:lnRef>
          <a:fillRef idx="3">
            <a:schemeClr val="accent2"/>
          </a:fillRef>
          <a:effectRef idx="2">
            <a:schemeClr val="accent2"/>
          </a:effectRef>
          <a:fontRef idx="minor">
            <a:schemeClr val="lt1"/>
          </a:fontRef>
        </p:style>
        <p:txBody>
          <a:bodyPr wrap="square" lIns="0" tIns="0" rIns="0" bIns="0" rtlCol="0" anchor="ctr"/>
          <a:lstStyle/>
          <a:p>
            <a:pPr marL="0" indent="0" algn="l">
              <a:buNone/>
            </a:pPr>
            <a:r>
              <a:rPr lang="en-US" sz="2600" b="1" kern="0" spc="50" dirty="0">
                <a:solidFill>
                  <a:srgbClr val="FFFFFF"/>
                </a:solidFill>
                <a:latin typeface="Cambria" pitchFamily="34" charset="0"/>
                <a:ea typeface="Cambria" pitchFamily="34" charset="-122"/>
                <a:cs typeface="Cambria" pitchFamily="34" charset="-120"/>
              </a:rPr>
              <a:t>TEAM MEMBERS : </a:t>
            </a:r>
            <a:endParaRPr lang="en-US" sz="2600" dirty="0"/>
          </a:p>
        </p:txBody>
      </p:sp>
      <p:sp>
        <p:nvSpPr>
          <p:cNvPr id="3" name="Text 1"/>
          <p:cNvSpPr/>
          <p:nvPr/>
        </p:nvSpPr>
        <p:spPr>
          <a:xfrm>
            <a:off x="502920" y="804672"/>
            <a:ext cx="11155680" cy="292608"/>
          </a:xfrm>
          <a:prstGeom prst="rect">
            <a:avLst/>
          </a:prstGeom>
          <a:noFill/>
          <a:ln/>
        </p:spPr>
        <p:txBody>
          <a:bodyPr wrap="square" lIns="0" tIns="0" rIns="0" bIns="0" rtlCol="0" anchor="ctr"/>
          <a:lstStyle/>
          <a:p>
            <a:pPr marL="0" indent="0" algn="l">
              <a:buNone/>
            </a:pPr>
            <a:r>
              <a:rPr lang="en-US" sz="1250" i="1" dirty="0">
                <a:solidFill>
                  <a:srgbClr val="9FB0CC"/>
                </a:solidFill>
                <a:latin typeface="Calibri" pitchFamily="34" charset="0"/>
                <a:ea typeface="Calibri" pitchFamily="34" charset="-122"/>
                <a:cs typeface="Calibri" pitchFamily="34" charset="-120"/>
              </a:rPr>
              <a:t>The group behind the project</a:t>
            </a:r>
            <a:endParaRPr lang="en-US" sz="1250" dirty="0"/>
          </a:p>
        </p:txBody>
      </p:sp>
      <p:sp>
        <p:nvSpPr>
          <p:cNvPr id="4" name="Shape 2"/>
          <p:cNvSpPr/>
          <p:nvPr/>
        </p:nvSpPr>
        <p:spPr>
          <a:xfrm>
            <a:off x="502920" y="1170432"/>
            <a:ext cx="11155680" cy="16459"/>
          </a:xfrm>
          <a:prstGeom prst="rect">
            <a:avLst/>
          </a:prstGeom>
          <a:solidFill>
            <a:srgbClr val="24406F"/>
          </a:solidFill>
          <a:ln/>
        </p:spPr>
        <p:txBody>
          <a:bodyPr/>
          <a:lstStyle/>
          <a:p>
            <a:endParaRPr lang="en-IN"/>
          </a:p>
        </p:txBody>
      </p:sp>
      <p:sp>
        <p:nvSpPr>
          <p:cNvPr id="5" name="Shape 3"/>
          <p:cNvSpPr/>
          <p:nvPr/>
        </p:nvSpPr>
        <p:spPr>
          <a:xfrm>
            <a:off x="609448" y="1828800"/>
            <a:ext cx="3383280" cy="3291840"/>
          </a:xfrm>
          <a:prstGeom prst="roundRect">
            <a:avLst>
              <a:gd name="adj" fmla="val 2222"/>
            </a:avLst>
          </a:prstGeom>
          <a:solidFill>
            <a:srgbClr val="132A52"/>
          </a:solidFill>
          <a:ln w="12700">
            <a:solidFill>
              <a:srgbClr val="24406F"/>
            </a:solidFill>
            <a:prstDash val="solid"/>
          </a:ln>
        </p:spPr>
        <p:txBody>
          <a:bodyPr/>
          <a:lstStyle/>
          <a:p>
            <a:endParaRPr lang="en-IN" dirty="0"/>
          </a:p>
        </p:txBody>
      </p:sp>
      <p:sp>
        <p:nvSpPr>
          <p:cNvPr id="11" name="Shape 9"/>
          <p:cNvSpPr/>
          <p:nvPr/>
        </p:nvSpPr>
        <p:spPr>
          <a:xfrm>
            <a:off x="4404208" y="1933956"/>
            <a:ext cx="3383280" cy="3291840"/>
          </a:xfrm>
          <a:prstGeom prst="roundRect">
            <a:avLst>
              <a:gd name="adj" fmla="val 2222"/>
            </a:avLst>
          </a:prstGeom>
          <a:solidFill>
            <a:srgbClr val="132A52"/>
          </a:solidFill>
          <a:ln w="12700">
            <a:solidFill>
              <a:srgbClr val="24406F"/>
            </a:solidFill>
            <a:prstDash val="solid"/>
          </a:ln>
        </p:spPr>
        <p:txBody>
          <a:bodyPr/>
          <a:lstStyle/>
          <a:p>
            <a:endParaRPr lang="en-IN"/>
          </a:p>
        </p:txBody>
      </p:sp>
      <p:sp>
        <p:nvSpPr>
          <p:cNvPr id="13" name="Text 11"/>
          <p:cNvSpPr/>
          <p:nvPr/>
        </p:nvSpPr>
        <p:spPr>
          <a:xfrm>
            <a:off x="1589103" y="2245694"/>
            <a:ext cx="1376039" cy="1137585"/>
          </a:xfrm>
          <a:prstGeom prst="rect">
            <a:avLst/>
          </a:prstGeom>
          <a:noFill/>
          <a:ln/>
        </p:spPr>
        <p:txBody>
          <a:bodyPr wrap="square" lIns="0" tIns="0" rIns="0" bIns="0" rtlCol="0" anchor="ctr"/>
          <a:lstStyle/>
          <a:p>
            <a:pPr marL="0" indent="0" algn="ctr">
              <a:buNone/>
            </a:pPr>
            <a:endParaRPr lang="en-US" sz="3120" dirty="0"/>
          </a:p>
        </p:txBody>
      </p:sp>
      <p:sp>
        <p:nvSpPr>
          <p:cNvPr id="14" name="Text 12"/>
          <p:cNvSpPr/>
          <p:nvPr/>
        </p:nvSpPr>
        <p:spPr>
          <a:xfrm>
            <a:off x="609448" y="3616122"/>
            <a:ext cx="33832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Tandrima Nandy</a:t>
            </a:r>
            <a:endParaRPr lang="en-US" sz="1800" dirty="0"/>
          </a:p>
        </p:txBody>
      </p:sp>
      <p:sp>
        <p:nvSpPr>
          <p:cNvPr id="15" name="Shape 13"/>
          <p:cNvSpPr/>
          <p:nvPr/>
        </p:nvSpPr>
        <p:spPr>
          <a:xfrm>
            <a:off x="1384908" y="4128186"/>
            <a:ext cx="1645920" cy="365760"/>
          </a:xfrm>
          <a:prstGeom prst="roundRect">
            <a:avLst>
              <a:gd name="adj" fmla="val 50000"/>
            </a:avLst>
          </a:prstGeom>
          <a:solidFill>
            <a:srgbClr val="2EC4B6"/>
          </a:solidFill>
          <a:ln/>
        </p:spPr>
        <p:txBody>
          <a:bodyPr/>
          <a:lstStyle/>
          <a:p>
            <a:endParaRPr lang="en-IN"/>
          </a:p>
        </p:txBody>
      </p:sp>
      <p:sp>
        <p:nvSpPr>
          <p:cNvPr id="17" name="Shape 15"/>
          <p:cNvSpPr/>
          <p:nvPr/>
        </p:nvSpPr>
        <p:spPr>
          <a:xfrm>
            <a:off x="8198968" y="1828800"/>
            <a:ext cx="3383280" cy="3291840"/>
          </a:xfrm>
          <a:prstGeom prst="roundRect">
            <a:avLst>
              <a:gd name="adj" fmla="val 2222"/>
            </a:avLst>
          </a:prstGeom>
          <a:solidFill>
            <a:srgbClr val="132A52"/>
          </a:solidFill>
          <a:ln w="12700">
            <a:solidFill>
              <a:srgbClr val="24406F"/>
            </a:solidFill>
            <a:prstDash val="solid"/>
          </a:ln>
        </p:spPr>
        <p:txBody>
          <a:bodyPr/>
          <a:lstStyle/>
          <a:p>
            <a:endParaRPr lang="en-IN"/>
          </a:p>
        </p:txBody>
      </p:sp>
      <p:sp>
        <p:nvSpPr>
          <p:cNvPr id="19" name="Text 17"/>
          <p:cNvSpPr/>
          <p:nvPr/>
        </p:nvSpPr>
        <p:spPr>
          <a:xfrm>
            <a:off x="9341968" y="2286000"/>
            <a:ext cx="1097280" cy="1097280"/>
          </a:xfrm>
          <a:prstGeom prst="rect">
            <a:avLst/>
          </a:prstGeom>
          <a:noFill/>
          <a:ln/>
        </p:spPr>
        <p:txBody>
          <a:bodyPr wrap="square" lIns="0" tIns="0" rIns="0" bIns="0" rtlCol="0" anchor="ctr"/>
          <a:lstStyle/>
          <a:p>
            <a:pPr marL="0" indent="0" algn="ctr">
              <a:buNone/>
            </a:pPr>
            <a:endParaRPr lang="en-US" sz="3120" dirty="0"/>
          </a:p>
        </p:txBody>
      </p:sp>
      <p:sp>
        <p:nvSpPr>
          <p:cNvPr id="20" name="Text 18"/>
          <p:cNvSpPr/>
          <p:nvPr/>
        </p:nvSpPr>
        <p:spPr>
          <a:xfrm>
            <a:off x="8198968" y="3611880"/>
            <a:ext cx="33832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Shrayan Biswas</a:t>
            </a:r>
            <a:endParaRPr lang="en-US" sz="1800" dirty="0"/>
          </a:p>
        </p:txBody>
      </p:sp>
      <p:sp>
        <p:nvSpPr>
          <p:cNvPr id="21" name="Shape 19"/>
          <p:cNvSpPr/>
          <p:nvPr/>
        </p:nvSpPr>
        <p:spPr>
          <a:xfrm>
            <a:off x="9067648" y="4114800"/>
            <a:ext cx="1645920" cy="365760"/>
          </a:xfrm>
          <a:prstGeom prst="roundRect">
            <a:avLst>
              <a:gd name="adj" fmla="val 50000"/>
            </a:avLst>
          </a:prstGeom>
          <a:solidFill>
            <a:srgbClr val="F2994A"/>
          </a:solidFill>
          <a:ln/>
        </p:spPr>
        <p:txBody>
          <a:bodyPr/>
          <a:lstStyle/>
          <a:p>
            <a:endParaRPr lang="en-IN"/>
          </a:p>
        </p:txBody>
      </p:sp>
      <p:sp>
        <p:nvSpPr>
          <p:cNvPr id="22" name="Text 20"/>
          <p:cNvSpPr/>
          <p:nvPr/>
        </p:nvSpPr>
        <p:spPr>
          <a:xfrm>
            <a:off x="9067648" y="4114800"/>
            <a:ext cx="1645920" cy="36576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Course: BSC IT</a:t>
            </a:r>
            <a:endParaRPr lang="en-US" sz="1150" dirty="0"/>
          </a:p>
        </p:txBody>
      </p:sp>
      <p:sp>
        <p:nvSpPr>
          <p:cNvPr id="23" name="Text 21"/>
          <p:cNvSpPr/>
          <p:nvPr/>
        </p:nvSpPr>
        <p:spPr>
          <a:xfrm>
            <a:off x="502920" y="5532120"/>
            <a:ext cx="11155680" cy="365760"/>
          </a:xfrm>
          <a:prstGeom prst="rect">
            <a:avLst/>
          </a:prstGeom>
          <a:noFill/>
          <a:ln/>
        </p:spPr>
        <p:txBody>
          <a:bodyPr wrap="square" lIns="0" tIns="0" rIns="0" bIns="0" rtlCol="0" anchor="ctr"/>
          <a:lstStyle/>
          <a:p>
            <a:pPr marL="0" indent="0" algn="ctr">
              <a:buNone/>
            </a:pPr>
            <a:r>
              <a:rPr lang="en-US" sz="1250" i="1" dirty="0">
                <a:solidFill>
                  <a:srgbClr val="9FB0CC"/>
                </a:solidFill>
                <a:latin typeface="Calibri" pitchFamily="34" charset="0"/>
                <a:ea typeface="Calibri" pitchFamily="34" charset="-122"/>
                <a:cs typeface="Calibri" pitchFamily="34" charset="-120"/>
              </a:rPr>
              <a:t>Mentored by Sayan Sau &amp; Arpita Gupta   •   Anudip Foundation, in association with Accenture</a:t>
            </a:r>
            <a:endParaRPr lang="en-US" sz="1250" dirty="0"/>
          </a:p>
        </p:txBody>
      </p:sp>
      <p:sp>
        <p:nvSpPr>
          <p:cNvPr id="24" name="Text 22"/>
          <p:cNvSpPr/>
          <p:nvPr/>
        </p:nvSpPr>
        <p:spPr>
          <a:xfrm>
            <a:off x="457200" y="6510528"/>
            <a:ext cx="7772400" cy="274320"/>
          </a:xfrm>
          <a:prstGeom prst="rect">
            <a:avLst/>
          </a:prstGeom>
          <a:noFill/>
          <a:ln/>
        </p:spPr>
        <p:txBody>
          <a:bodyPr wrap="square" lIns="0" tIns="0" rIns="0" bIns="0" rtlCol="0" anchor="ctr"/>
          <a:lstStyle/>
          <a:p>
            <a:pPr marL="0" indent="0" algn="l">
              <a:buNone/>
            </a:pPr>
            <a:r>
              <a:rPr lang="en-US" sz="800" dirty="0">
                <a:solidFill>
                  <a:srgbClr val="9FB0CC"/>
                </a:solidFill>
                <a:latin typeface="Calibri" pitchFamily="34" charset="0"/>
                <a:ea typeface="Calibri" pitchFamily="34" charset="-122"/>
                <a:cs typeface="Calibri" pitchFamily="34" charset="-120"/>
              </a:rPr>
              <a:t>TATA MOTORS SALES PERFORMANCE &amp; DELIVERY TRACKING DASHBOARD</a:t>
            </a:r>
            <a:endParaRPr lang="en-US" sz="800" dirty="0"/>
          </a:p>
        </p:txBody>
      </p:sp>
      <p:sp>
        <p:nvSpPr>
          <p:cNvPr id="25" name="Text 23"/>
          <p:cNvSpPr/>
          <p:nvPr/>
        </p:nvSpPr>
        <p:spPr>
          <a:xfrm>
            <a:off x="11277295" y="6510528"/>
            <a:ext cx="457200" cy="274320"/>
          </a:xfrm>
          <a:prstGeom prst="rect">
            <a:avLst/>
          </a:prstGeom>
          <a:noFill/>
          <a:ln/>
        </p:spPr>
        <p:txBody>
          <a:bodyPr wrap="square" lIns="0" tIns="0" rIns="0" bIns="0" rtlCol="0" anchor="ctr"/>
          <a:lstStyle/>
          <a:p>
            <a:pPr marL="0" indent="0" algn="r">
              <a:buNone/>
            </a:pPr>
            <a:r>
              <a:rPr lang="en-US" sz="800" dirty="0">
                <a:solidFill>
                  <a:srgbClr val="9FB0CC"/>
                </a:solidFill>
                <a:latin typeface="Calibri" pitchFamily="34" charset="0"/>
                <a:ea typeface="Calibri" pitchFamily="34" charset="-122"/>
                <a:cs typeface="Calibri" pitchFamily="34" charset="-120"/>
              </a:rPr>
              <a:t>2</a:t>
            </a:r>
            <a:endParaRPr lang="en-US" sz="800" dirty="0"/>
          </a:p>
        </p:txBody>
      </p:sp>
      <p:sp>
        <p:nvSpPr>
          <p:cNvPr id="7" name="Text 5"/>
          <p:cNvSpPr/>
          <p:nvPr/>
        </p:nvSpPr>
        <p:spPr>
          <a:xfrm>
            <a:off x="5566739" y="2259829"/>
            <a:ext cx="1097280" cy="1097280"/>
          </a:xfrm>
          <a:prstGeom prst="rect">
            <a:avLst/>
          </a:prstGeom>
          <a:noFill/>
          <a:ln/>
        </p:spPr>
        <p:txBody>
          <a:bodyPr wrap="square" lIns="0" tIns="0" rIns="0" bIns="0" rtlCol="0" anchor="ctr"/>
          <a:lstStyle/>
          <a:p>
            <a:pPr marL="0" indent="0" algn="ctr">
              <a:buNone/>
            </a:pPr>
            <a:endParaRPr lang="en-US" sz="3120" dirty="0"/>
          </a:p>
        </p:txBody>
      </p:sp>
      <p:sp>
        <p:nvSpPr>
          <p:cNvPr id="8" name="Text 6"/>
          <p:cNvSpPr/>
          <p:nvPr/>
        </p:nvSpPr>
        <p:spPr>
          <a:xfrm>
            <a:off x="4389120" y="3671937"/>
            <a:ext cx="33832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Vivek Kumar</a:t>
            </a:r>
            <a:endParaRPr lang="en-US" sz="1800" dirty="0"/>
          </a:p>
        </p:txBody>
      </p:sp>
      <p:sp>
        <p:nvSpPr>
          <p:cNvPr id="9" name="Shape 7"/>
          <p:cNvSpPr/>
          <p:nvPr/>
        </p:nvSpPr>
        <p:spPr>
          <a:xfrm>
            <a:off x="5272888" y="4160520"/>
            <a:ext cx="1645920" cy="365760"/>
          </a:xfrm>
          <a:prstGeom prst="roundRect">
            <a:avLst>
              <a:gd name="adj" fmla="val 50000"/>
            </a:avLst>
          </a:prstGeom>
          <a:solidFill>
            <a:srgbClr val="2E75D6"/>
          </a:solidFill>
          <a:ln/>
        </p:spPr>
        <p:txBody>
          <a:bodyPr/>
          <a:lstStyle/>
          <a:p>
            <a:endParaRPr lang="en-IN"/>
          </a:p>
        </p:txBody>
      </p:sp>
      <p:sp>
        <p:nvSpPr>
          <p:cNvPr id="16" name="Text 14"/>
          <p:cNvSpPr/>
          <p:nvPr/>
        </p:nvSpPr>
        <p:spPr>
          <a:xfrm>
            <a:off x="5257800" y="4184001"/>
            <a:ext cx="1645920" cy="36576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Course: BCA</a:t>
            </a:r>
            <a:endParaRPr lang="en-US" sz="1150" dirty="0"/>
          </a:p>
        </p:txBody>
      </p:sp>
      <p:sp>
        <p:nvSpPr>
          <p:cNvPr id="10" name="Text 8"/>
          <p:cNvSpPr/>
          <p:nvPr/>
        </p:nvSpPr>
        <p:spPr>
          <a:xfrm>
            <a:off x="1384908" y="4100665"/>
            <a:ext cx="1645920" cy="36576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Course: MCA</a:t>
            </a:r>
            <a:endParaRPr lang="en-US" sz="1150" dirty="0"/>
          </a:p>
        </p:txBody>
      </p:sp>
      <p:pic>
        <p:nvPicPr>
          <p:cNvPr id="27" name="Picture 26">
            <a:extLst>
              <a:ext uri="{FF2B5EF4-FFF2-40B4-BE49-F238E27FC236}">
                <a16:creationId xmlns:a16="http://schemas.microsoft.com/office/drawing/2014/main" id="{6311BB52-6D67-52D0-DBDC-6B5172A60D11}"/>
              </a:ext>
            </a:extLst>
          </p:cNvPr>
          <p:cNvPicPr>
            <a:picLocks noChangeAspect="1"/>
          </p:cNvPicPr>
          <p:nvPr/>
        </p:nvPicPr>
        <p:blipFill>
          <a:blip r:embed="rId3"/>
          <a:stretch>
            <a:fillRect/>
          </a:stretch>
        </p:blipFill>
        <p:spPr>
          <a:xfrm>
            <a:off x="1432986" y="1933956"/>
            <a:ext cx="1713005" cy="171300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6" name="Picture 25">
            <a:extLst>
              <a:ext uri="{FF2B5EF4-FFF2-40B4-BE49-F238E27FC236}">
                <a16:creationId xmlns:a16="http://schemas.microsoft.com/office/drawing/2014/main" id="{F68B485A-7709-5C09-7833-9321AE76CA13}"/>
              </a:ext>
            </a:extLst>
          </p:cNvPr>
          <p:cNvPicPr>
            <a:picLocks noChangeAspect="1"/>
          </p:cNvPicPr>
          <p:nvPr/>
        </p:nvPicPr>
        <p:blipFill>
          <a:blip r:embed="rId4"/>
          <a:stretch>
            <a:fillRect/>
          </a:stretch>
        </p:blipFill>
        <p:spPr>
          <a:xfrm>
            <a:off x="5257800" y="2012301"/>
            <a:ext cx="1645920" cy="164592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9" name="Picture 28">
            <a:extLst>
              <a:ext uri="{FF2B5EF4-FFF2-40B4-BE49-F238E27FC236}">
                <a16:creationId xmlns:a16="http://schemas.microsoft.com/office/drawing/2014/main" id="{D6190F4E-A8D2-254A-DB91-482D74E88212}"/>
              </a:ext>
            </a:extLst>
          </p:cNvPr>
          <p:cNvPicPr>
            <a:picLocks noChangeAspect="1"/>
          </p:cNvPicPr>
          <p:nvPr/>
        </p:nvPicPr>
        <p:blipFill>
          <a:blip r:embed="rId5"/>
          <a:stretch>
            <a:fillRect/>
          </a:stretch>
        </p:blipFill>
        <p:spPr>
          <a:xfrm>
            <a:off x="9320948" y="1970645"/>
            <a:ext cx="1392620" cy="163962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anim calcmode="lin" valueType="num">
                                      <p:cBhvr>
                                        <p:cTn id="8" dur="1000" fill="hold"/>
                                        <p:tgtEl>
                                          <p:spTgt spid="27"/>
                                        </p:tgtEl>
                                        <p:attrNameLst>
                                          <p:attrName>ppt_x</p:attrName>
                                        </p:attrNameLst>
                                      </p:cBhvr>
                                      <p:tavLst>
                                        <p:tav tm="0">
                                          <p:val>
                                            <p:strVal val="#ppt_x"/>
                                          </p:val>
                                        </p:tav>
                                        <p:tav tm="100000">
                                          <p:val>
                                            <p:strVal val="#ppt_x"/>
                                          </p:val>
                                        </p:tav>
                                      </p:tavLst>
                                    </p:anim>
                                    <p:anim calcmode="lin" valueType="num">
                                      <p:cBhvr>
                                        <p:cTn id="9"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32A52"/>
        </a:solidFill>
        <a:effectLst/>
      </p:bgPr>
    </p:bg>
    <p:spTree>
      <p:nvGrpSpPr>
        <p:cNvPr id="1" name=""/>
        <p:cNvGrpSpPr/>
        <p:nvPr/>
      </p:nvGrpSpPr>
      <p:grpSpPr>
        <a:xfrm>
          <a:off x="0" y="0"/>
          <a:ext cx="0" cy="0"/>
          <a:chOff x="0" y="0"/>
          <a:chExt cx="0" cy="0"/>
        </a:xfrm>
      </p:grpSpPr>
      <p:sp>
        <p:nvSpPr>
          <p:cNvPr id="2" name="Shape 0"/>
          <p:cNvSpPr/>
          <p:nvPr/>
        </p:nvSpPr>
        <p:spPr>
          <a:xfrm>
            <a:off x="0" y="0"/>
            <a:ext cx="5486400" cy="6858000"/>
          </a:xfrm>
          <a:prstGeom prst="rect">
            <a:avLst/>
          </a:prstGeom>
          <a:solidFill>
            <a:srgbClr val="0A1B36"/>
          </a:solidFill>
          <a:ln/>
        </p:spPr>
        <p:txBody>
          <a:bodyPr/>
          <a:lstStyle/>
          <a:p>
            <a:endParaRPr lang="en-IN"/>
          </a:p>
        </p:txBody>
      </p:sp>
      <p:sp>
        <p:nvSpPr>
          <p:cNvPr id="3" name="Text 1"/>
          <p:cNvSpPr/>
          <p:nvPr/>
        </p:nvSpPr>
        <p:spPr>
          <a:xfrm>
            <a:off x="525780" y="447168"/>
            <a:ext cx="4410204" cy="1554480"/>
          </a:xfrm>
          <a:prstGeom prst="rect">
            <a:avLst/>
          </a:prstGeom>
          <a:ln/>
        </p:spPr>
        <p:style>
          <a:lnRef idx="1">
            <a:schemeClr val="accent2"/>
          </a:lnRef>
          <a:fillRef idx="3">
            <a:schemeClr val="accent2"/>
          </a:fillRef>
          <a:effectRef idx="2">
            <a:schemeClr val="accent2"/>
          </a:effectRef>
          <a:fontRef idx="minor">
            <a:schemeClr val="lt1"/>
          </a:fontRef>
        </p:style>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TATA Sales &amp;</a:t>
            </a:r>
            <a:endParaRPr lang="en-US" sz="3000" dirty="0"/>
          </a:p>
          <a:p>
            <a:pPr marL="0" indent="0">
              <a:buNone/>
            </a:pPr>
            <a:r>
              <a:rPr lang="en-US" sz="3000" b="1" dirty="0">
                <a:solidFill>
                  <a:srgbClr val="FFFFFF"/>
                </a:solidFill>
                <a:latin typeface="Cambria" pitchFamily="34" charset="0"/>
                <a:ea typeface="Cambria" pitchFamily="34" charset="-122"/>
                <a:cs typeface="Cambria" pitchFamily="34" charset="-120"/>
              </a:rPr>
              <a:t>Delivery Dashboard : </a:t>
            </a:r>
            <a:endParaRPr lang="en-US" sz="3000" dirty="0"/>
          </a:p>
        </p:txBody>
      </p:sp>
      <p:sp>
        <p:nvSpPr>
          <p:cNvPr id="4" name="Text 2"/>
          <p:cNvSpPr/>
          <p:nvPr/>
        </p:nvSpPr>
        <p:spPr>
          <a:xfrm>
            <a:off x="525780" y="2125935"/>
            <a:ext cx="4572000" cy="914400"/>
          </a:xfrm>
          <a:prstGeom prst="rect">
            <a:avLst/>
          </a:prstGeom>
          <a:noFill/>
          <a:ln/>
        </p:spPr>
        <p:txBody>
          <a:bodyPr wrap="square" lIns="0" tIns="0" rIns="0" bIns="0" rtlCol="0" anchor="ctr"/>
          <a:lstStyle/>
          <a:p>
            <a:pPr marL="0" indent="0">
              <a:buNone/>
            </a:pPr>
            <a:r>
              <a:rPr lang="en-US" sz="1250" dirty="0">
                <a:solidFill>
                  <a:srgbClr val="9FB0CC"/>
                </a:solidFill>
                <a:latin typeface="Calibri" pitchFamily="34" charset="0"/>
                <a:ea typeface="Calibri" pitchFamily="34" charset="-122"/>
                <a:cs typeface="Calibri" pitchFamily="34" charset="-120"/>
              </a:rPr>
              <a:t>KPI cards, built for automotive retail — tracking revenue, delivery, and regional performance for Tata Motors.</a:t>
            </a:r>
            <a:endParaRPr lang="en-US" sz="1250" dirty="0"/>
          </a:p>
        </p:txBody>
      </p:sp>
      <p:sp>
        <p:nvSpPr>
          <p:cNvPr id="5" name="Text 3"/>
          <p:cNvSpPr/>
          <p:nvPr/>
        </p:nvSpPr>
        <p:spPr>
          <a:xfrm>
            <a:off x="548640" y="5811323"/>
            <a:ext cx="4572000" cy="365760"/>
          </a:xfrm>
          <a:prstGeom prst="rect">
            <a:avLst/>
          </a:prstGeom>
          <a:noFill/>
          <a:ln/>
        </p:spPr>
        <p:txBody>
          <a:bodyPr wrap="square" lIns="0" tIns="0" rIns="0" bIns="0" rtlCol="0" anchor="ctr"/>
          <a:lstStyle/>
          <a:p>
            <a:pPr marL="0" indent="0">
              <a:buNone/>
            </a:pPr>
            <a:r>
              <a:rPr lang="en-US" sz="1150" i="1" dirty="0">
                <a:solidFill>
                  <a:srgbClr val="2EC4B6"/>
                </a:solidFill>
                <a:latin typeface="Calibri" pitchFamily="34" charset="0"/>
                <a:ea typeface="Calibri" pitchFamily="34" charset="-122"/>
                <a:cs typeface="Calibri" pitchFamily="34" charset="-120"/>
              </a:rPr>
              <a:t>Excel-Powered  ·  Pivot-Driven  ·  Data-Backed</a:t>
            </a:r>
            <a:endParaRPr lang="en-US" sz="1150" dirty="0"/>
          </a:p>
        </p:txBody>
      </p:sp>
      <p:sp>
        <p:nvSpPr>
          <p:cNvPr id="6" name="Shape 4"/>
          <p:cNvSpPr/>
          <p:nvPr/>
        </p:nvSpPr>
        <p:spPr>
          <a:xfrm>
            <a:off x="6035040" y="822960"/>
            <a:ext cx="5577840" cy="1298448"/>
          </a:xfrm>
          <a:prstGeom prst="roundRect">
            <a:avLst>
              <a:gd name="adj" fmla="val 5634"/>
            </a:avLst>
          </a:prstGeom>
          <a:solidFill>
            <a:srgbClr val="1B3A6B"/>
          </a:solidFill>
          <a:ln/>
        </p:spPr>
        <p:txBody>
          <a:bodyPr/>
          <a:lstStyle/>
          <a:p>
            <a:endParaRPr lang="en-IN"/>
          </a:p>
        </p:txBody>
      </p:sp>
      <p:sp>
        <p:nvSpPr>
          <p:cNvPr id="7" name="Shape 5"/>
          <p:cNvSpPr/>
          <p:nvPr/>
        </p:nvSpPr>
        <p:spPr>
          <a:xfrm>
            <a:off x="6035040" y="822960"/>
            <a:ext cx="109728" cy="1298448"/>
          </a:xfrm>
          <a:prstGeom prst="rect">
            <a:avLst/>
          </a:prstGeom>
          <a:solidFill>
            <a:srgbClr val="2E75D6"/>
          </a:solidFill>
          <a:ln/>
        </p:spPr>
        <p:txBody>
          <a:bodyPr/>
          <a:lstStyle/>
          <a:p>
            <a:endParaRPr lang="en-IN"/>
          </a:p>
        </p:txBody>
      </p:sp>
      <p:sp>
        <p:nvSpPr>
          <p:cNvPr id="8" name="Text 6"/>
          <p:cNvSpPr/>
          <p:nvPr/>
        </p:nvSpPr>
        <p:spPr>
          <a:xfrm>
            <a:off x="6355080" y="932688"/>
            <a:ext cx="1554480" cy="1051560"/>
          </a:xfrm>
          <a:prstGeom prst="rect">
            <a:avLst/>
          </a:prstGeom>
          <a:noFill/>
          <a:ln/>
        </p:spPr>
        <p:txBody>
          <a:bodyPr wrap="square" lIns="0" tIns="0" rIns="0" bIns="0"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65</a:t>
            </a:r>
            <a:endParaRPr lang="en-US" sz="4000" dirty="0"/>
          </a:p>
        </p:txBody>
      </p:sp>
      <p:sp>
        <p:nvSpPr>
          <p:cNvPr id="9" name="Text 7"/>
          <p:cNvSpPr/>
          <p:nvPr/>
        </p:nvSpPr>
        <p:spPr>
          <a:xfrm>
            <a:off x="7863840" y="822960"/>
            <a:ext cx="3566160" cy="1298448"/>
          </a:xfrm>
          <a:prstGeom prst="rect">
            <a:avLst/>
          </a:prstGeom>
          <a:noFill/>
          <a:ln/>
        </p:spPr>
        <p:txBody>
          <a:bodyPr wrap="square" lIns="0" tIns="0" rIns="0" bIns="0" rtlCol="0" anchor="ctr"/>
          <a:lstStyle/>
          <a:p>
            <a:pPr marL="0" indent="0" algn="l">
              <a:buNone/>
            </a:pPr>
            <a:r>
              <a:rPr lang="en-US" sz="1300" b="1" dirty="0">
                <a:solidFill>
                  <a:srgbClr val="9FB0CC"/>
                </a:solidFill>
                <a:latin typeface="Calibri" pitchFamily="34" charset="0"/>
                <a:ea typeface="Calibri" pitchFamily="34" charset="-122"/>
                <a:cs typeface="Calibri" pitchFamily="34" charset="-120"/>
              </a:rPr>
              <a:t>VEHICLE ORDERS TRACKED</a:t>
            </a:r>
            <a:endParaRPr lang="en-US" sz="1300" dirty="0"/>
          </a:p>
        </p:txBody>
      </p:sp>
      <p:sp>
        <p:nvSpPr>
          <p:cNvPr id="10" name="Shape 8"/>
          <p:cNvSpPr/>
          <p:nvPr/>
        </p:nvSpPr>
        <p:spPr>
          <a:xfrm>
            <a:off x="6035040" y="2267712"/>
            <a:ext cx="5577840" cy="1298448"/>
          </a:xfrm>
          <a:prstGeom prst="roundRect">
            <a:avLst>
              <a:gd name="adj" fmla="val 5634"/>
            </a:avLst>
          </a:prstGeom>
          <a:solidFill>
            <a:srgbClr val="1B3A6B"/>
          </a:solidFill>
          <a:ln/>
        </p:spPr>
        <p:txBody>
          <a:bodyPr/>
          <a:lstStyle/>
          <a:p>
            <a:endParaRPr lang="en-IN"/>
          </a:p>
        </p:txBody>
      </p:sp>
      <p:sp>
        <p:nvSpPr>
          <p:cNvPr id="11" name="Shape 9"/>
          <p:cNvSpPr/>
          <p:nvPr/>
        </p:nvSpPr>
        <p:spPr>
          <a:xfrm>
            <a:off x="6035040" y="2267712"/>
            <a:ext cx="109728" cy="1298448"/>
          </a:xfrm>
          <a:prstGeom prst="rect">
            <a:avLst/>
          </a:prstGeom>
          <a:solidFill>
            <a:srgbClr val="2EC4B6"/>
          </a:solidFill>
          <a:ln/>
        </p:spPr>
        <p:txBody>
          <a:bodyPr/>
          <a:lstStyle/>
          <a:p>
            <a:endParaRPr lang="en-IN"/>
          </a:p>
        </p:txBody>
      </p:sp>
      <p:sp>
        <p:nvSpPr>
          <p:cNvPr id="12" name="Text 10"/>
          <p:cNvSpPr/>
          <p:nvPr/>
        </p:nvSpPr>
        <p:spPr>
          <a:xfrm>
            <a:off x="6355080" y="2377440"/>
            <a:ext cx="1554480" cy="1051560"/>
          </a:xfrm>
          <a:prstGeom prst="rect">
            <a:avLst/>
          </a:prstGeom>
          <a:noFill/>
          <a:ln/>
        </p:spPr>
        <p:txBody>
          <a:bodyPr wrap="square" lIns="0" tIns="0" rIns="0" bIns="0"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13</a:t>
            </a:r>
            <a:endParaRPr lang="en-US" sz="4000" dirty="0"/>
          </a:p>
        </p:txBody>
      </p:sp>
      <p:sp>
        <p:nvSpPr>
          <p:cNvPr id="13" name="Text 11"/>
          <p:cNvSpPr/>
          <p:nvPr/>
        </p:nvSpPr>
        <p:spPr>
          <a:xfrm>
            <a:off x="7863840" y="2267712"/>
            <a:ext cx="3566160" cy="1298448"/>
          </a:xfrm>
          <a:prstGeom prst="rect">
            <a:avLst/>
          </a:prstGeom>
          <a:noFill/>
          <a:ln/>
        </p:spPr>
        <p:txBody>
          <a:bodyPr wrap="square" lIns="0" tIns="0" rIns="0" bIns="0" rtlCol="0" anchor="ctr"/>
          <a:lstStyle/>
          <a:p>
            <a:pPr marL="0" indent="0" algn="l">
              <a:buNone/>
            </a:pPr>
            <a:r>
              <a:rPr lang="en-US" sz="1300" b="1" dirty="0">
                <a:solidFill>
                  <a:srgbClr val="9FB0CC"/>
                </a:solidFill>
                <a:latin typeface="Calibri" pitchFamily="34" charset="0"/>
                <a:ea typeface="Calibri" pitchFamily="34" charset="-122"/>
                <a:cs typeface="Calibri" pitchFamily="34" charset="-120"/>
              </a:rPr>
              <a:t>UNIQUE CAR MODELS</a:t>
            </a:r>
            <a:endParaRPr lang="en-US" sz="1300" dirty="0"/>
          </a:p>
        </p:txBody>
      </p:sp>
      <p:sp>
        <p:nvSpPr>
          <p:cNvPr id="14" name="Shape 12"/>
          <p:cNvSpPr/>
          <p:nvPr/>
        </p:nvSpPr>
        <p:spPr>
          <a:xfrm>
            <a:off x="6035040" y="3712464"/>
            <a:ext cx="5577840" cy="1298448"/>
          </a:xfrm>
          <a:prstGeom prst="roundRect">
            <a:avLst>
              <a:gd name="adj" fmla="val 5634"/>
            </a:avLst>
          </a:prstGeom>
          <a:solidFill>
            <a:srgbClr val="1B3A6B"/>
          </a:solidFill>
          <a:ln/>
        </p:spPr>
        <p:txBody>
          <a:bodyPr/>
          <a:lstStyle/>
          <a:p>
            <a:endParaRPr lang="en-IN"/>
          </a:p>
        </p:txBody>
      </p:sp>
      <p:sp>
        <p:nvSpPr>
          <p:cNvPr id="15" name="Shape 13"/>
          <p:cNvSpPr/>
          <p:nvPr/>
        </p:nvSpPr>
        <p:spPr>
          <a:xfrm>
            <a:off x="6035040" y="3712464"/>
            <a:ext cx="109728" cy="1298448"/>
          </a:xfrm>
          <a:prstGeom prst="rect">
            <a:avLst/>
          </a:prstGeom>
          <a:solidFill>
            <a:srgbClr val="F2994A"/>
          </a:solidFill>
          <a:ln/>
        </p:spPr>
        <p:txBody>
          <a:bodyPr/>
          <a:lstStyle/>
          <a:p>
            <a:endParaRPr lang="en-IN"/>
          </a:p>
        </p:txBody>
      </p:sp>
      <p:sp>
        <p:nvSpPr>
          <p:cNvPr id="16" name="Text 14"/>
          <p:cNvSpPr/>
          <p:nvPr/>
        </p:nvSpPr>
        <p:spPr>
          <a:xfrm>
            <a:off x="6355080" y="3822192"/>
            <a:ext cx="1554480" cy="1051560"/>
          </a:xfrm>
          <a:prstGeom prst="rect">
            <a:avLst/>
          </a:prstGeom>
          <a:noFill/>
          <a:ln/>
        </p:spPr>
        <p:txBody>
          <a:bodyPr wrap="square" lIns="0" tIns="0" rIns="0" bIns="0"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17" name="Text 15"/>
          <p:cNvSpPr/>
          <p:nvPr/>
        </p:nvSpPr>
        <p:spPr>
          <a:xfrm>
            <a:off x="7863840" y="3712464"/>
            <a:ext cx="3566160" cy="1298448"/>
          </a:xfrm>
          <a:prstGeom prst="rect">
            <a:avLst/>
          </a:prstGeom>
          <a:noFill/>
          <a:ln/>
        </p:spPr>
        <p:txBody>
          <a:bodyPr wrap="square" lIns="0" tIns="0" rIns="0" bIns="0" rtlCol="0" anchor="ctr"/>
          <a:lstStyle/>
          <a:p>
            <a:pPr marL="0" indent="0" algn="l">
              <a:buNone/>
            </a:pPr>
            <a:r>
              <a:rPr lang="en-US" sz="1300" b="1" dirty="0">
                <a:solidFill>
                  <a:srgbClr val="9FB0CC"/>
                </a:solidFill>
                <a:latin typeface="Calibri" pitchFamily="34" charset="0"/>
                <a:ea typeface="Calibri" pitchFamily="34" charset="-122"/>
                <a:cs typeface="Calibri" pitchFamily="34" charset="-120"/>
              </a:rPr>
              <a:t>CITY TIERS ANALYZED</a:t>
            </a:r>
            <a:endParaRPr lang="en-US" sz="1300" dirty="0"/>
          </a:p>
        </p:txBody>
      </p:sp>
      <p:sp>
        <p:nvSpPr>
          <p:cNvPr id="18" name="Shape 16"/>
          <p:cNvSpPr/>
          <p:nvPr/>
        </p:nvSpPr>
        <p:spPr>
          <a:xfrm>
            <a:off x="6035040" y="5157216"/>
            <a:ext cx="5577840" cy="1298448"/>
          </a:xfrm>
          <a:prstGeom prst="roundRect">
            <a:avLst>
              <a:gd name="adj" fmla="val 5634"/>
            </a:avLst>
          </a:prstGeom>
          <a:solidFill>
            <a:srgbClr val="1B3A6B"/>
          </a:solidFill>
          <a:ln/>
        </p:spPr>
        <p:txBody>
          <a:bodyPr/>
          <a:lstStyle/>
          <a:p>
            <a:endParaRPr lang="en-IN"/>
          </a:p>
        </p:txBody>
      </p:sp>
      <p:sp>
        <p:nvSpPr>
          <p:cNvPr id="19" name="Shape 17"/>
          <p:cNvSpPr/>
          <p:nvPr/>
        </p:nvSpPr>
        <p:spPr>
          <a:xfrm>
            <a:off x="6035040" y="5157216"/>
            <a:ext cx="109728" cy="1298448"/>
          </a:xfrm>
          <a:prstGeom prst="rect">
            <a:avLst/>
          </a:prstGeom>
          <a:solidFill>
            <a:srgbClr val="F2C94C"/>
          </a:solidFill>
          <a:ln/>
        </p:spPr>
        <p:txBody>
          <a:bodyPr/>
          <a:lstStyle/>
          <a:p>
            <a:endParaRPr lang="en-IN"/>
          </a:p>
        </p:txBody>
      </p:sp>
      <p:sp>
        <p:nvSpPr>
          <p:cNvPr id="20" name="Text 18"/>
          <p:cNvSpPr/>
          <p:nvPr/>
        </p:nvSpPr>
        <p:spPr>
          <a:xfrm>
            <a:off x="6355080" y="5266944"/>
            <a:ext cx="1554480" cy="1051560"/>
          </a:xfrm>
          <a:prstGeom prst="rect">
            <a:avLst/>
          </a:prstGeom>
          <a:noFill/>
          <a:ln/>
        </p:spPr>
        <p:txBody>
          <a:bodyPr wrap="square" lIns="0" tIns="0" rIns="0" bIns="0"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86%</a:t>
            </a:r>
            <a:endParaRPr lang="en-US" sz="4000" dirty="0"/>
          </a:p>
        </p:txBody>
      </p:sp>
      <p:sp>
        <p:nvSpPr>
          <p:cNvPr id="21" name="Text 19"/>
          <p:cNvSpPr/>
          <p:nvPr/>
        </p:nvSpPr>
        <p:spPr>
          <a:xfrm>
            <a:off x="7863840" y="5157216"/>
            <a:ext cx="3566160" cy="1298448"/>
          </a:xfrm>
          <a:prstGeom prst="rect">
            <a:avLst/>
          </a:prstGeom>
          <a:noFill/>
          <a:ln/>
        </p:spPr>
        <p:txBody>
          <a:bodyPr wrap="square" lIns="0" tIns="0" rIns="0" bIns="0" rtlCol="0" anchor="ctr"/>
          <a:lstStyle/>
          <a:p>
            <a:pPr marL="0" indent="0" algn="l">
              <a:buNone/>
            </a:pPr>
            <a:r>
              <a:rPr lang="en-US" sz="1300" b="1" dirty="0">
                <a:solidFill>
                  <a:srgbClr val="9FB0CC"/>
                </a:solidFill>
                <a:latin typeface="Calibri" pitchFamily="34" charset="0"/>
                <a:ea typeface="Calibri" pitchFamily="34" charset="-122"/>
                <a:cs typeface="Calibri" pitchFamily="34" charset="-120"/>
              </a:rPr>
              <a:t>DELIVERY SUCCESS RATE</a:t>
            </a:r>
            <a:endParaRPr lang="en-US" sz="1300" dirty="0"/>
          </a:p>
        </p:txBody>
      </p:sp>
      <p:pic>
        <p:nvPicPr>
          <p:cNvPr id="23" name="Picture 22">
            <a:extLst>
              <a:ext uri="{FF2B5EF4-FFF2-40B4-BE49-F238E27FC236}">
                <a16:creationId xmlns:a16="http://schemas.microsoft.com/office/drawing/2014/main" id="{DCCB489B-14F8-D142-A37E-F039792D87EA}"/>
              </a:ext>
            </a:extLst>
          </p:cNvPr>
          <p:cNvPicPr>
            <a:picLocks noChangeAspect="1"/>
          </p:cNvPicPr>
          <p:nvPr/>
        </p:nvPicPr>
        <p:blipFill>
          <a:blip r:embed="rId3"/>
          <a:srcRect r="42926"/>
          <a:stretch>
            <a:fillRect/>
          </a:stretch>
        </p:blipFill>
        <p:spPr>
          <a:xfrm>
            <a:off x="232096" y="3164622"/>
            <a:ext cx="5048563" cy="876376"/>
          </a:xfrm>
          <a:prstGeom prst="rect">
            <a:avLst/>
          </a:prstGeom>
        </p:spPr>
      </p:pic>
      <p:pic>
        <p:nvPicPr>
          <p:cNvPr id="25" name="Picture 24">
            <a:extLst>
              <a:ext uri="{FF2B5EF4-FFF2-40B4-BE49-F238E27FC236}">
                <a16:creationId xmlns:a16="http://schemas.microsoft.com/office/drawing/2014/main" id="{D3006A9B-1B75-78CF-0221-A04EBC10031D}"/>
              </a:ext>
            </a:extLst>
          </p:cNvPr>
          <p:cNvPicPr>
            <a:picLocks noChangeAspect="1"/>
          </p:cNvPicPr>
          <p:nvPr/>
        </p:nvPicPr>
        <p:blipFill>
          <a:blip r:embed="rId3"/>
          <a:srcRect l="56374"/>
          <a:stretch>
            <a:fillRect/>
          </a:stretch>
        </p:blipFill>
        <p:spPr>
          <a:xfrm>
            <a:off x="175342" y="4347972"/>
            <a:ext cx="5000162" cy="87637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B36"/>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502920"/>
          </a:xfrm>
          <a:prstGeom prst="rect">
            <a:avLst/>
          </a:prstGeom>
          <a:ln/>
        </p:spPr>
        <p:style>
          <a:lnRef idx="1">
            <a:schemeClr val="accent2"/>
          </a:lnRef>
          <a:fillRef idx="3">
            <a:schemeClr val="accent2"/>
          </a:fillRef>
          <a:effectRef idx="2">
            <a:schemeClr val="accent2"/>
          </a:effectRef>
          <a:fontRef idx="minor">
            <a:schemeClr val="lt1"/>
          </a:fontRef>
        </p:style>
        <p:txBody>
          <a:bodyPr wrap="square" lIns="0" tIns="0" rIns="0" bIns="0" rtlCol="0" anchor="ctr"/>
          <a:lstStyle/>
          <a:p>
            <a:pPr marL="0" indent="0" algn="l">
              <a:buNone/>
            </a:pPr>
            <a:r>
              <a:rPr lang="en-US" sz="2600" b="1" kern="0" spc="50" dirty="0">
                <a:solidFill>
                  <a:srgbClr val="FFFFFF"/>
                </a:solidFill>
                <a:latin typeface="Cambria" pitchFamily="34" charset="0"/>
                <a:ea typeface="Cambria" pitchFamily="34" charset="-122"/>
                <a:cs typeface="Cambria" pitchFamily="34" charset="-120"/>
              </a:rPr>
              <a:t>PROJECT OBJECTIVES :</a:t>
            </a:r>
            <a:endParaRPr lang="en-US" sz="2600" dirty="0"/>
          </a:p>
        </p:txBody>
      </p:sp>
      <p:sp>
        <p:nvSpPr>
          <p:cNvPr id="3" name="Text 1"/>
          <p:cNvSpPr/>
          <p:nvPr/>
        </p:nvSpPr>
        <p:spPr>
          <a:xfrm>
            <a:off x="502920" y="804672"/>
            <a:ext cx="11155680" cy="292608"/>
          </a:xfrm>
          <a:prstGeom prst="rect">
            <a:avLst/>
          </a:prstGeom>
          <a:noFill/>
          <a:ln/>
        </p:spPr>
        <p:txBody>
          <a:bodyPr wrap="square" lIns="0" tIns="0" rIns="0" bIns="0" rtlCol="0" anchor="ctr"/>
          <a:lstStyle/>
          <a:p>
            <a:pPr marL="0" indent="0" algn="l">
              <a:buNone/>
            </a:pPr>
            <a:r>
              <a:rPr lang="en-US" sz="1250" i="1" dirty="0">
                <a:solidFill>
                  <a:srgbClr val="9FB0CC"/>
                </a:solidFill>
                <a:latin typeface="Calibri" pitchFamily="34" charset="0"/>
                <a:ea typeface="Calibri" pitchFamily="34" charset="-122"/>
                <a:cs typeface="Calibri" pitchFamily="34" charset="-120"/>
              </a:rPr>
              <a:t>Data-driven decision-making for automotive sales &amp; delivery</a:t>
            </a:r>
            <a:endParaRPr lang="en-US" sz="1250" dirty="0"/>
          </a:p>
        </p:txBody>
      </p:sp>
      <p:sp>
        <p:nvSpPr>
          <p:cNvPr id="4" name="Shape 2"/>
          <p:cNvSpPr/>
          <p:nvPr/>
        </p:nvSpPr>
        <p:spPr>
          <a:xfrm>
            <a:off x="502920" y="1170432"/>
            <a:ext cx="11155680" cy="16459"/>
          </a:xfrm>
          <a:prstGeom prst="rect">
            <a:avLst/>
          </a:prstGeom>
          <a:solidFill>
            <a:srgbClr val="24406F"/>
          </a:solidFill>
          <a:ln/>
        </p:spPr>
        <p:txBody>
          <a:bodyPr/>
          <a:lstStyle/>
          <a:p>
            <a:endParaRPr lang="en-IN"/>
          </a:p>
        </p:txBody>
      </p:sp>
      <p:sp>
        <p:nvSpPr>
          <p:cNvPr id="5" name="Shape 3"/>
          <p:cNvSpPr/>
          <p:nvPr/>
        </p:nvSpPr>
        <p:spPr>
          <a:xfrm>
            <a:off x="502920" y="1508759"/>
            <a:ext cx="5577840" cy="2051913"/>
          </a:xfrm>
          <a:prstGeom prst="roundRect">
            <a:avLst>
              <a:gd name="adj" fmla="val 3902"/>
            </a:avLst>
          </a:prstGeom>
          <a:solidFill>
            <a:srgbClr val="132A52"/>
          </a:solidFill>
          <a:ln w="12700">
            <a:solidFill>
              <a:srgbClr val="24406F"/>
            </a:solidFill>
            <a:prstDash val="solid"/>
          </a:ln>
        </p:spPr>
        <p:txBody>
          <a:bodyPr/>
          <a:lstStyle/>
          <a:p>
            <a:endParaRPr lang="en-IN"/>
          </a:p>
        </p:txBody>
      </p:sp>
      <p:sp>
        <p:nvSpPr>
          <p:cNvPr id="6" name="Shape 4"/>
          <p:cNvSpPr/>
          <p:nvPr/>
        </p:nvSpPr>
        <p:spPr>
          <a:xfrm>
            <a:off x="777240" y="1801368"/>
            <a:ext cx="777240" cy="777240"/>
          </a:xfrm>
          <a:prstGeom prst="ellipse">
            <a:avLst/>
          </a:prstGeom>
          <a:solidFill>
            <a:srgbClr val="2E75D6"/>
          </a:solidFill>
          <a:ln/>
          <a:effectLst>
            <a:outerShdw blurRad="76200" dist="25400" dir="5400000" algn="bl" rotWithShape="0">
              <a:srgbClr val="000000">
                <a:alpha val="35000"/>
              </a:srgbClr>
            </a:outerShdw>
          </a:effectLst>
        </p:spPr>
        <p:txBody>
          <a:bodyPr/>
          <a:lstStyle/>
          <a:p>
            <a:endParaRPr lang="en-IN"/>
          </a:p>
        </p:txBody>
      </p:sp>
      <p:sp>
        <p:nvSpPr>
          <p:cNvPr id="7" name="Text 5"/>
          <p:cNvSpPr/>
          <p:nvPr/>
        </p:nvSpPr>
        <p:spPr>
          <a:xfrm>
            <a:off x="777240" y="1801368"/>
            <a:ext cx="777240" cy="777240"/>
          </a:xfrm>
          <a:prstGeom prst="rect">
            <a:avLst/>
          </a:prstGeom>
          <a:noFill/>
          <a:ln/>
        </p:spPr>
        <p:txBody>
          <a:bodyPr wrap="square" lIns="0" tIns="0" rIns="0" bIns="0" rtlCol="0" anchor="ctr"/>
          <a:lstStyle/>
          <a:p>
            <a:pPr marL="0" indent="0" algn="ctr">
              <a:buNone/>
            </a:pPr>
            <a:r>
              <a:rPr lang="en-US" sz="2210" b="1" dirty="0">
                <a:solidFill>
                  <a:srgbClr val="FFFFFF"/>
                </a:solidFill>
                <a:latin typeface="Calibri" pitchFamily="34" charset="0"/>
                <a:ea typeface="Calibri" pitchFamily="34" charset="-122"/>
                <a:cs typeface="Calibri" pitchFamily="34" charset="-120"/>
              </a:rPr>
              <a:t>01</a:t>
            </a:r>
            <a:endParaRPr lang="en-US" sz="2210" dirty="0"/>
          </a:p>
        </p:txBody>
      </p:sp>
      <p:sp>
        <p:nvSpPr>
          <p:cNvPr id="8" name="Text 6"/>
          <p:cNvSpPr/>
          <p:nvPr/>
        </p:nvSpPr>
        <p:spPr>
          <a:xfrm>
            <a:off x="1737360" y="1587745"/>
            <a:ext cx="2373001" cy="45720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Track Delivery Statuses</a:t>
            </a:r>
            <a:endParaRPr lang="en-US" sz="1600" dirty="0"/>
          </a:p>
        </p:txBody>
      </p:sp>
      <p:sp>
        <p:nvSpPr>
          <p:cNvPr id="9" name="Text 7"/>
          <p:cNvSpPr/>
          <p:nvPr/>
        </p:nvSpPr>
        <p:spPr>
          <a:xfrm>
            <a:off x="1737359" y="2096830"/>
            <a:ext cx="1213475" cy="1104916"/>
          </a:xfrm>
          <a:prstGeom prst="rect">
            <a:avLst/>
          </a:prstGeom>
          <a:noFill/>
          <a:ln/>
        </p:spPr>
        <p:txBody>
          <a:bodyPr wrap="square" lIns="0" tIns="0" rIns="0" bIns="0" rtlCol="0" anchor="t"/>
          <a:lstStyle/>
          <a:p>
            <a:pPr marL="0" indent="0">
              <a:buNone/>
            </a:pPr>
            <a:r>
              <a:rPr lang="en-US" sz="1200" dirty="0">
                <a:solidFill>
                  <a:srgbClr val="9FB0CC"/>
                </a:solidFill>
                <a:latin typeface="Calibri" pitchFamily="34" charset="0"/>
                <a:ea typeface="Calibri" pitchFamily="34" charset="-122"/>
                <a:cs typeface="Calibri" pitchFamily="34" charset="-120"/>
              </a:rPr>
              <a:t>Monitor Delivered, Pending, and In-Transit outcomes across 65 vehicle orders.</a:t>
            </a:r>
            <a:endParaRPr lang="en-US" sz="1200" dirty="0"/>
          </a:p>
        </p:txBody>
      </p:sp>
      <p:sp>
        <p:nvSpPr>
          <p:cNvPr id="10" name="Shape 8"/>
          <p:cNvSpPr/>
          <p:nvPr/>
        </p:nvSpPr>
        <p:spPr>
          <a:xfrm>
            <a:off x="6309360" y="1508760"/>
            <a:ext cx="5349240" cy="1874520"/>
          </a:xfrm>
          <a:prstGeom prst="roundRect">
            <a:avLst>
              <a:gd name="adj" fmla="val 3902"/>
            </a:avLst>
          </a:prstGeom>
          <a:solidFill>
            <a:srgbClr val="132A52"/>
          </a:solidFill>
          <a:ln w="12700">
            <a:solidFill>
              <a:srgbClr val="24406F"/>
            </a:solidFill>
            <a:prstDash val="solid"/>
          </a:ln>
        </p:spPr>
        <p:txBody>
          <a:bodyPr/>
          <a:lstStyle/>
          <a:p>
            <a:endParaRPr lang="en-IN"/>
          </a:p>
        </p:txBody>
      </p:sp>
      <p:sp>
        <p:nvSpPr>
          <p:cNvPr id="11" name="Shape 9"/>
          <p:cNvSpPr/>
          <p:nvPr/>
        </p:nvSpPr>
        <p:spPr>
          <a:xfrm>
            <a:off x="6583680" y="1801368"/>
            <a:ext cx="777240" cy="777240"/>
          </a:xfrm>
          <a:prstGeom prst="ellipse">
            <a:avLst/>
          </a:prstGeom>
          <a:solidFill>
            <a:srgbClr val="2EC4B6"/>
          </a:solidFill>
          <a:ln/>
          <a:effectLst>
            <a:outerShdw blurRad="76200" dist="25400" dir="5400000" algn="bl" rotWithShape="0">
              <a:srgbClr val="000000">
                <a:alpha val="35000"/>
              </a:srgbClr>
            </a:outerShdw>
          </a:effectLst>
        </p:spPr>
        <p:txBody>
          <a:bodyPr/>
          <a:lstStyle/>
          <a:p>
            <a:endParaRPr lang="en-IN"/>
          </a:p>
        </p:txBody>
      </p:sp>
      <p:sp>
        <p:nvSpPr>
          <p:cNvPr id="12" name="Text 10"/>
          <p:cNvSpPr/>
          <p:nvPr/>
        </p:nvSpPr>
        <p:spPr>
          <a:xfrm>
            <a:off x="6583680" y="1801368"/>
            <a:ext cx="777240" cy="777240"/>
          </a:xfrm>
          <a:prstGeom prst="rect">
            <a:avLst/>
          </a:prstGeom>
          <a:noFill/>
          <a:ln/>
        </p:spPr>
        <p:txBody>
          <a:bodyPr wrap="square" lIns="0" tIns="0" rIns="0" bIns="0" rtlCol="0" anchor="ctr"/>
          <a:lstStyle/>
          <a:p>
            <a:pPr marL="0" indent="0" algn="ctr">
              <a:buNone/>
            </a:pPr>
            <a:r>
              <a:rPr lang="en-US" sz="2210" b="1" dirty="0">
                <a:solidFill>
                  <a:srgbClr val="FFFFFF"/>
                </a:solidFill>
                <a:latin typeface="Calibri" pitchFamily="34" charset="0"/>
                <a:ea typeface="Calibri" pitchFamily="34" charset="-122"/>
                <a:cs typeface="Calibri" pitchFamily="34" charset="-120"/>
              </a:rPr>
              <a:t>02</a:t>
            </a:r>
            <a:endParaRPr lang="en-US" sz="2210" dirty="0"/>
          </a:p>
        </p:txBody>
      </p:sp>
      <p:sp>
        <p:nvSpPr>
          <p:cNvPr id="13" name="Text 11"/>
          <p:cNvSpPr/>
          <p:nvPr/>
        </p:nvSpPr>
        <p:spPr>
          <a:xfrm>
            <a:off x="7528560" y="1587745"/>
            <a:ext cx="3886200" cy="45720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Analyze Sales Performance</a:t>
            </a:r>
            <a:endParaRPr lang="en-US" sz="1600" dirty="0"/>
          </a:p>
        </p:txBody>
      </p:sp>
      <p:sp>
        <p:nvSpPr>
          <p:cNvPr id="14" name="Text 12"/>
          <p:cNvSpPr/>
          <p:nvPr/>
        </p:nvSpPr>
        <p:spPr>
          <a:xfrm>
            <a:off x="7543800" y="2221992"/>
            <a:ext cx="1262849" cy="1005840"/>
          </a:xfrm>
          <a:prstGeom prst="rect">
            <a:avLst/>
          </a:prstGeom>
          <a:noFill/>
          <a:ln/>
        </p:spPr>
        <p:txBody>
          <a:bodyPr wrap="square" lIns="0" tIns="0" rIns="0" bIns="0" rtlCol="0" anchor="t"/>
          <a:lstStyle/>
          <a:p>
            <a:pPr marL="0" indent="0">
              <a:buNone/>
            </a:pPr>
            <a:r>
              <a:rPr lang="en-US" sz="1200" dirty="0">
                <a:solidFill>
                  <a:srgbClr val="9FB0CC"/>
                </a:solidFill>
                <a:latin typeface="Calibri" pitchFamily="34" charset="0"/>
                <a:ea typeface="Calibri" pitchFamily="34" charset="-122"/>
                <a:cs typeface="Calibri" pitchFamily="34" charset="-120"/>
              </a:rPr>
              <a:t>Evaluate revenue generation across 13 unique Tata car models.</a:t>
            </a:r>
            <a:endParaRPr lang="en-US" sz="1200" dirty="0"/>
          </a:p>
        </p:txBody>
      </p:sp>
      <p:sp>
        <p:nvSpPr>
          <p:cNvPr id="15" name="Shape 13"/>
          <p:cNvSpPr/>
          <p:nvPr/>
        </p:nvSpPr>
        <p:spPr>
          <a:xfrm>
            <a:off x="502920" y="3749040"/>
            <a:ext cx="5349240" cy="1874520"/>
          </a:xfrm>
          <a:prstGeom prst="roundRect">
            <a:avLst>
              <a:gd name="adj" fmla="val 3902"/>
            </a:avLst>
          </a:prstGeom>
          <a:solidFill>
            <a:srgbClr val="132A52"/>
          </a:solidFill>
          <a:ln w="12700">
            <a:solidFill>
              <a:srgbClr val="24406F"/>
            </a:solidFill>
            <a:prstDash val="solid"/>
          </a:ln>
        </p:spPr>
        <p:txBody>
          <a:bodyPr/>
          <a:lstStyle/>
          <a:p>
            <a:endParaRPr lang="en-IN"/>
          </a:p>
        </p:txBody>
      </p:sp>
      <p:sp>
        <p:nvSpPr>
          <p:cNvPr id="16" name="Shape 14"/>
          <p:cNvSpPr/>
          <p:nvPr/>
        </p:nvSpPr>
        <p:spPr>
          <a:xfrm>
            <a:off x="777240" y="4041648"/>
            <a:ext cx="777240" cy="777240"/>
          </a:xfrm>
          <a:prstGeom prst="ellipse">
            <a:avLst/>
          </a:prstGeom>
          <a:solidFill>
            <a:srgbClr val="F2994A"/>
          </a:solidFill>
          <a:ln/>
          <a:effectLst>
            <a:outerShdw blurRad="76200" dist="25400" dir="5400000" algn="bl" rotWithShape="0">
              <a:srgbClr val="000000">
                <a:alpha val="35000"/>
              </a:srgbClr>
            </a:outerShdw>
          </a:effectLst>
        </p:spPr>
        <p:txBody>
          <a:bodyPr/>
          <a:lstStyle/>
          <a:p>
            <a:endParaRPr lang="en-IN"/>
          </a:p>
        </p:txBody>
      </p:sp>
      <p:sp>
        <p:nvSpPr>
          <p:cNvPr id="17" name="Text 15"/>
          <p:cNvSpPr/>
          <p:nvPr/>
        </p:nvSpPr>
        <p:spPr>
          <a:xfrm>
            <a:off x="777240" y="4041648"/>
            <a:ext cx="777240" cy="777240"/>
          </a:xfrm>
          <a:prstGeom prst="rect">
            <a:avLst/>
          </a:prstGeom>
          <a:noFill/>
          <a:ln/>
        </p:spPr>
        <p:txBody>
          <a:bodyPr wrap="square" lIns="0" tIns="0" rIns="0" bIns="0" rtlCol="0" anchor="ctr"/>
          <a:lstStyle/>
          <a:p>
            <a:pPr marL="0" indent="0" algn="ctr">
              <a:buNone/>
            </a:pPr>
            <a:r>
              <a:rPr lang="en-US" sz="2210" b="1" dirty="0">
                <a:solidFill>
                  <a:srgbClr val="FFFFFF"/>
                </a:solidFill>
                <a:latin typeface="Calibri" pitchFamily="34" charset="0"/>
                <a:ea typeface="Calibri" pitchFamily="34" charset="-122"/>
                <a:cs typeface="Calibri" pitchFamily="34" charset="-120"/>
              </a:rPr>
              <a:t>03</a:t>
            </a:r>
            <a:endParaRPr lang="en-US" sz="2210" dirty="0"/>
          </a:p>
        </p:txBody>
      </p:sp>
      <p:sp>
        <p:nvSpPr>
          <p:cNvPr id="18" name="Text 16"/>
          <p:cNvSpPr/>
          <p:nvPr/>
        </p:nvSpPr>
        <p:spPr>
          <a:xfrm>
            <a:off x="1737359" y="3818987"/>
            <a:ext cx="3886200" cy="45720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Evaluate Regional Performance</a:t>
            </a:r>
            <a:endParaRPr lang="en-US" sz="1600" dirty="0"/>
          </a:p>
        </p:txBody>
      </p:sp>
      <p:sp>
        <p:nvSpPr>
          <p:cNvPr id="19" name="Text 17"/>
          <p:cNvSpPr/>
          <p:nvPr/>
        </p:nvSpPr>
        <p:spPr>
          <a:xfrm>
            <a:off x="1737360" y="4462272"/>
            <a:ext cx="1310156" cy="1005840"/>
          </a:xfrm>
          <a:prstGeom prst="rect">
            <a:avLst/>
          </a:prstGeom>
          <a:noFill/>
          <a:ln/>
        </p:spPr>
        <p:txBody>
          <a:bodyPr wrap="square" lIns="0" tIns="0" rIns="0" bIns="0" rtlCol="0" anchor="t"/>
          <a:lstStyle/>
          <a:p>
            <a:pPr marL="0" indent="0">
              <a:buNone/>
            </a:pPr>
            <a:r>
              <a:rPr lang="en-US" sz="1200" dirty="0">
                <a:solidFill>
                  <a:srgbClr val="9FB0CC"/>
                </a:solidFill>
                <a:latin typeface="Calibri" pitchFamily="34" charset="0"/>
                <a:ea typeface="Calibri" pitchFamily="34" charset="-122"/>
                <a:cs typeface="Calibri" pitchFamily="34" charset="-120"/>
              </a:rPr>
              <a:t>Compare Metro, Tier 1, and Tier 2 city markets side by side.</a:t>
            </a:r>
            <a:endParaRPr lang="en-US" sz="1200" dirty="0"/>
          </a:p>
        </p:txBody>
      </p:sp>
      <p:sp>
        <p:nvSpPr>
          <p:cNvPr id="20" name="Shape 18"/>
          <p:cNvSpPr/>
          <p:nvPr/>
        </p:nvSpPr>
        <p:spPr>
          <a:xfrm>
            <a:off x="6309360" y="3749040"/>
            <a:ext cx="5349240" cy="1874520"/>
          </a:xfrm>
          <a:prstGeom prst="roundRect">
            <a:avLst>
              <a:gd name="adj" fmla="val 3902"/>
            </a:avLst>
          </a:prstGeom>
          <a:solidFill>
            <a:srgbClr val="132A52"/>
          </a:solidFill>
          <a:ln w="12700">
            <a:solidFill>
              <a:srgbClr val="24406F"/>
            </a:solidFill>
            <a:prstDash val="solid"/>
          </a:ln>
        </p:spPr>
        <p:txBody>
          <a:bodyPr/>
          <a:lstStyle/>
          <a:p>
            <a:endParaRPr lang="en-IN"/>
          </a:p>
        </p:txBody>
      </p:sp>
      <p:sp>
        <p:nvSpPr>
          <p:cNvPr id="21" name="Shape 19"/>
          <p:cNvSpPr/>
          <p:nvPr/>
        </p:nvSpPr>
        <p:spPr>
          <a:xfrm>
            <a:off x="6583680" y="4041648"/>
            <a:ext cx="777240" cy="777240"/>
          </a:xfrm>
          <a:prstGeom prst="ellipse">
            <a:avLst/>
          </a:prstGeom>
          <a:solidFill>
            <a:srgbClr val="F2C94C"/>
          </a:solidFill>
          <a:ln/>
          <a:effectLst>
            <a:outerShdw blurRad="76200" dist="25400" dir="5400000" algn="bl" rotWithShape="0">
              <a:srgbClr val="000000">
                <a:alpha val="35000"/>
              </a:srgbClr>
            </a:outerShdw>
          </a:effectLst>
        </p:spPr>
        <p:txBody>
          <a:bodyPr/>
          <a:lstStyle/>
          <a:p>
            <a:endParaRPr lang="en-IN"/>
          </a:p>
        </p:txBody>
      </p:sp>
      <p:sp>
        <p:nvSpPr>
          <p:cNvPr id="22" name="Text 20"/>
          <p:cNvSpPr/>
          <p:nvPr/>
        </p:nvSpPr>
        <p:spPr>
          <a:xfrm>
            <a:off x="6583680" y="4041648"/>
            <a:ext cx="777240" cy="777240"/>
          </a:xfrm>
          <a:prstGeom prst="rect">
            <a:avLst/>
          </a:prstGeom>
          <a:noFill/>
          <a:ln/>
        </p:spPr>
        <p:txBody>
          <a:bodyPr wrap="square" lIns="0" tIns="0" rIns="0" bIns="0" rtlCol="0" anchor="ctr"/>
          <a:lstStyle/>
          <a:p>
            <a:pPr marL="0" indent="0" algn="ctr">
              <a:buNone/>
            </a:pPr>
            <a:r>
              <a:rPr lang="en-US" sz="2210" b="1" dirty="0">
                <a:solidFill>
                  <a:srgbClr val="FFFFFF"/>
                </a:solidFill>
                <a:latin typeface="Calibri" pitchFamily="34" charset="0"/>
                <a:ea typeface="Calibri" pitchFamily="34" charset="-122"/>
                <a:cs typeface="Calibri" pitchFamily="34" charset="-120"/>
              </a:rPr>
              <a:t>04</a:t>
            </a:r>
            <a:endParaRPr lang="en-US" sz="2210" dirty="0"/>
          </a:p>
        </p:txBody>
      </p:sp>
      <p:sp>
        <p:nvSpPr>
          <p:cNvPr id="23" name="Text 21"/>
          <p:cNvSpPr/>
          <p:nvPr/>
        </p:nvSpPr>
        <p:spPr>
          <a:xfrm>
            <a:off x="7543800" y="3855680"/>
            <a:ext cx="3886200" cy="45720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Build a Central Dashboard</a:t>
            </a:r>
            <a:endParaRPr lang="en-US" sz="1600" dirty="0"/>
          </a:p>
        </p:txBody>
      </p:sp>
      <p:sp>
        <p:nvSpPr>
          <p:cNvPr id="24" name="Text 22"/>
          <p:cNvSpPr/>
          <p:nvPr/>
        </p:nvSpPr>
        <p:spPr>
          <a:xfrm>
            <a:off x="7543800" y="4462272"/>
            <a:ext cx="1262849" cy="1005840"/>
          </a:xfrm>
          <a:prstGeom prst="rect">
            <a:avLst/>
          </a:prstGeom>
          <a:noFill/>
          <a:ln/>
        </p:spPr>
        <p:txBody>
          <a:bodyPr wrap="square" lIns="0" tIns="0" rIns="0" bIns="0" rtlCol="0" anchor="t"/>
          <a:lstStyle/>
          <a:p>
            <a:pPr marL="0" indent="0">
              <a:buNone/>
            </a:pPr>
            <a:r>
              <a:rPr lang="en-US" sz="1200" dirty="0">
                <a:solidFill>
                  <a:srgbClr val="9FB0CC"/>
                </a:solidFill>
                <a:latin typeface="Calibri" pitchFamily="34" charset="0"/>
                <a:ea typeface="Calibri" pitchFamily="34" charset="-122"/>
                <a:cs typeface="Calibri" pitchFamily="34" charset="-120"/>
              </a:rPr>
              <a:t>Deliver a single interactive view to support operational monitoring.</a:t>
            </a:r>
            <a:endParaRPr lang="en-US" sz="1200" dirty="0"/>
          </a:p>
        </p:txBody>
      </p:sp>
      <p:sp>
        <p:nvSpPr>
          <p:cNvPr id="25" name="Text 23"/>
          <p:cNvSpPr/>
          <p:nvPr/>
        </p:nvSpPr>
        <p:spPr>
          <a:xfrm>
            <a:off x="457200" y="6510528"/>
            <a:ext cx="7772400" cy="274320"/>
          </a:xfrm>
          <a:prstGeom prst="rect">
            <a:avLst/>
          </a:prstGeom>
          <a:noFill/>
          <a:ln/>
        </p:spPr>
        <p:txBody>
          <a:bodyPr wrap="square" lIns="0" tIns="0" rIns="0" bIns="0" rtlCol="0" anchor="ctr"/>
          <a:lstStyle/>
          <a:p>
            <a:pPr marL="0" indent="0" algn="l">
              <a:buNone/>
            </a:pPr>
            <a:r>
              <a:rPr lang="en-US" sz="800" dirty="0">
                <a:solidFill>
                  <a:srgbClr val="9FB0CC"/>
                </a:solidFill>
                <a:latin typeface="Calibri" pitchFamily="34" charset="0"/>
                <a:ea typeface="Calibri" pitchFamily="34" charset="-122"/>
                <a:cs typeface="Calibri" pitchFamily="34" charset="-120"/>
              </a:rPr>
              <a:t>TATA MOTORS SALES PERFORMANCE &amp; DELIVERY TRACKING DASHBOARD</a:t>
            </a:r>
            <a:endParaRPr lang="en-US" sz="800" dirty="0"/>
          </a:p>
        </p:txBody>
      </p:sp>
      <p:sp>
        <p:nvSpPr>
          <p:cNvPr id="26" name="Text 24"/>
          <p:cNvSpPr/>
          <p:nvPr/>
        </p:nvSpPr>
        <p:spPr>
          <a:xfrm>
            <a:off x="11277295" y="6510528"/>
            <a:ext cx="457200" cy="274320"/>
          </a:xfrm>
          <a:prstGeom prst="rect">
            <a:avLst/>
          </a:prstGeom>
          <a:noFill/>
          <a:ln/>
        </p:spPr>
        <p:txBody>
          <a:bodyPr wrap="square" lIns="0" tIns="0" rIns="0" bIns="0" rtlCol="0" anchor="ctr"/>
          <a:lstStyle/>
          <a:p>
            <a:pPr marL="0" indent="0" algn="r">
              <a:buNone/>
            </a:pPr>
            <a:r>
              <a:rPr lang="en-US" sz="800" dirty="0">
                <a:solidFill>
                  <a:srgbClr val="9FB0CC"/>
                </a:solidFill>
                <a:latin typeface="Calibri" pitchFamily="34" charset="0"/>
                <a:ea typeface="Calibri" pitchFamily="34" charset="-122"/>
                <a:cs typeface="Calibri" pitchFamily="34" charset="-120"/>
              </a:rPr>
              <a:t>4</a:t>
            </a:r>
            <a:endParaRPr lang="en-US" sz="800" dirty="0"/>
          </a:p>
        </p:txBody>
      </p:sp>
      <p:pic>
        <p:nvPicPr>
          <p:cNvPr id="29" name="Picture 28">
            <a:extLst>
              <a:ext uri="{FF2B5EF4-FFF2-40B4-BE49-F238E27FC236}">
                <a16:creationId xmlns:a16="http://schemas.microsoft.com/office/drawing/2014/main" id="{4AE2DE03-AE5E-F602-92B8-6A7A24E035AC}"/>
              </a:ext>
            </a:extLst>
          </p:cNvPr>
          <p:cNvPicPr>
            <a:picLocks noChangeAspect="1"/>
          </p:cNvPicPr>
          <p:nvPr/>
        </p:nvPicPr>
        <p:blipFill>
          <a:blip r:embed="rId3"/>
          <a:stretch>
            <a:fillRect/>
          </a:stretch>
        </p:blipFill>
        <p:spPr>
          <a:xfrm>
            <a:off x="3047516" y="2010337"/>
            <a:ext cx="2936563" cy="1168394"/>
          </a:xfrm>
          <a:prstGeom prst="rect">
            <a:avLst/>
          </a:prstGeom>
        </p:spPr>
      </p:pic>
      <p:pic>
        <p:nvPicPr>
          <p:cNvPr id="31" name="Picture 30">
            <a:extLst>
              <a:ext uri="{FF2B5EF4-FFF2-40B4-BE49-F238E27FC236}">
                <a16:creationId xmlns:a16="http://schemas.microsoft.com/office/drawing/2014/main" id="{4ADC5D8B-86B4-EEF3-EF9B-3AB85ADBBC32}"/>
              </a:ext>
            </a:extLst>
          </p:cNvPr>
          <p:cNvPicPr>
            <a:picLocks noChangeAspect="1"/>
          </p:cNvPicPr>
          <p:nvPr/>
        </p:nvPicPr>
        <p:blipFill>
          <a:blip r:embed="rId4"/>
          <a:stretch>
            <a:fillRect/>
          </a:stretch>
        </p:blipFill>
        <p:spPr>
          <a:xfrm>
            <a:off x="3230396" y="4346134"/>
            <a:ext cx="2514546" cy="1039641"/>
          </a:xfrm>
          <a:prstGeom prst="rect">
            <a:avLst/>
          </a:prstGeom>
        </p:spPr>
      </p:pic>
      <p:pic>
        <p:nvPicPr>
          <p:cNvPr id="33" name="Picture 32">
            <a:extLst>
              <a:ext uri="{FF2B5EF4-FFF2-40B4-BE49-F238E27FC236}">
                <a16:creationId xmlns:a16="http://schemas.microsoft.com/office/drawing/2014/main" id="{997313E8-3FBE-E9A7-CF50-B169E01B7ED6}"/>
              </a:ext>
            </a:extLst>
          </p:cNvPr>
          <p:cNvPicPr>
            <a:picLocks noChangeAspect="1"/>
          </p:cNvPicPr>
          <p:nvPr/>
        </p:nvPicPr>
        <p:blipFill>
          <a:blip r:embed="rId5"/>
          <a:stretch>
            <a:fillRect/>
          </a:stretch>
        </p:blipFill>
        <p:spPr>
          <a:xfrm>
            <a:off x="9471660" y="2044945"/>
            <a:ext cx="1603102" cy="1028405"/>
          </a:xfrm>
          <a:prstGeom prst="rect">
            <a:avLst/>
          </a:prstGeom>
        </p:spPr>
      </p:pic>
      <p:pic>
        <p:nvPicPr>
          <p:cNvPr id="35" name="Picture 34">
            <a:extLst>
              <a:ext uri="{FF2B5EF4-FFF2-40B4-BE49-F238E27FC236}">
                <a16:creationId xmlns:a16="http://schemas.microsoft.com/office/drawing/2014/main" id="{86821A8A-A78D-177A-EE9F-AEADACEAFAAF}"/>
              </a:ext>
            </a:extLst>
          </p:cNvPr>
          <p:cNvPicPr>
            <a:picLocks noChangeAspect="1"/>
          </p:cNvPicPr>
          <p:nvPr/>
        </p:nvPicPr>
        <p:blipFill>
          <a:blip r:embed="rId6"/>
          <a:stretch>
            <a:fillRect/>
          </a:stretch>
        </p:blipFill>
        <p:spPr>
          <a:xfrm>
            <a:off x="9390551" y="4276187"/>
            <a:ext cx="1759802" cy="112406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B36"/>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502920"/>
          </a:xfrm>
          <a:prstGeom prst="rect">
            <a:avLst/>
          </a:prstGeom>
          <a:ln/>
        </p:spPr>
        <p:style>
          <a:lnRef idx="1">
            <a:schemeClr val="accent2"/>
          </a:lnRef>
          <a:fillRef idx="3">
            <a:schemeClr val="accent2"/>
          </a:fillRef>
          <a:effectRef idx="2">
            <a:schemeClr val="accent2"/>
          </a:effectRef>
          <a:fontRef idx="minor">
            <a:schemeClr val="lt1"/>
          </a:fontRef>
        </p:style>
        <p:txBody>
          <a:bodyPr wrap="square" lIns="0" tIns="0" rIns="0" bIns="0" rtlCol="0" anchor="ctr"/>
          <a:lstStyle/>
          <a:p>
            <a:pPr marL="0" indent="0" algn="l">
              <a:buNone/>
            </a:pPr>
            <a:r>
              <a:rPr lang="en-US" sz="2600" b="1" kern="0" spc="50" dirty="0">
                <a:solidFill>
                  <a:srgbClr val="FFFFFF"/>
                </a:solidFill>
                <a:latin typeface="Cambria" pitchFamily="34" charset="0"/>
                <a:ea typeface="Cambria" pitchFamily="34" charset="-122"/>
                <a:cs typeface="Cambria" pitchFamily="34" charset="-120"/>
              </a:rPr>
              <a:t>DATASET DESCRIPTION : </a:t>
            </a:r>
            <a:endParaRPr lang="en-US" sz="2600" dirty="0"/>
          </a:p>
        </p:txBody>
      </p:sp>
      <p:sp>
        <p:nvSpPr>
          <p:cNvPr id="3" name="Text 1"/>
          <p:cNvSpPr/>
          <p:nvPr/>
        </p:nvSpPr>
        <p:spPr>
          <a:xfrm>
            <a:off x="502920" y="804672"/>
            <a:ext cx="11155680" cy="292608"/>
          </a:xfrm>
          <a:prstGeom prst="rect">
            <a:avLst/>
          </a:prstGeom>
          <a:noFill/>
          <a:ln/>
        </p:spPr>
        <p:txBody>
          <a:bodyPr wrap="square" lIns="0" tIns="0" rIns="0" bIns="0" rtlCol="0" anchor="ctr"/>
          <a:lstStyle/>
          <a:p>
            <a:pPr marL="0" indent="0" algn="l">
              <a:buNone/>
            </a:pPr>
            <a:endParaRPr lang="en-US" sz="1250" dirty="0"/>
          </a:p>
        </p:txBody>
      </p:sp>
      <p:sp>
        <p:nvSpPr>
          <p:cNvPr id="4" name="Shape 2"/>
          <p:cNvSpPr/>
          <p:nvPr/>
        </p:nvSpPr>
        <p:spPr>
          <a:xfrm>
            <a:off x="502920" y="1170432"/>
            <a:ext cx="11155680" cy="16459"/>
          </a:xfrm>
          <a:prstGeom prst="rect">
            <a:avLst/>
          </a:prstGeom>
          <a:solidFill>
            <a:srgbClr val="24406F"/>
          </a:solidFill>
          <a:ln/>
        </p:spPr>
        <p:txBody>
          <a:bodyPr/>
          <a:lstStyle/>
          <a:p>
            <a:endParaRPr lang="en-IN"/>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155680" cy="4526280"/>
        </p:xfrm>
        <a:graphic>
          <a:graphicData uri="http://schemas.openxmlformats.org/drawingml/2006/table">
            <a:tbl>
              <a:tblPr/>
              <a:tblGrid>
                <a:gridCol w="192024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3291840">
                  <a:extLst>
                    <a:ext uri="{9D8B030D-6E8A-4147-A177-3AD203B41FA5}">
                      <a16:colId xmlns:a16="http://schemas.microsoft.com/office/drawing/2014/main" val="20003"/>
                    </a:ext>
                  </a:extLst>
                </a:gridCol>
              </a:tblGrid>
              <a:tr h="502920">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Field</a:t>
                      </a:r>
                      <a:endParaRPr lang="en-US" sz="115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2E75D6"/>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Description</a:t>
                      </a:r>
                      <a:endParaRPr lang="en-US" sz="115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2E75D6"/>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Type</a:t>
                      </a:r>
                      <a:endParaRPr lang="en-US" sz="115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2E75D6"/>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Business Relevance</a:t>
                      </a:r>
                      <a:endParaRPr lang="en-US" sz="115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2E75D6"/>
                    </a:solidFill>
                  </a:tcPr>
                </a:tc>
                <a:extLst>
                  <a:ext uri="{0D108BD9-81ED-4DB2-BD59-A6C34878D82A}">
                    <a16:rowId xmlns:a16="http://schemas.microsoft.com/office/drawing/2014/main" val="10000"/>
                  </a:ext>
                </a:extLst>
              </a:tr>
              <a:tr h="502920">
                <a:tc>
                  <a:txBody>
                    <a:bodyPr/>
                    <a:lstStyle/>
                    <a:p>
                      <a:pPr marL="0" indent="0" algn="l">
                        <a:buNone/>
                      </a:pPr>
                      <a:r>
                        <a:rPr lang="en-US" sz="1100" dirty="0">
                          <a:solidFill>
                            <a:srgbClr val="FFFFFF"/>
                          </a:solidFill>
                          <a:latin typeface="Calibri" pitchFamily="34" charset="0"/>
                          <a:ea typeface="Calibri" pitchFamily="34" charset="-122"/>
                          <a:cs typeface="Calibri" pitchFamily="34" charset="-120"/>
                        </a:rPr>
                        <a:t>Product_ID</a:t>
                      </a:r>
                      <a:endParaRPr lang="en-US" sz="110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132A52"/>
                    </a:solidFill>
                  </a:tcPr>
                </a:tc>
                <a:tc>
                  <a:txBody>
                    <a:bodyPr/>
                    <a:lstStyle/>
                    <a:p>
                      <a:pPr marL="0" indent="0" algn="l">
                        <a:buNone/>
                      </a:pPr>
                      <a:r>
                        <a:rPr lang="en-US" sz="1100" dirty="0">
                          <a:solidFill>
                            <a:srgbClr val="FFFFFF"/>
                          </a:solidFill>
                          <a:latin typeface="Calibri" pitchFamily="34" charset="0"/>
                          <a:ea typeface="Calibri" pitchFamily="34" charset="-122"/>
                          <a:cs typeface="Calibri" pitchFamily="34" charset="-120"/>
                        </a:rPr>
                        <a:t>Unique identifier for each vehicle</a:t>
                      </a:r>
                      <a:endParaRPr lang="en-US" sz="110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132A52"/>
                    </a:solidFill>
                  </a:tcPr>
                </a:tc>
                <a:tc>
                  <a:txBody>
                    <a:bodyPr/>
                    <a:lstStyle/>
                    <a:p>
                      <a:pPr marL="0" indent="0" algn="l">
                        <a:buNone/>
                      </a:pPr>
                      <a:r>
                        <a:rPr lang="en-US" sz="1100" dirty="0">
                          <a:solidFill>
                            <a:srgbClr val="FFFFFF"/>
                          </a:solidFill>
                          <a:latin typeface="Calibri" pitchFamily="34" charset="0"/>
                          <a:ea typeface="Calibri" pitchFamily="34" charset="-122"/>
                          <a:cs typeface="Calibri" pitchFamily="34" charset="-120"/>
                        </a:rPr>
                        <a:t>Text</a:t>
                      </a:r>
                      <a:endParaRPr lang="en-US" sz="110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132A52"/>
                    </a:solidFill>
                  </a:tcPr>
                </a:tc>
                <a:tc>
                  <a:txBody>
                    <a:bodyPr/>
                    <a:lstStyle/>
                    <a:p>
                      <a:pPr marL="0" indent="0" algn="l">
                        <a:buNone/>
                      </a:pPr>
                      <a:r>
                        <a:rPr lang="en-US" sz="1100" dirty="0">
                          <a:solidFill>
                            <a:srgbClr val="FFFFFF"/>
                          </a:solidFill>
                          <a:latin typeface="Calibri" pitchFamily="34" charset="0"/>
                          <a:ea typeface="Calibri" pitchFamily="34" charset="-122"/>
                          <a:cs typeface="Calibri" pitchFamily="34" charset="-120"/>
                        </a:rPr>
                        <a:t>Inventory tracking</a:t>
                      </a:r>
                      <a:endParaRPr lang="en-US" sz="110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132A52"/>
                    </a:solidFill>
                  </a:tcPr>
                </a:tc>
                <a:extLst>
                  <a:ext uri="{0D108BD9-81ED-4DB2-BD59-A6C34878D82A}">
                    <a16:rowId xmlns:a16="http://schemas.microsoft.com/office/drawing/2014/main" val="10001"/>
                  </a:ext>
                </a:extLst>
              </a:tr>
              <a:tr h="502920">
                <a:tc>
                  <a:txBody>
                    <a:bodyPr/>
                    <a:lstStyle/>
                    <a:p>
                      <a:pPr marL="0" indent="0" algn="l">
                        <a:buNone/>
                      </a:pPr>
                      <a:r>
                        <a:rPr lang="en-US" sz="1100" dirty="0">
                          <a:solidFill>
                            <a:srgbClr val="FFFFFF"/>
                          </a:solidFill>
                          <a:latin typeface="Calibri" pitchFamily="34" charset="0"/>
                          <a:ea typeface="Calibri" pitchFamily="34" charset="-122"/>
                          <a:cs typeface="Calibri" pitchFamily="34" charset="-120"/>
                        </a:rPr>
                        <a:t>City_Category</a:t>
                      </a:r>
                      <a:endParaRPr lang="en-US" sz="110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0A1B36"/>
                    </a:solidFill>
                  </a:tcPr>
                </a:tc>
                <a:tc>
                  <a:txBody>
                    <a:bodyPr/>
                    <a:lstStyle/>
                    <a:p>
                      <a:pPr marL="0" indent="0" algn="l">
                        <a:buNone/>
                      </a:pPr>
                      <a:r>
                        <a:rPr lang="en-US" sz="1100" dirty="0">
                          <a:solidFill>
                            <a:srgbClr val="FFFFFF"/>
                          </a:solidFill>
                          <a:latin typeface="Calibri" pitchFamily="34" charset="0"/>
                          <a:ea typeface="Calibri" pitchFamily="34" charset="-122"/>
                          <a:cs typeface="Calibri" pitchFamily="34" charset="-120"/>
                        </a:rPr>
                        <a:t>Market classification (Metro, Tier 1, Tier 2)</a:t>
                      </a:r>
                      <a:endParaRPr lang="en-US" sz="110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0A1B36"/>
                    </a:solidFill>
                  </a:tcPr>
                </a:tc>
                <a:tc>
                  <a:txBody>
                    <a:bodyPr/>
                    <a:lstStyle/>
                    <a:p>
                      <a:pPr marL="0" indent="0" algn="l">
                        <a:buNone/>
                      </a:pPr>
                      <a:r>
                        <a:rPr lang="en-US" sz="1100" dirty="0">
                          <a:solidFill>
                            <a:srgbClr val="FFFFFF"/>
                          </a:solidFill>
                          <a:latin typeface="Calibri" pitchFamily="34" charset="0"/>
                          <a:ea typeface="Calibri" pitchFamily="34" charset="-122"/>
                          <a:cs typeface="Calibri" pitchFamily="34" charset="-120"/>
                        </a:rPr>
                        <a:t>Text</a:t>
                      </a:r>
                      <a:endParaRPr lang="en-US" sz="110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0A1B36"/>
                    </a:solidFill>
                  </a:tcPr>
                </a:tc>
                <a:tc>
                  <a:txBody>
                    <a:bodyPr/>
                    <a:lstStyle/>
                    <a:p>
                      <a:pPr marL="0" indent="0" algn="l">
                        <a:buNone/>
                      </a:pPr>
                      <a:r>
                        <a:rPr lang="en-US" sz="1100" dirty="0">
                          <a:solidFill>
                            <a:srgbClr val="FFFFFF"/>
                          </a:solidFill>
                          <a:latin typeface="Calibri" pitchFamily="34" charset="0"/>
                          <a:ea typeface="Calibri" pitchFamily="34" charset="-122"/>
                          <a:cs typeface="Calibri" pitchFamily="34" charset="-120"/>
                        </a:rPr>
                        <a:t>Regional sales analysis</a:t>
                      </a:r>
                      <a:endParaRPr lang="en-US" sz="110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0A1B36"/>
                    </a:solidFill>
                  </a:tcPr>
                </a:tc>
                <a:extLst>
                  <a:ext uri="{0D108BD9-81ED-4DB2-BD59-A6C34878D82A}">
                    <a16:rowId xmlns:a16="http://schemas.microsoft.com/office/drawing/2014/main" val="10002"/>
                  </a:ext>
                </a:extLst>
              </a:tr>
              <a:tr h="502920">
                <a:tc>
                  <a:txBody>
                    <a:bodyPr/>
                    <a:lstStyle/>
                    <a:p>
                      <a:pPr marL="0" indent="0" algn="l">
                        <a:buNone/>
                      </a:pPr>
                      <a:r>
                        <a:rPr lang="en-US" sz="1100" dirty="0">
                          <a:solidFill>
                            <a:srgbClr val="FFFFFF"/>
                          </a:solidFill>
                          <a:latin typeface="Calibri" pitchFamily="34" charset="0"/>
                          <a:ea typeface="Calibri" pitchFamily="34" charset="-122"/>
                          <a:cs typeface="Calibri" pitchFamily="34" charset="-120"/>
                        </a:rPr>
                        <a:t>Batch</a:t>
                      </a:r>
                      <a:endParaRPr lang="en-US" sz="110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132A52"/>
                    </a:solidFill>
                  </a:tcPr>
                </a:tc>
                <a:tc>
                  <a:txBody>
                    <a:bodyPr/>
                    <a:lstStyle/>
                    <a:p>
                      <a:pPr marL="0" indent="0" algn="l">
                        <a:buNone/>
                      </a:pPr>
                      <a:r>
                        <a:rPr lang="en-US" sz="1100" dirty="0">
                          <a:solidFill>
                            <a:srgbClr val="FFFFFF"/>
                          </a:solidFill>
                          <a:latin typeface="Calibri" pitchFamily="34" charset="0"/>
                          <a:ea typeface="Calibri" pitchFamily="34" charset="-122"/>
                          <a:cs typeface="Calibri" pitchFamily="34" charset="-120"/>
                        </a:rPr>
                        <a:t>Manufacturing / shipping batch code</a:t>
                      </a:r>
                      <a:endParaRPr lang="en-US" sz="110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132A52"/>
                    </a:solidFill>
                  </a:tcPr>
                </a:tc>
                <a:tc>
                  <a:txBody>
                    <a:bodyPr/>
                    <a:lstStyle/>
                    <a:p>
                      <a:pPr marL="0" indent="0" algn="l">
                        <a:buNone/>
                      </a:pPr>
                      <a:r>
                        <a:rPr lang="en-US" sz="1100" dirty="0">
                          <a:solidFill>
                            <a:srgbClr val="FFFFFF"/>
                          </a:solidFill>
                          <a:latin typeface="Calibri" pitchFamily="34" charset="0"/>
                          <a:ea typeface="Calibri" pitchFamily="34" charset="-122"/>
                          <a:cs typeface="Calibri" pitchFamily="34" charset="-120"/>
                        </a:rPr>
                        <a:t>Text</a:t>
                      </a:r>
                      <a:endParaRPr lang="en-US" sz="110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132A52"/>
                    </a:solidFill>
                  </a:tcPr>
                </a:tc>
                <a:tc>
                  <a:txBody>
                    <a:bodyPr/>
                    <a:lstStyle/>
                    <a:p>
                      <a:pPr marL="0" indent="0" algn="l">
                        <a:buNone/>
                      </a:pPr>
                      <a:r>
                        <a:rPr lang="en-US" sz="1100" dirty="0">
                          <a:solidFill>
                            <a:srgbClr val="FFFFFF"/>
                          </a:solidFill>
                          <a:latin typeface="Calibri" pitchFamily="34" charset="0"/>
                          <a:ea typeface="Calibri" pitchFamily="34" charset="-122"/>
                          <a:cs typeface="Calibri" pitchFamily="34" charset="-120"/>
                        </a:rPr>
                        <a:t>Supply chain tracking</a:t>
                      </a:r>
                      <a:endParaRPr lang="en-US" sz="110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132A52"/>
                    </a:solidFill>
                  </a:tcPr>
                </a:tc>
                <a:extLst>
                  <a:ext uri="{0D108BD9-81ED-4DB2-BD59-A6C34878D82A}">
                    <a16:rowId xmlns:a16="http://schemas.microsoft.com/office/drawing/2014/main" val="10003"/>
                  </a:ext>
                </a:extLst>
              </a:tr>
              <a:tr h="502920">
                <a:tc>
                  <a:txBody>
                    <a:bodyPr/>
                    <a:lstStyle/>
                    <a:p>
                      <a:pPr marL="0" indent="0" algn="l">
                        <a:buNone/>
                      </a:pPr>
                      <a:r>
                        <a:rPr lang="en-US" sz="1100" dirty="0">
                          <a:solidFill>
                            <a:srgbClr val="FFFFFF"/>
                          </a:solidFill>
                          <a:latin typeface="Calibri" pitchFamily="34" charset="0"/>
                          <a:ea typeface="Calibri" pitchFamily="34" charset="-122"/>
                          <a:cs typeface="Calibri" pitchFamily="34" charset="-120"/>
                        </a:rPr>
                        <a:t>Model Name</a:t>
                      </a:r>
                      <a:endParaRPr lang="en-US" sz="110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0A1B36"/>
                    </a:solidFill>
                  </a:tcPr>
                </a:tc>
                <a:tc>
                  <a:txBody>
                    <a:bodyPr/>
                    <a:lstStyle/>
                    <a:p>
                      <a:pPr marL="0" indent="0" algn="l">
                        <a:buNone/>
                      </a:pPr>
                      <a:r>
                        <a:rPr lang="en-US" sz="1100" dirty="0">
                          <a:solidFill>
                            <a:srgbClr val="FFFFFF"/>
                          </a:solidFill>
                          <a:latin typeface="Calibri" pitchFamily="34" charset="0"/>
                          <a:ea typeface="Calibri" pitchFamily="34" charset="-122"/>
                          <a:cs typeface="Calibri" pitchFamily="34" charset="-120"/>
                        </a:rPr>
                        <a:t>Name of the Tata vehicle (e.g., Tata Nexon)</a:t>
                      </a:r>
                      <a:endParaRPr lang="en-US" sz="110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0A1B36"/>
                    </a:solidFill>
                  </a:tcPr>
                </a:tc>
                <a:tc>
                  <a:txBody>
                    <a:bodyPr/>
                    <a:lstStyle/>
                    <a:p>
                      <a:pPr marL="0" indent="0" algn="l">
                        <a:buNone/>
                      </a:pPr>
                      <a:r>
                        <a:rPr lang="en-US" sz="1100" dirty="0">
                          <a:solidFill>
                            <a:srgbClr val="FFFFFF"/>
                          </a:solidFill>
                          <a:latin typeface="Calibri" pitchFamily="34" charset="0"/>
                          <a:ea typeface="Calibri" pitchFamily="34" charset="-122"/>
                          <a:cs typeface="Calibri" pitchFamily="34" charset="-120"/>
                        </a:rPr>
                        <a:t>Text</a:t>
                      </a:r>
                      <a:endParaRPr lang="en-US" sz="110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0A1B36"/>
                    </a:solidFill>
                  </a:tcPr>
                </a:tc>
                <a:tc>
                  <a:txBody>
                    <a:bodyPr/>
                    <a:lstStyle/>
                    <a:p>
                      <a:pPr marL="0" indent="0" algn="l">
                        <a:buNone/>
                      </a:pPr>
                      <a:r>
                        <a:rPr lang="en-US" sz="1100" dirty="0">
                          <a:solidFill>
                            <a:srgbClr val="FFFFFF"/>
                          </a:solidFill>
                          <a:latin typeface="Calibri" pitchFamily="34" charset="0"/>
                          <a:ea typeface="Calibri" pitchFamily="34" charset="-122"/>
                          <a:cs typeface="Calibri" pitchFamily="34" charset="-120"/>
                        </a:rPr>
                        <a:t>Product performance tracking</a:t>
                      </a:r>
                      <a:endParaRPr lang="en-US" sz="110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0A1B36"/>
                    </a:solidFill>
                  </a:tcPr>
                </a:tc>
                <a:extLst>
                  <a:ext uri="{0D108BD9-81ED-4DB2-BD59-A6C34878D82A}">
                    <a16:rowId xmlns:a16="http://schemas.microsoft.com/office/drawing/2014/main" val="10004"/>
                  </a:ext>
                </a:extLst>
              </a:tr>
              <a:tr h="502920">
                <a:tc>
                  <a:txBody>
                    <a:bodyPr/>
                    <a:lstStyle/>
                    <a:p>
                      <a:pPr marL="0" indent="0" algn="l">
                        <a:buNone/>
                      </a:pPr>
                      <a:r>
                        <a:rPr lang="en-US" sz="1100" dirty="0">
                          <a:solidFill>
                            <a:srgbClr val="FFFFFF"/>
                          </a:solidFill>
                          <a:latin typeface="Calibri" pitchFamily="34" charset="0"/>
                          <a:ea typeface="Calibri" pitchFamily="34" charset="-122"/>
                          <a:cs typeface="Calibri" pitchFamily="34" charset="-120"/>
                        </a:rPr>
                        <a:t>Delivery Status</a:t>
                      </a:r>
                      <a:endParaRPr lang="en-US" sz="110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132A52"/>
                    </a:solidFill>
                  </a:tcPr>
                </a:tc>
                <a:tc>
                  <a:txBody>
                    <a:bodyPr/>
                    <a:lstStyle/>
                    <a:p>
                      <a:pPr marL="0" indent="0" algn="l">
                        <a:buNone/>
                      </a:pPr>
                      <a:r>
                        <a:rPr lang="en-US" sz="1100" dirty="0">
                          <a:solidFill>
                            <a:srgbClr val="FFFFFF"/>
                          </a:solidFill>
                          <a:latin typeface="Calibri" pitchFamily="34" charset="0"/>
                          <a:ea typeface="Calibri" pitchFamily="34" charset="-122"/>
                          <a:cs typeface="Calibri" pitchFamily="34" charset="-120"/>
                        </a:rPr>
                        <a:t>Current status (Delivered, Pending, In Transit)</a:t>
                      </a:r>
                      <a:endParaRPr lang="en-US" sz="110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132A52"/>
                    </a:solidFill>
                  </a:tcPr>
                </a:tc>
                <a:tc>
                  <a:txBody>
                    <a:bodyPr/>
                    <a:lstStyle/>
                    <a:p>
                      <a:pPr marL="0" indent="0" algn="l">
                        <a:buNone/>
                      </a:pPr>
                      <a:r>
                        <a:rPr lang="en-US" sz="1100" dirty="0">
                          <a:solidFill>
                            <a:srgbClr val="FFFFFF"/>
                          </a:solidFill>
                          <a:latin typeface="Calibri" pitchFamily="34" charset="0"/>
                          <a:ea typeface="Calibri" pitchFamily="34" charset="-122"/>
                          <a:cs typeface="Calibri" pitchFamily="34" charset="-120"/>
                        </a:rPr>
                        <a:t>Text</a:t>
                      </a:r>
                      <a:endParaRPr lang="en-US" sz="110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132A52"/>
                    </a:solidFill>
                  </a:tcPr>
                </a:tc>
                <a:tc>
                  <a:txBody>
                    <a:bodyPr/>
                    <a:lstStyle/>
                    <a:p>
                      <a:pPr marL="0" indent="0" algn="l">
                        <a:buNone/>
                      </a:pPr>
                      <a:r>
                        <a:rPr lang="en-US" sz="1100" dirty="0">
                          <a:solidFill>
                            <a:srgbClr val="FFFFFF"/>
                          </a:solidFill>
                          <a:latin typeface="Calibri" pitchFamily="34" charset="0"/>
                          <a:ea typeface="Calibri" pitchFamily="34" charset="-122"/>
                          <a:cs typeface="Calibri" pitchFamily="34" charset="-120"/>
                        </a:rPr>
                        <a:t>Fulfillment monitoring</a:t>
                      </a:r>
                      <a:endParaRPr lang="en-US" sz="110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132A52"/>
                    </a:solidFill>
                  </a:tcPr>
                </a:tc>
                <a:extLst>
                  <a:ext uri="{0D108BD9-81ED-4DB2-BD59-A6C34878D82A}">
                    <a16:rowId xmlns:a16="http://schemas.microsoft.com/office/drawing/2014/main" val="10005"/>
                  </a:ext>
                </a:extLst>
              </a:tr>
              <a:tr h="502920">
                <a:tc>
                  <a:txBody>
                    <a:bodyPr/>
                    <a:lstStyle/>
                    <a:p>
                      <a:pPr marL="0" indent="0" algn="l">
                        <a:buNone/>
                      </a:pPr>
                      <a:r>
                        <a:rPr lang="en-US" sz="1100" dirty="0">
                          <a:solidFill>
                            <a:srgbClr val="FFFFFF"/>
                          </a:solidFill>
                          <a:latin typeface="Calibri" pitchFamily="34" charset="0"/>
                          <a:ea typeface="Calibri" pitchFamily="34" charset="-122"/>
                          <a:cs typeface="Calibri" pitchFamily="34" charset="-120"/>
                        </a:rPr>
                        <a:t>Product Cost</a:t>
                      </a:r>
                      <a:endParaRPr lang="en-US" sz="110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0A1B36"/>
                    </a:solidFill>
                  </a:tcPr>
                </a:tc>
                <a:tc>
                  <a:txBody>
                    <a:bodyPr/>
                    <a:lstStyle/>
                    <a:p>
                      <a:pPr marL="0" indent="0" algn="l">
                        <a:buNone/>
                      </a:pPr>
                      <a:r>
                        <a:rPr lang="en-US" sz="1100" dirty="0">
                          <a:solidFill>
                            <a:srgbClr val="FFFFFF"/>
                          </a:solidFill>
                          <a:latin typeface="Calibri" pitchFamily="34" charset="0"/>
                          <a:ea typeface="Calibri" pitchFamily="34" charset="-122"/>
                          <a:cs typeface="Calibri" pitchFamily="34" charset="-120"/>
                        </a:rPr>
                        <a:t>Base price of the vehicle</a:t>
                      </a:r>
                      <a:endParaRPr lang="en-US" sz="110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0A1B36"/>
                    </a:solidFill>
                  </a:tcPr>
                </a:tc>
                <a:tc>
                  <a:txBody>
                    <a:bodyPr/>
                    <a:lstStyle/>
                    <a:p>
                      <a:pPr marL="0" indent="0" algn="l">
                        <a:buNone/>
                      </a:pPr>
                      <a:r>
                        <a:rPr lang="en-US" sz="1100" dirty="0">
                          <a:solidFill>
                            <a:srgbClr val="FFFFFF"/>
                          </a:solidFill>
                          <a:latin typeface="Calibri" pitchFamily="34" charset="0"/>
                          <a:ea typeface="Calibri" pitchFamily="34" charset="-122"/>
                          <a:cs typeface="Calibri" pitchFamily="34" charset="-120"/>
                        </a:rPr>
                        <a:t>Currency</a:t>
                      </a:r>
                      <a:endParaRPr lang="en-US" sz="110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0A1B36"/>
                    </a:solidFill>
                  </a:tcPr>
                </a:tc>
                <a:tc>
                  <a:txBody>
                    <a:bodyPr/>
                    <a:lstStyle/>
                    <a:p>
                      <a:pPr marL="0" indent="0" algn="l">
                        <a:buNone/>
                      </a:pPr>
                      <a:r>
                        <a:rPr lang="en-US" sz="1100" dirty="0">
                          <a:solidFill>
                            <a:srgbClr val="FFFFFF"/>
                          </a:solidFill>
                          <a:latin typeface="Calibri" pitchFamily="34" charset="0"/>
                          <a:ea typeface="Calibri" pitchFamily="34" charset="-122"/>
                          <a:cs typeface="Calibri" pitchFamily="34" charset="-120"/>
                        </a:rPr>
                        <a:t>Revenue calculation</a:t>
                      </a:r>
                      <a:endParaRPr lang="en-US" sz="110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0A1B36"/>
                    </a:solidFill>
                  </a:tcPr>
                </a:tc>
                <a:extLst>
                  <a:ext uri="{0D108BD9-81ED-4DB2-BD59-A6C34878D82A}">
                    <a16:rowId xmlns:a16="http://schemas.microsoft.com/office/drawing/2014/main" val="10006"/>
                  </a:ext>
                </a:extLst>
              </a:tr>
              <a:tr h="502920">
                <a:tc>
                  <a:txBody>
                    <a:bodyPr/>
                    <a:lstStyle/>
                    <a:p>
                      <a:pPr marL="0" indent="0" algn="l">
                        <a:buNone/>
                      </a:pPr>
                      <a:r>
                        <a:rPr lang="en-US" sz="1100" dirty="0">
                          <a:solidFill>
                            <a:srgbClr val="FFFFFF"/>
                          </a:solidFill>
                          <a:latin typeface="Calibri" pitchFamily="34" charset="0"/>
                          <a:ea typeface="Calibri" pitchFamily="34" charset="-122"/>
                          <a:cs typeface="Calibri" pitchFamily="34" charset="-120"/>
                        </a:rPr>
                        <a:t>Taxation &amp; Delivery</a:t>
                      </a:r>
                      <a:endParaRPr lang="en-US" sz="110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132A52"/>
                    </a:solidFill>
                  </a:tcPr>
                </a:tc>
                <a:tc>
                  <a:txBody>
                    <a:bodyPr/>
                    <a:lstStyle/>
                    <a:p>
                      <a:pPr marL="0" indent="0" algn="l">
                        <a:buNone/>
                      </a:pPr>
                      <a:r>
                        <a:rPr lang="en-US" sz="1100" dirty="0">
                          <a:solidFill>
                            <a:srgbClr val="FFFFFF"/>
                          </a:solidFill>
                          <a:latin typeface="Calibri" pitchFamily="34" charset="0"/>
                          <a:ea typeface="Calibri" pitchFamily="34" charset="-122"/>
                          <a:cs typeface="Calibri" pitchFamily="34" charset="-120"/>
                        </a:rPr>
                        <a:t>Additional logistics and tax fees</a:t>
                      </a:r>
                      <a:endParaRPr lang="en-US" sz="110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132A52"/>
                    </a:solidFill>
                  </a:tcPr>
                </a:tc>
                <a:tc>
                  <a:txBody>
                    <a:bodyPr/>
                    <a:lstStyle/>
                    <a:p>
                      <a:pPr marL="0" indent="0" algn="l">
                        <a:buNone/>
                      </a:pPr>
                      <a:r>
                        <a:rPr lang="en-US" sz="1100" dirty="0">
                          <a:solidFill>
                            <a:srgbClr val="FFFFFF"/>
                          </a:solidFill>
                          <a:latin typeface="Calibri" pitchFamily="34" charset="0"/>
                          <a:ea typeface="Calibri" pitchFamily="34" charset="-122"/>
                          <a:cs typeface="Calibri" pitchFamily="34" charset="-120"/>
                        </a:rPr>
                        <a:t>Currency</a:t>
                      </a:r>
                      <a:endParaRPr lang="en-US" sz="110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132A52"/>
                    </a:solidFill>
                  </a:tcPr>
                </a:tc>
                <a:tc>
                  <a:txBody>
                    <a:bodyPr/>
                    <a:lstStyle/>
                    <a:p>
                      <a:pPr marL="0" indent="0" algn="l">
                        <a:buNone/>
                      </a:pPr>
                      <a:r>
                        <a:rPr lang="en-US" sz="1100" dirty="0">
                          <a:solidFill>
                            <a:srgbClr val="FFFFFF"/>
                          </a:solidFill>
                          <a:latin typeface="Calibri" pitchFamily="34" charset="0"/>
                          <a:ea typeface="Calibri" pitchFamily="34" charset="-122"/>
                          <a:cs typeface="Calibri" pitchFamily="34" charset="-120"/>
                        </a:rPr>
                        <a:t>Cost breakdown analysis</a:t>
                      </a:r>
                      <a:endParaRPr lang="en-US" sz="110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132A52"/>
                    </a:solidFill>
                  </a:tcPr>
                </a:tc>
                <a:extLst>
                  <a:ext uri="{0D108BD9-81ED-4DB2-BD59-A6C34878D82A}">
                    <a16:rowId xmlns:a16="http://schemas.microsoft.com/office/drawing/2014/main" val="10007"/>
                  </a:ext>
                </a:extLst>
              </a:tr>
              <a:tr h="502920">
                <a:tc>
                  <a:txBody>
                    <a:bodyPr/>
                    <a:lstStyle/>
                    <a:p>
                      <a:pPr marL="0" indent="0" algn="l">
                        <a:buNone/>
                      </a:pPr>
                      <a:r>
                        <a:rPr lang="en-US" sz="1100" dirty="0">
                          <a:solidFill>
                            <a:srgbClr val="FFFFFF"/>
                          </a:solidFill>
                          <a:latin typeface="Calibri" pitchFamily="34" charset="0"/>
                          <a:ea typeface="Calibri" pitchFamily="34" charset="-122"/>
                          <a:cs typeface="Calibri" pitchFamily="34" charset="-120"/>
                        </a:rPr>
                        <a:t>Final Cost</a:t>
                      </a:r>
                      <a:endParaRPr lang="en-US" sz="110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0A1B36"/>
                    </a:solidFill>
                  </a:tcPr>
                </a:tc>
                <a:tc>
                  <a:txBody>
                    <a:bodyPr/>
                    <a:lstStyle/>
                    <a:p>
                      <a:pPr marL="0" indent="0" algn="l">
                        <a:buNone/>
                      </a:pPr>
                      <a:r>
                        <a:rPr lang="en-US" sz="1100" dirty="0">
                          <a:solidFill>
                            <a:srgbClr val="FFFFFF"/>
                          </a:solidFill>
                          <a:latin typeface="Calibri" pitchFamily="34" charset="0"/>
                          <a:ea typeface="Calibri" pitchFamily="34" charset="-122"/>
                          <a:cs typeface="Calibri" pitchFamily="34" charset="-120"/>
                        </a:rPr>
                        <a:t>Final billed amount to customer</a:t>
                      </a:r>
                      <a:endParaRPr lang="en-US" sz="110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0A1B36"/>
                    </a:solidFill>
                  </a:tcPr>
                </a:tc>
                <a:tc>
                  <a:txBody>
                    <a:bodyPr/>
                    <a:lstStyle/>
                    <a:p>
                      <a:pPr marL="0" indent="0" algn="l">
                        <a:buNone/>
                      </a:pPr>
                      <a:r>
                        <a:rPr lang="en-US" sz="1100" dirty="0">
                          <a:solidFill>
                            <a:srgbClr val="FFFFFF"/>
                          </a:solidFill>
                          <a:latin typeface="Calibri" pitchFamily="34" charset="0"/>
                          <a:ea typeface="Calibri" pitchFamily="34" charset="-122"/>
                          <a:cs typeface="Calibri" pitchFamily="34" charset="-120"/>
                        </a:rPr>
                        <a:t>Currency</a:t>
                      </a:r>
                      <a:endParaRPr lang="en-US" sz="110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0A1B36"/>
                    </a:solidFill>
                  </a:tcPr>
                </a:tc>
                <a:tc>
                  <a:txBody>
                    <a:bodyPr/>
                    <a:lstStyle/>
                    <a:p>
                      <a:pPr marL="0" indent="0" algn="l">
                        <a:buNone/>
                      </a:pPr>
                      <a:r>
                        <a:rPr lang="en-US" sz="1100" dirty="0">
                          <a:solidFill>
                            <a:srgbClr val="FFFFFF"/>
                          </a:solidFill>
                          <a:latin typeface="Calibri" pitchFamily="34" charset="0"/>
                          <a:ea typeface="Calibri" pitchFamily="34" charset="-122"/>
                          <a:cs typeface="Calibri" pitchFamily="34" charset="-120"/>
                        </a:rPr>
                        <a:t>Total revenue tracking</a:t>
                      </a:r>
                      <a:endParaRPr lang="en-US" sz="110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0A1B36"/>
                    </a:solidFill>
                  </a:tcPr>
                </a:tc>
                <a:extLst>
                  <a:ext uri="{0D108BD9-81ED-4DB2-BD59-A6C34878D82A}">
                    <a16:rowId xmlns:a16="http://schemas.microsoft.com/office/drawing/2014/main" val="10008"/>
                  </a:ext>
                </a:extLst>
              </a:tr>
            </a:tbl>
          </a:graphicData>
        </a:graphic>
      </p:graphicFrame>
      <p:sp>
        <p:nvSpPr>
          <p:cNvPr id="5" name="Text 3"/>
          <p:cNvSpPr/>
          <p:nvPr/>
        </p:nvSpPr>
        <p:spPr>
          <a:xfrm>
            <a:off x="457200" y="6510528"/>
            <a:ext cx="7772400" cy="274320"/>
          </a:xfrm>
          <a:prstGeom prst="rect">
            <a:avLst/>
          </a:prstGeom>
          <a:noFill/>
          <a:ln/>
        </p:spPr>
        <p:txBody>
          <a:bodyPr wrap="square" lIns="0" tIns="0" rIns="0" bIns="0" rtlCol="0" anchor="ctr"/>
          <a:lstStyle/>
          <a:p>
            <a:pPr marL="0" indent="0" algn="l">
              <a:buNone/>
            </a:pPr>
            <a:r>
              <a:rPr lang="en-US" sz="800" dirty="0">
                <a:solidFill>
                  <a:srgbClr val="9FB0CC"/>
                </a:solidFill>
                <a:latin typeface="Calibri" pitchFamily="34" charset="0"/>
                <a:ea typeface="Calibri" pitchFamily="34" charset="-122"/>
                <a:cs typeface="Calibri" pitchFamily="34" charset="-120"/>
              </a:rPr>
              <a:t>TATA MOTORS SALES PERFORMANCE &amp; DELIVERY TRACKING DASHBOARD</a:t>
            </a:r>
            <a:endParaRPr lang="en-US" sz="800" dirty="0"/>
          </a:p>
        </p:txBody>
      </p:sp>
      <p:sp>
        <p:nvSpPr>
          <p:cNvPr id="7" name="Text 4"/>
          <p:cNvSpPr/>
          <p:nvPr/>
        </p:nvSpPr>
        <p:spPr>
          <a:xfrm>
            <a:off x="11277295" y="6510528"/>
            <a:ext cx="457200" cy="274320"/>
          </a:xfrm>
          <a:prstGeom prst="rect">
            <a:avLst/>
          </a:prstGeom>
          <a:noFill/>
          <a:ln/>
        </p:spPr>
        <p:txBody>
          <a:bodyPr wrap="square" lIns="0" tIns="0" rIns="0" bIns="0" rtlCol="0" anchor="ctr"/>
          <a:lstStyle/>
          <a:p>
            <a:pPr marL="0" indent="0" algn="r">
              <a:buNone/>
            </a:pPr>
            <a:r>
              <a:rPr lang="en-US" sz="800" dirty="0">
                <a:solidFill>
                  <a:srgbClr val="9FB0CC"/>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B36"/>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502920"/>
          </a:xfrm>
          <a:prstGeom prst="rect">
            <a:avLst/>
          </a:prstGeom>
          <a:ln/>
        </p:spPr>
        <p:style>
          <a:lnRef idx="1">
            <a:schemeClr val="accent2"/>
          </a:lnRef>
          <a:fillRef idx="3">
            <a:schemeClr val="accent2"/>
          </a:fillRef>
          <a:effectRef idx="2">
            <a:schemeClr val="accent2"/>
          </a:effectRef>
          <a:fontRef idx="minor">
            <a:schemeClr val="lt1"/>
          </a:fontRef>
        </p:style>
        <p:txBody>
          <a:bodyPr wrap="square" lIns="0" tIns="0" rIns="0" bIns="0" rtlCol="0" anchor="ctr"/>
          <a:lstStyle/>
          <a:p>
            <a:pPr marL="0" indent="0" algn="l">
              <a:buNone/>
            </a:pPr>
            <a:r>
              <a:rPr lang="en-US" sz="2600" b="1" kern="0" spc="50" dirty="0">
                <a:solidFill>
                  <a:srgbClr val="FFFFFF"/>
                </a:solidFill>
                <a:latin typeface="Cambria" pitchFamily="34" charset="0"/>
                <a:ea typeface="Cambria" pitchFamily="34" charset="-122"/>
                <a:cs typeface="Cambria" pitchFamily="34" charset="-120"/>
              </a:rPr>
              <a:t>DATA PREPARATION &amp; EXCEL TECHNIQUES :</a:t>
            </a:r>
            <a:endParaRPr lang="en-US" sz="2600" dirty="0"/>
          </a:p>
        </p:txBody>
      </p:sp>
      <p:sp>
        <p:nvSpPr>
          <p:cNvPr id="3" name="Text 1"/>
          <p:cNvSpPr/>
          <p:nvPr/>
        </p:nvSpPr>
        <p:spPr>
          <a:xfrm>
            <a:off x="502920" y="804672"/>
            <a:ext cx="11155680" cy="292608"/>
          </a:xfrm>
          <a:prstGeom prst="rect">
            <a:avLst/>
          </a:prstGeom>
          <a:noFill/>
          <a:ln/>
        </p:spPr>
        <p:txBody>
          <a:bodyPr wrap="square" lIns="0" tIns="0" rIns="0" bIns="0" rtlCol="0" anchor="ctr"/>
          <a:lstStyle/>
          <a:p>
            <a:pPr marL="0" indent="0" algn="l">
              <a:buNone/>
            </a:pPr>
            <a:r>
              <a:rPr lang="en-US" sz="1250" i="1" dirty="0">
                <a:solidFill>
                  <a:srgbClr val="9FB0CC"/>
                </a:solidFill>
                <a:latin typeface="Calibri" pitchFamily="34" charset="0"/>
                <a:ea typeface="Calibri" pitchFamily="34" charset="-122"/>
                <a:cs typeface="Calibri" pitchFamily="34" charset="-120"/>
              </a:rPr>
              <a:t>Ensuring accuracy in the pivot engine and final dashboard</a:t>
            </a:r>
            <a:endParaRPr lang="en-US" sz="1250" dirty="0"/>
          </a:p>
        </p:txBody>
      </p:sp>
      <p:sp>
        <p:nvSpPr>
          <p:cNvPr id="4" name="Shape 2"/>
          <p:cNvSpPr/>
          <p:nvPr/>
        </p:nvSpPr>
        <p:spPr>
          <a:xfrm>
            <a:off x="502920" y="1170432"/>
            <a:ext cx="11155680" cy="16459"/>
          </a:xfrm>
          <a:prstGeom prst="rect">
            <a:avLst/>
          </a:prstGeom>
          <a:solidFill>
            <a:srgbClr val="24406F"/>
          </a:solidFill>
          <a:ln/>
        </p:spPr>
        <p:txBody>
          <a:bodyPr/>
          <a:lstStyle/>
          <a:p>
            <a:endParaRPr lang="en-IN"/>
          </a:p>
        </p:txBody>
      </p:sp>
      <p:sp>
        <p:nvSpPr>
          <p:cNvPr id="5" name="Text 3"/>
          <p:cNvSpPr/>
          <p:nvPr/>
        </p:nvSpPr>
        <p:spPr>
          <a:xfrm>
            <a:off x="502920" y="1417320"/>
            <a:ext cx="5394960" cy="320040"/>
          </a:xfrm>
          <a:prstGeom prst="rect">
            <a:avLst/>
          </a:prstGeom>
          <a:noFill/>
          <a:ln/>
        </p:spPr>
        <p:txBody>
          <a:bodyPr wrap="square" lIns="0" tIns="0" rIns="0" bIns="0" rtlCol="0" anchor="ctr"/>
          <a:lstStyle/>
          <a:p>
            <a:pPr marL="0" indent="0">
              <a:buNone/>
            </a:pPr>
            <a:r>
              <a:rPr lang="en-US" sz="1300" b="1" dirty="0">
                <a:solidFill>
                  <a:srgbClr val="2EC4B6"/>
                </a:solidFill>
                <a:latin typeface="Calibri" pitchFamily="34" charset="0"/>
                <a:ea typeface="Calibri" pitchFamily="34" charset="-122"/>
                <a:cs typeface="Calibri" pitchFamily="34" charset="-120"/>
              </a:rPr>
              <a:t>DATA CLEANING &amp; PREPARATION</a:t>
            </a:r>
            <a:endParaRPr lang="en-US" sz="1300" dirty="0"/>
          </a:p>
        </p:txBody>
      </p:sp>
      <p:sp>
        <p:nvSpPr>
          <p:cNvPr id="6" name="Shape 4"/>
          <p:cNvSpPr/>
          <p:nvPr/>
        </p:nvSpPr>
        <p:spPr>
          <a:xfrm>
            <a:off x="502920" y="1828800"/>
            <a:ext cx="5394960" cy="1170432"/>
          </a:xfrm>
          <a:prstGeom prst="roundRect">
            <a:avLst>
              <a:gd name="adj" fmla="val 5469"/>
            </a:avLst>
          </a:prstGeom>
          <a:solidFill>
            <a:srgbClr val="132A52"/>
          </a:solidFill>
          <a:ln/>
        </p:spPr>
        <p:txBody>
          <a:bodyPr/>
          <a:lstStyle/>
          <a:p>
            <a:endParaRPr lang="en-IN"/>
          </a:p>
        </p:txBody>
      </p:sp>
      <p:sp>
        <p:nvSpPr>
          <p:cNvPr id="7" name="Shape 5"/>
          <p:cNvSpPr/>
          <p:nvPr/>
        </p:nvSpPr>
        <p:spPr>
          <a:xfrm>
            <a:off x="713232" y="2048256"/>
            <a:ext cx="530352" cy="530352"/>
          </a:xfrm>
          <a:prstGeom prst="ellipse">
            <a:avLst/>
          </a:prstGeom>
          <a:solidFill>
            <a:srgbClr val="2E75D6"/>
          </a:solidFill>
          <a:ln/>
          <a:effectLst>
            <a:outerShdw blurRad="76200" dist="25400" dir="5400000" algn="bl" rotWithShape="0">
              <a:srgbClr val="000000">
                <a:alpha val="35000"/>
              </a:srgbClr>
            </a:outerShdw>
          </a:effectLst>
        </p:spPr>
        <p:txBody>
          <a:bodyPr/>
          <a:lstStyle/>
          <a:p>
            <a:endParaRPr lang="en-IN"/>
          </a:p>
        </p:txBody>
      </p:sp>
      <p:sp>
        <p:nvSpPr>
          <p:cNvPr id="8" name="Text 6"/>
          <p:cNvSpPr/>
          <p:nvPr/>
        </p:nvSpPr>
        <p:spPr>
          <a:xfrm>
            <a:off x="713232" y="2048256"/>
            <a:ext cx="530352" cy="530352"/>
          </a:xfrm>
          <a:prstGeom prst="rect">
            <a:avLst/>
          </a:prstGeom>
          <a:noFill/>
          <a:ln/>
        </p:spPr>
        <p:txBody>
          <a:bodyPr wrap="square" lIns="0" tIns="0" rIns="0" bIns="0" rtlCol="0" anchor="ctr"/>
          <a:lstStyle/>
          <a:p>
            <a:pPr marL="0" indent="0" algn="ctr">
              <a:buNone/>
            </a:pPr>
            <a:r>
              <a:rPr lang="en-US" sz="1508" b="1" dirty="0">
                <a:solidFill>
                  <a:srgbClr val="FFFFFF"/>
                </a:solidFill>
                <a:latin typeface="Calibri" pitchFamily="34" charset="0"/>
                <a:ea typeface="Calibri" pitchFamily="34" charset="-122"/>
                <a:cs typeface="Calibri" pitchFamily="34" charset="-120"/>
              </a:rPr>
              <a:t>1</a:t>
            </a:r>
            <a:endParaRPr lang="en-US" sz="1508" dirty="0"/>
          </a:p>
        </p:txBody>
      </p:sp>
      <p:sp>
        <p:nvSpPr>
          <p:cNvPr id="9" name="Text 7"/>
          <p:cNvSpPr/>
          <p:nvPr/>
        </p:nvSpPr>
        <p:spPr>
          <a:xfrm>
            <a:off x="1417320" y="1938528"/>
            <a:ext cx="434340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Handling Nulls</a:t>
            </a:r>
            <a:endParaRPr lang="en-US" sz="1300" dirty="0"/>
          </a:p>
        </p:txBody>
      </p:sp>
      <p:sp>
        <p:nvSpPr>
          <p:cNvPr id="10" name="Text 8"/>
          <p:cNvSpPr/>
          <p:nvPr/>
        </p:nvSpPr>
        <p:spPr>
          <a:xfrm>
            <a:off x="1417320" y="2267712"/>
            <a:ext cx="4343400" cy="685800"/>
          </a:xfrm>
          <a:prstGeom prst="rect">
            <a:avLst/>
          </a:prstGeom>
          <a:noFill/>
          <a:ln/>
        </p:spPr>
        <p:txBody>
          <a:bodyPr wrap="square" lIns="0" tIns="0" rIns="0" bIns="0" rtlCol="0" anchor="ctr"/>
          <a:lstStyle/>
          <a:p>
            <a:pPr marL="0" indent="0">
              <a:buNone/>
            </a:pPr>
            <a:r>
              <a:rPr lang="en-US" sz="1080" dirty="0">
                <a:solidFill>
                  <a:srgbClr val="9FB0CC"/>
                </a:solidFill>
                <a:latin typeface="Calibri" pitchFamily="34" charset="0"/>
                <a:ea typeface="Calibri" pitchFamily="34" charset="-122"/>
                <a:cs typeface="Calibri" pitchFamily="34" charset="-120"/>
              </a:rPr>
              <a:t>Identified and bypassed blank columns generated during raw data export.</a:t>
            </a:r>
            <a:endParaRPr lang="en-US" sz="1080" dirty="0"/>
          </a:p>
        </p:txBody>
      </p:sp>
      <p:sp>
        <p:nvSpPr>
          <p:cNvPr id="11" name="Shape 9"/>
          <p:cNvSpPr/>
          <p:nvPr/>
        </p:nvSpPr>
        <p:spPr>
          <a:xfrm>
            <a:off x="502920" y="3154680"/>
            <a:ext cx="5394960" cy="1170432"/>
          </a:xfrm>
          <a:prstGeom prst="roundRect">
            <a:avLst>
              <a:gd name="adj" fmla="val 5469"/>
            </a:avLst>
          </a:prstGeom>
          <a:solidFill>
            <a:srgbClr val="132A52"/>
          </a:solidFill>
          <a:ln/>
        </p:spPr>
        <p:txBody>
          <a:bodyPr/>
          <a:lstStyle/>
          <a:p>
            <a:endParaRPr lang="en-IN"/>
          </a:p>
        </p:txBody>
      </p:sp>
      <p:sp>
        <p:nvSpPr>
          <p:cNvPr id="12" name="Shape 10"/>
          <p:cNvSpPr/>
          <p:nvPr/>
        </p:nvSpPr>
        <p:spPr>
          <a:xfrm>
            <a:off x="713232" y="3374136"/>
            <a:ext cx="530352" cy="530352"/>
          </a:xfrm>
          <a:prstGeom prst="ellipse">
            <a:avLst/>
          </a:prstGeom>
          <a:solidFill>
            <a:srgbClr val="2E75D6"/>
          </a:solidFill>
          <a:ln/>
          <a:effectLst>
            <a:outerShdw blurRad="76200" dist="25400" dir="5400000" algn="bl" rotWithShape="0">
              <a:srgbClr val="000000">
                <a:alpha val="35000"/>
              </a:srgbClr>
            </a:outerShdw>
          </a:effectLst>
        </p:spPr>
        <p:txBody>
          <a:bodyPr/>
          <a:lstStyle/>
          <a:p>
            <a:endParaRPr lang="en-IN"/>
          </a:p>
        </p:txBody>
      </p:sp>
      <p:sp>
        <p:nvSpPr>
          <p:cNvPr id="13" name="Text 11"/>
          <p:cNvSpPr/>
          <p:nvPr/>
        </p:nvSpPr>
        <p:spPr>
          <a:xfrm>
            <a:off x="713232" y="3374136"/>
            <a:ext cx="530352" cy="530352"/>
          </a:xfrm>
          <a:prstGeom prst="rect">
            <a:avLst/>
          </a:prstGeom>
          <a:noFill/>
          <a:ln/>
        </p:spPr>
        <p:txBody>
          <a:bodyPr wrap="square" lIns="0" tIns="0" rIns="0" bIns="0" rtlCol="0" anchor="ctr"/>
          <a:lstStyle/>
          <a:p>
            <a:pPr marL="0" indent="0" algn="ctr">
              <a:buNone/>
            </a:pPr>
            <a:r>
              <a:rPr lang="en-US" sz="1508" b="1" dirty="0">
                <a:solidFill>
                  <a:srgbClr val="FFFFFF"/>
                </a:solidFill>
                <a:latin typeface="Calibri" pitchFamily="34" charset="0"/>
                <a:ea typeface="Calibri" pitchFamily="34" charset="-122"/>
                <a:cs typeface="Calibri" pitchFamily="34" charset="-120"/>
              </a:rPr>
              <a:t>2</a:t>
            </a:r>
            <a:endParaRPr lang="en-US" sz="1508" dirty="0"/>
          </a:p>
        </p:txBody>
      </p:sp>
      <p:sp>
        <p:nvSpPr>
          <p:cNvPr id="14" name="Text 12"/>
          <p:cNvSpPr/>
          <p:nvPr/>
        </p:nvSpPr>
        <p:spPr>
          <a:xfrm>
            <a:off x="1417320" y="3264408"/>
            <a:ext cx="434340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Standardization</a:t>
            </a:r>
            <a:endParaRPr lang="en-US" sz="1300" dirty="0"/>
          </a:p>
        </p:txBody>
      </p:sp>
      <p:sp>
        <p:nvSpPr>
          <p:cNvPr id="15" name="Text 13"/>
          <p:cNvSpPr/>
          <p:nvPr/>
        </p:nvSpPr>
        <p:spPr>
          <a:xfrm>
            <a:off x="1417320" y="3593592"/>
            <a:ext cx="4343400" cy="685800"/>
          </a:xfrm>
          <a:prstGeom prst="rect">
            <a:avLst/>
          </a:prstGeom>
          <a:noFill/>
          <a:ln/>
        </p:spPr>
        <p:txBody>
          <a:bodyPr wrap="square" lIns="0" tIns="0" rIns="0" bIns="0" rtlCol="0" anchor="ctr"/>
          <a:lstStyle/>
          <a:p>
            <a:pPr marL="0" indent="0">
              <a:buNone/>
            </a:pPr>
            <a:r>
              <a:rPr lang="en-US" sz="1080" dirty="0">
                <a:solidFill>
                  <a:srgbClr val="9FB0CC"/>
                </a:solidFill>
                <a:latin typeface="Calibri" pitchFamily="34" charset="0"/>
                <a:ea typeface="Calibri" pitchFamily="34" charset="-122"/>
                <a:cs typeface="Calibri" pitchFamily="34" charset="-120"/>
              </a:rPr>
              <a:t>Validated Delivery Status entries — 35 Delivered, 8 Pending, 7 In Transit.</a:t>
            </a:r>
            <a:endParaRPr lang="en-US" sz="1080" dirty="0"/>
          </a:p>
        </p:txBody>
      </p:sp>
      <p:sp>
        <p:nvSpPr>
          <p:cNvPr id="16" name="Shape 14"/>
          <p:cNvSpPr/>
          <p:nvPr/>
        </p:nvSpPr>
        <p:spPr>
          <a:xfrm>
            <a:off x="502920" y="4480560"/>
            <a:ext cx="5394960" cy="1170432"/>
          </a:xfrm>
          <a:prstGeom prst="roundRect">
            <a:avLst>
              <a:gd name="adj" fmla="val 5469"/>
            </a:avLst>
          </a:prstGeom>
          <a:solidFill>
            <a:srgbClr val="132A52"/>
          </a:solidFill>
          <a:ln/>
        </p:spPr>
        <p:txBody>
          <a:bodyPr/>
          <a:lstStyle/>
          <a:p>
            <a:endParaRPr lang="en-IN"/>
          </a:p>
        </p:txBody>
      </p:sp>
      <p:sp>
        <p:nvSpPr>
          <p:cNvPr id="17" name="Shape 15"/>
          <p:cNvSpPr/>
          <p:nvPr/>
        </p:nvSpPr>
        <p:spPr>
          <a:xfrm>
            <a:off x="713232" y="4700016"/>
            <a:ext cx="530352" cy="530352"/>
          </a:xfrm>
          <a:prstGeom prst="ellipse">
            <a:avLst/>
          </a:prstGeom>
          <a:solidFill>
            <a:srgbClr val="2E75D6"/>
          </a:solidFill>
          <a:ln/>
          <a:effectLst>
            <a:outerShdw blurRad="76200" dist="25400" dir="5400000" algn="bl" rotWithShape="0">
              <a:srgbClr val="000000">
                <a:alpha val="35000"/>
              </a:srgbClr>
            </a:outerShdw>
          </a:effectLst>
        </p:spPr>
        <p:txBody>
          <a:bodyPr/>
          <a:lstStyle/>
          <a:p>
            <a:endParaRPr lang="en-IN"/>
          </a:p>
        </p:txBody>
      </p:sp>
      <p:sp>
        <p:nvSpPr>
          <p:cNvPr id="18" name="Text 16"/>
          <p:cNvSpPr/>
          <p:nvPr/>
        </p:nvSpPr>
        <p:spPr>
          <a:xfrm>
            <a:off x="713232" y="4700016"/>
            <a:ext cx="530352" cy="530352"/>
          </a:xfrm>
          <a:prstGeom prst="rect">
            <a:avLst/>
          </a:prstGeom>
          <a:noFill/>
          <a:ln/>
        </p:spPr>
        <p:txBody>
          <a:bodyPr wrap="square" lIns="0" tIns="0" rIns="0" bIns="0" rtlCol="0" anchor="ctr"/>
          <a:lstStyle/>
          <a:p>
            <a:pPr marL="0" indent="0" algn="ctr">
              <a:buNone/>
            </a:pPr>
            <a:r>
              <a:rPr lang="en-US" sz="1508" b="1" dirty="0">
                <a:solidFill>
                  <a:srgbClr val="FFFFFF"/>
                </a:solidFill>
                <a:latin typeface="Calibri" pitchFamily="34" charset="0"/>
                <a:ea typeface="Calibri" pitchFamily="34" charset="-122"/>
                <a:cs typeface="Calibri" pitchFamily="34" charset="-120"/>
              </a:rPr>
              <a:t>3</a:t>
            </a:r>
            <a:endParaRPr lang="en-US" sz="1508" dirty="0"/>
          </a:p>
        </p:txBody>
      </p:sp>
      <p:sp>
        <p:nvSpPr>
          <p:cNvPr id="19" name="Text 17"/>
          <p:cNvSpPr/>
          <p:nvPr/>
        </p:nvSpPr>
        <p:spPr>
          <a:xfrm>
            <a:off x="1417320" y="4590288"/>
            <a:ext cx="434340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Pivot Preparation</a:t>
            </a:r>
            <a:endParaRPr lang="en-US" sz="1300" dirty="0"/>
          </a:p>
        </p:txBody>
      </p:sp>
      <p:sp>
        <p:nvSpPr>
          <p:cNvPr id="20" name="Text 18"/>
          <p:cNvSpPr/>
          <p:nvPr/>
        </p:nvSpPr>
        <p:spPr>
          <a:xfrm>
            <a:off x="1417320" y="4919472"/>
            <a:ext cx="4343400" cy="685800"/>
          </a:xfrm>
          <a:prstGeom prst="rect">
            <a:avLst/>
          </a:prstGeom>
          <a:noFill/>
          <a:ln/>
        </p:spPr>
        <p:txBody>
          <a:bodyPr wrap="square" lIns="0" tIns="0" rIns="0" bIns="0" rtlCol="0" anchor="ctr"/>
          <a:lstStyle/>
          <a:p>
            <a:pPr marL="0" indent="0">
              <a:buNone/>
            </a:pPr>
            <a:r>
              <a:rPr lang="en-US" sz="1080" dirty="0">
                <a:solidFill>
                  <a:srgbClr val="9FB0CC"/>
                </a:solidFill>
                <a:latin typeface="Calibri" pitchFamily="34" charset="0"/>
                <a:ea typeface="Calibri" pitchFamily="34" charset="-122"/>
                <a:cs typeface="Calibri" pitchFamily="34" charset="-120"/>
              </a:rPr>
              <a:t>Built dedicated calc sheets (city_wise_analysis, Delivered pivot, Sale_analysis).</a:t>
            </a:r>
            <a:endParaRPr lang="en-US" sz="1080" dirty="0"/>
          </a:p>
        </p:txBody>
      </p:sp>
      <p:sp>
        <p:nvSpPr>
          <p:cNvPr id="21" name="Text 19"/>
          <p:cNvSpPr/>
          <p:nvPr/>
        </p:nvSpPr>
        <p:spPr>
          <a:xfrm>
            <a:off x="6263640" y="1417320"/>
            <a:ext cx="5394960" cy="320040"/>
          </a:xfrm>
          <a:prstGeom prst="rect">
            <a:avLst/>
          </a:prstGeom>
          <a:noFill/>
          <a:ln/>
        </p:spPr>
        <p:txBody>
          <a:bodyPr wrap="square" lIns="0" tIns="0" rIns="0" bIns="0" rtlCol="0" anchor="ctr"/>
          <a:lstStyle/>
          <a:p>
            <a:pPr marL="0" indent="0">
              <a:buNone/>
            </a:pPr>
            <a:r>
              <a:rPr lang="en-US" sz="1300" b="1" dirty="0">
                <a:solidFill>
                  <a:srgbClr val="F2994A"/>
                </a:solidFill>
                <a:latin typeface="Calibri" pitchFamily="34" charset="0"/>
                <a:ea typeface="Calibri" pitchFamily="34" charset="-122"/>
                <a:cs typeface="Calibri" pitchFamily="34" charset="-120"/>
              </a:rPr>
              <a:t>EXCEL FUNCTIONS &amp; TECHNIQUES USED</a:t>
            </a:r>
            <a:endParaRPr lang="en-US" sz="13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263640" y="1828800"/>
          <a:ext cx="5394960" cy="4114800"/>
        </p:xfrm>
        <a:graphic>
          <a:graphicData uri="http://schemas.openxmlformats.org/drawingml/2006/table">
            <a:tbl>
              <a:tblPr/>
              <a:tblGrid>
                <a:gridCol w="182880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tblGrid>
              <a:tr h="82296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Technique</a:t>
                      </a:r>
                      <a:endParaRPr lang="en-US" sz="110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F2994A"/>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Purpose</a:t>
                      </a:r>
                      <a:endParaRPr lang="en-US" sz="110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F2994A"/>
                    </a:solidFill>
                  </a:tcPr>
                </a:tc>
                <a:extLst>
                  <a:ext uri="{0D108BD9-81ED-4DB2-BD59-A6C34878D82A}">
                    <a16:rowId xmlns:a16="http://schemas.microsoft.com/office/drawing/2014/main" val="10000"/>
                  </a:ext>
                </a:extLst>
              </a:tr>
              <a:tr h="822960">
                <a:tc>
                  <a:txBody>
                    <a:bodyPr/>
                    <a:lstStyle/>
                    <a:p>
                      <a:pPr marL="0" indent="0" algn="l">
                        <a:buNone/>
                      </a:pPr>
                      <a:r>
                        <a:rPr lang="en-US" sz="1080" dirty="0">
                          <a:solidFill>
                            <a:srgbClr val="FFFFFF"/>
                          </a:solidFill>
                          <a:latin typeface="Calibri" pitchFamily="34" charset="0"/>
                          <a:ea typeface="Calibri" pitchFamily="34" charset="-122"/>
                          <a:cs typeface="Calibri" pitchFamily="34" charset="-120"/>
                        </a:rPr>
                        <a:t>Pivot Tables</a:t>
                      </a:r>
                      <a:endParaRPr lang="en-US" sz="108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132A52"/>
                    </a:solidFill>
                  </a:tcPr>
                </a:tc>
                <a:tc>
                  <a:txBody>
                    <a:bodyPr/>
                    <a:lstStyle/>
                    <a:p>
                      <a:pPr marL="0" indent="0" algn="l">
                        <a:buNone/>
                      </a:pPr>
                      <a:r>
                        <a:rPr lang="en-US" sz="1080" dirty="0">
                          <a:solidFill>
                            <a:srgbClr val="FFFFFF"/>
                          </a:solidFill>
                          <a:latin typeface="Calibri" pitchFamily="34" charset="0"/>
                          <a:ea typeface="Calibri" pitchFamily="34" charset="-122"/>
                          <a:cs typeface="Calibri" pitchFamily="34" charset="-120"/>
                        </a:rPr>
                        <a:t>Aggregated city-wise, model-wise &amp; delivery-status summaries</a:t>
                      </a:r>
                      <a:endParaRPr lang="en-US" sz="108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132A52"/>
                    </a:solidFill>
                  </a:tcPr>
                </a:tc>
                <a:extLst>
                  <a:ext uri="{0D108BD9-81ED-4DB2-BD59-A6C34878D82A}">
                    <a16:rowId xmlns:a16="http://schemas.microsoft.com/office/drawing/2014/main" val="10001"/>
                  </a:ext>
                </a:extLst>
              </a:tr>
              <a:tr h="822960">
                <a:tc>
                  <a:txBody>
                    <a:bodyPr/>
                    <a:lstStyle/>
                    <a:p>
                      <a:pPr marL="0" indent="0" algn="l">
                        <a:buNone/>
                      </a:pPr>
                      <a:r>
                        <a:rPr lang="en-US" sz="1080" dirty="0">
                          <a:solidFill>
                            <a:srgbClr val="FFFFFF"/>
                          </a:solidFill>
                          <a:latin typeface="Calibri" pitchFamily="34" charset="0"/>
                          <a:ea typeface="Calibri" pitchFamily="34" charset="-122"/>
                          <a:cs typeface="Calibri" pitchFamily="34" charset="-120"/>
                        </a:rPr>
                        <a:t>Pivot Charts</a:t>
                      </a:r>
                      <a:endParaRPr lang="en-US" sz="108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0A1B36"/>
                    </a:solidFill>
                  </a:tcPr>
                </a:tc>
                <a:tc>
                  <a:txBody>
                    <a:bodyPr/>
                    <a:lstStyle/>
                    <a:p>
                      <a:pPr marL="0" indent="0" algn="l">
                        <a:buNone/>
                      </a:pPr>
                      <a:r>
                        <a:rPr lang="en-US" sz="1080" dirty="0">
                          <a:solidFill>
                            <a:srgbClr val="FFFFFF"/>
                          </a:solidFill>
                          <a:latin typeface="Calibri" pitchFamily="34" charset="0"/>
                          <a:ea typeface="Calibri" pitchFamily="34" charset="-122"/>
                          <a:cs typeface="Calibri" pitchFamily="34" charset="-120"/>
                        </a:rPr>
                        <a:t>Generated dynamic charts for the dashboard</a:t>
                      </a:r>
                      <a:endParaRPr lang="en-US" sz="108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0A1B36"/>
                    </a:solidFill>
                  </a:tcPr>
                </a:tc>
                <a:extLst>
                  <a:ext uri="{0D108BD9-81ED-4DB2-BD59-A6C34878D82A}">
                    <a16:rowId xmlns:a16="http://schemas.microsoft.com/office/drawing/2014/main" val="10002"/>
                  </a:ext>
                </a:extLst>
              </a:tr>
              <a:tr h="822960">
                <a:tc>
                  <a:txBody>
                    <a:bodyPr/>
                    <a:lstStyle/>
                    <a:p>
                      <a:pPr marL="0" indent="0" algn="l">
                        <a:buNone/>
                      </a:pPr>
                      <a:r>
                        <a:rPr lang="en-US" sz="1080" dirty="0">
                          <a:solidFill>
                            <a:srgbClr val="FFFFFF"/>
                          </a:solidFill>
                          <a:latin typeface="Calibri" pitchFamily="34" charset="0"/>
                          <a:ea typeface="Calibri" pitchFamily="34" charset="-122"/>
                          <a:cs typeface="Calibri" pitchFamily="34" charset="-120"/>
                        </a:rPr>
                        <a:t>Data Validation</a:t>
                      </a:r>
                      <a:endParaRPr lang="en-US" sz="108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132A52"/>
                    </a:solidFill>
                  </a:tcPr>
                </a:tc>
                <a:tc>
                  <a:txBody>
                    <a:bodyPr/>
                    <a:lstStyle/>
                    <a:p>
                      <a:pPr marL="0" indent="0" algn="l">
                        <a:buNone/>
                      </a:pPr>
                      <a:r>
                        <a:rPr lang="en-US" sz="1080" dirty="0">
                          <a:solidFill>
                            <a:srgbClr val="FFFFFF"/>
                          </a:solidFill>
                          <a:latin typeface="Calibri" pitchFamily="34" charset="0"/>
                          <a:ea typeface="Calibri" pitchFamily="34" charset="-122"/>
                          <a:cs typeface="Calibri" pitchFamily="34" charset="-120"/>
                        </a:rPr>
                        <a:t>Ensured uniform entries in categorical columns</a:t>
                      </a:r>
                      <a:endParaRPr lang="en-US" sz="108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132A52"/>
                    </a:solidFill>
                  </a:tcPr>
                </a:tc>
                <a:extLst>
                  <a:ext uri="{0D108BD9-81ED-4DB2-BD59-A6C34878D82A}">
                    <a16:rowId xmlns:a16="http://schemas.microsoft.com/office/drawing/2014/main" val="10003"/>
                  </a:ext>
                </a:extLst>
              </a:tr>
              <a:tr h="822960">
                <a:tc>
                  <a:txBody>
                    <a:bodyPr/>
                    <a:lstStyle/>
                    <a:p>
                      <a:pPr marL="0" indent="0" algn="l">
                        <a:buNone/>
                      </a:pPr>
                      <a:r>
                        <a:rPr lang="en-US" sz="1080" dirty="0">
                          <a:solidFill>
                            <a:srgbClr val="FFFFFF"/>
                          </a:solidFill>
                          <a:latin typeface="Calibri" pitchFamily="34" charset="0"/>
                          <a:ea typeface="Calibri" pitchFamily="34" charset="-122"/>
                          <a:cs typeface="Calibri" pitchFamily="34" charset="-120"/>
                        </a:rPr>
                        <a:t>Calculated Sheets</a:t>
                      </a:r>
                      <a:endParaRPr lang="en-US" sz="108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0A1B36"/>
                    </a:solidFill>
                  </a:tcPr>
                </a:tc>
                <a:tc>
                  <a:txBody>
                    <a:bodyPr/>
                    <a:lstStyle/>
                    <a:p>
                      <a:pPr marL="0" indent="0" algn="l">
                        <a:buNone/>
                      </a:pPr>
                      <a:r>
                        <a:rPr lang="en-US" sz="1080" dirty="0">
                          <a:solidFill>
                            <a:srgbClr val="FFFFFF"/>
                          </a:solidFill>
                          <a:latin typeface="Calibri" pitchFamily="34" charset="0"/>
                          <a:ea typeface="Calibri" pitchFamily="34" charset="-122"/>
                          <a:cs typeface="Calibri" pitchFamily="34" charset="-120"/>
                        </a:rPr>
                        <a:t>Isolated raw data from calculations to protect integrity</a:t>
                      </a:r>
                      <a:endParaRPr lang="en-US" sz="1080" dirty="0">
                        <a:latin typeface="Calibri" charset="0"/>
                        <a:ea typeface="Calibri" charset="0"/>
                        <a:cs typeface="Calibri" charset="0"/>
                      </a:endParaRPr>
                    </a:p>
                  </a:txBody>
                  <a:tcPr anchor="ctr">
                    <a:lnL w="6350" cap="flat" cmpd="sng" algn="ctr">
                      <a:solidFill>
                        <a:srgbClr val="24406F"/>
                      </a:solidFill>
                      <a:prstDash val="solid"/>
                      <a:round/>
                      <a:headEnd type="none" w="med" len="med"/>
                      <a:tailEnd type="none" w="med" len="med"/>
                    </a:lnL>
                    <a:lnR w="6350" cap="flat" cmpd="sng" algn="ctr">
                      <a:solidFill>
                        <a:srgbClr val="24406F"/>
                      </a:solidFill>
                      <a:prstDash val="solid"/>
                      <a:round/>
                      <a:headEnd type="none" w="med" len="med"/>
                      <a:tailEnd type="none" w="med" len="med"/>
                    </a:lnR>
                    <a:lnT w="6350" cap="flat" cmpd="sng" algn="ctr">
                      <a:solidFill>
                        <a:srgbClr val="24406F"/>
                      </a:solidFill>
                      <a:prstDash val="solid"/>
                      <a:round/>
                      <a:headEnd type="none" w="med" len="med"/>
                      <a:tailEnd type="none" w="med" len="med"/>
                    </a:lnT>
                    <a:lnB w="6350" cap="flat" cmpd="sng" algn="ctr">
                      <a:solidFill>
                        <a:srgbClr val="24406F"/>
                      </a:solidFill>
                      <a:prstDash val="solid"/>
                      <a:round/>
                      <a:headEnd type="none" w="med" len="med"/>
                      <a:tailEnd type="none" w="med" len="med"/>
                    </a:lnB>
                    <a:solidFill>
                      <a:srgbClr val="0A1B36"/>
                    </a:solidFill>
                  </a:tcPr>
                </a:tc>
                <a:extLst>
                  <a:ext uri="{0D108BD9-81ED-4DB2-BD59-A6C34878D82A}">
                    <a16:rowId xmlns:a16="http://schemas.microsoft.com/office/drawing/2014/main" val="10004"/>
                  </a:ext>
                </a:extLst>
              </a:tr>
            </a:tbl>
          </a:graphicData>
        </a:graphic>
      </p:graphicFrame>
      <p:sp>
        <p:nvSpPr>
          <p:cNvPr id="23" name="Text 20"/>
          <p:cNvSpPr/>
          <p:nvPr/>
        </p:nvSpPr>
        <p:spPr>
          <a:xfrm>
            <a:off x="457200" y="6510528"/>
            <a:ext cx="7772400" cy="274320"/>
          </a:xfrm>
          <a:prstGeom prst="rect">
            <a:avLst/>
          </a:prstGeom>
          <a:noFill/>
          <a:ln/>
        </p:spPr>
        <p:txBody>
          <a:bodyPr wrap="square" lIns="0" tIns="0" rIns="0" bIns="0" rtlCol="0" anchor="ctr"/>
          <a:lstStyle/>
          <a:p>
            <a:pPr marL="0" indent="0" algn="l">
              <a:buNone/>
            </a:pPr>
            <a:r>
              <a:rPr lang="en-US" sz="800" dirty="0">
                <a:solidFill>
                  <a:srgbClr val="9FB0CC"/>
                </a:solidFill>
                <a:latin typeface="Calibri" pitchFamily="34" charset="0"/>
                <a:ea typeface="Calibri" pitchFamily="34" charset="-122"/>
                <a:cs typeface="Calibri" pitchFamily="34" charset="-120"/>
              </a:rPr>
              <a:t>TATA MOTORS SALES PERFORMANCE &amp; DELIVERY TRACKING DASHBOARD</a:t>
            </a:r>
            <a:endParaRPr lang="en-US" sz="800" dirty="0"/>
          </a:p>
        </p:txBody>
      </p:sp>
      <p:sp>
        <p:nvSpPr>
          <p:cNvPr id="24" name="Text 21"/>
          <p:cNvSpPr/>
          <p:nvPr/>
        </p:nvSpPr>
        <p:spPr>
          <a:xfrm>
            <a:off x="11277295" y="6510528"/>
            <a:ext cx="457200" cy="274320"/>
          </a:xfrm>
          <a:prstGeom prst="rect">
            <a:avLst/>
          </a:prstGeom>
          <a:noFill/>
          <a:ln/>
        </p:spPr>
        <p:txBody>
          <a:bodyPr wrap="square" lIns="0" tIns="0" rIns="0" bIns="0" rtlCol="0" anchor="ctr"/>
          <a:lstStyle/>
          <a:p>
            <a:pPr marL="0" indent="0" algn="r">
              <a:buNone/>
            </a:pPr>
            <a:r>
              <a:rPr lang="en-US" sz="800" dirty="0">
                <a:solidFill>
                  <a:srgbClr val="9FB0CC"/>
                </a:solidFill>
                <a:latin typeface="Calibri" pitchFamily="34" charset="0"/>
                <a:ea typeface="Calibri" pitchFamily="34" charset="-122"/>
                <a:cs typeface="Calibri"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B36"/>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marL="0" indent="0">
              <a:buNone/>
            </a:pPr>
            <a:r>
              <a:rPr lang="en-US" sz="1200" b="1" kern="0" spc="100" dirty="0">
                <a:solidFill>
                  <a:srgbClr val="2EC4B6"/>
                </a:solidFill>
                <a:latin typeface="Calibri" pitchFamily="34" charset="0"/>
                <a:ea typeface="Calibri" pitchFamily="34" charset="-122"/>
                <a:cs typeface="Calibri" pitchFamily="34" charset="-120"/>
              </a:rPr>
              <a:t>DASHBOARD OVERVIEW</a:t>
            </a:r>
            <a:endParaRPr lang="en-US" sz="1200" dirty="0"/>
          </a:p>
        </p:txBody>
      </p:sp>
      <p:sp>
        <p:nvSpPr>
          <p:cNvPr id="3" name="Text 1"/>
          <p:cNvSpPr/>
          <p:nvPr/>
        </p:nvSpPr>
        <p:spPr>
          <a:xfrm>
            <a:off x="502920" y="576072"/>
            <a:ext cx="11155680" cy="502920"/>
          </a:xfrm>
          <a:prstGeom prst="rect">
            <a:avLst/>
          </a:prstGeom>
          <a:ln/>
        </p:spPr>
        <p:style>
          <a:lnRef idx="0">
            <a:schemeClr val="accent2"/>
          </a:lnRef>
          <a:fillRef idx="3">
            <a:schemeClr val="accent2"/>
          </a:fillRef>
          <a:effectRef idx="3">
            <a:schemeClr val="accent2"/>
          </a:effectRef>
          <a:fontRef idx="minor">
            <a:schemeClr val="lt1"/>
          </a:fontRef>
        </p:style>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Main KPI Tracker &amp; Delivery Breakdown : </a:t>
            </a:r>
            <a:endParaRPr lang="en-US" sz="2400" dirty="0"/>
          </a:p>
        </p:txBody>
      </p:sp>
      <p:sp>
        <p:nvSpPr>
          <p:cNvPr id="4" name="Shape 2"/>
          <p:cNvSpPr/>
          <p:nvPr/>
        </p:nvSpPr>
        <p:spPr>
          <a:xfrm>
            <a:off x="429768" y="1709928"/>
            <a:ext cx="11301984" cy="4240898"/>
          </a:xfrm>
          <a:prstGeom prst="roundRect">
            <a:avLst>
              <a:gd name="adj" fmla="val 1078"/>
            </a:avLst>
          </a:prstGeom>
          <a:solidFill>
            <a:srgbClr val="132A52"/>
          </a:solidFill>
          <a:ln w="12700">
            <a:solidFill>
              <a:srgbClr val="24406F"/>
            </a:solidFill>
            <a:prstDash val="solid"/>
          </a:ln>
          <a:effectLst>
            <a:outerShdw blurRad="127000" dist="38100" dir="5400000" algn="bl" rotWithShape="0">
              <a:srgbClr val="000000">
                <a:alpha val="40000"/>
              </a:srgbClr>
            </a:outerShdw>
          </a:effectLst>
        </p:spPr>
        <p:txBody>
          <a:bodyPr/>
          <a:lstStyle/>
          <a:p>
            <a:endParaRPr lang="en-IN"/>
          </a:p>
        </p:txBody>
      </p:sp>
      <p:pic>
        <p:nvPicPr>
          <p:cNvPr id="5" name="Image 0" descr="/mnt/user-data/uploads/dashboard-overview.png"/>
          <p:cNvPicPr>
            <a:picLocks noChangeAspect="1"/>
          </p:cNvPicPr>
          <p:nvPr/>
        </p:nvPicPr>
        <p:blipFill>
          <a:blip r:embed="rId3"/>
          <a:stretch>
            <a:fillRect/>
          </a:stretch>
        </p:blipFill>
        <p:spPr>
          <a:xfrm>
            <a:off x="502920" y="1783080"/>
            <a:ext cx="11155680" cy="4094594"/>
          </a:xfrm>
          <a:prstGeom prst="rect">
            <a:avLst/>
          </a:prstGeom>
        </p:spPr>
      </p:pic>
      <p:sp>
        <p:nvSpPr>
          <p:cNvPr id="6" name="Text 3"/>
          <p:cNvSpPr/>
          <p:nvPr/>
        </p:nvSpPr>
        <p:spPr>
          <a:xfrm>
            <a:off x="457200" y="5950826"/>
            <a:ext cx="11155680" cy="365760"/>
          </a:xfrm>
          <a:prstGeom prst="rect">
            <a:avLst/>
          </a:prstGeom>
          <a:noFill/>
          <a:ln/>
        </p:spPr>
        <p:txBody>
          <a:bodyPr wrap="square" lIns="0" tIns="0" rIns="0" bIns="0" rtlCol="0" anchor="ctr"/>
          <a:lstStyle/>
          <a:p>
            <a:pPr marL="0" indent="0" algn="ctr">
              <a:buNone/>
            </a:pPr>
            <a:r>
              <a:rPr lang="en-US" sz="1100" i="1" dirty="0">
                <a:solidFill>
                  <a:srgbClr val="9FB0CC"/>
                </a:solidFill>
                <a:latin typeface="Calibri" pitchFamily="34" charset="0"/>
                <a:ea typeface="Calibri" pitchFamily="34" charset="-122"/>
                <a:cs typeface="Calibri" pitchFamily="34" charset="-120"/>
              </a:rPr>
              <a:t>Figure 1 — TATA Sales Revenue Dashboard: model selector, units sold, revenue, P&amp;L, and delivery breakdown</a:t>
            </a:r>
            <a:endParaRPr lang="en-US" sz="1100" dirty="0"/>
          </a:p>
        </p:txBody>
      </p:sp>
      <p:sp>
        <p:nvSpPr>
          <p:cNvPr id="7" name="Text 4"/>
          <p:cNvSpPr/>
          <p:nvPr/>
        </p:nvSpPr>
        <p:spPr>
          <a:xfrm>
            <a:off x="457200" y="6510528"/>
            <a:ext cx="7772400" cy="274320"/>
          </a:xfrm>
          <a:prstGeom prst="rect">
            <a:avLst/>
          </a:prstGeom>
          <a:noFill/>
          <a:ln/>
        </p:spPr>
        <p:txBody>
          <a:bodyPr wrap="square" lIns="0" tIns="0" rIns="0" bIns="0" rtlCol="0" anchor="ctr"/>
          <a:lstStyle/>
          <a:p>
            <a:pPr marL="0" indent="0" algn="l">
              <a:buNone/>
            </a:pPr>
            <a:r>
              <a:rPr lang="en-US" sz="800" dirty="0">
                <a:solidFill>
                  <a:srgbClr val="9FB0CC"/>
                </a:solidFill>
                <a:latin typeface="Calibri" pitchFamily="34" charset="0"/>
                <a:ea typeface="Calibri" pitchFamily="34" charset="-122"/>
                <a:cs typeface="Calibri" pitchFamily="34" charset="-120"/>
              </a:rPr>
              <a:t>TATA MOTORS SALES PERFORMANCE &amp; DELIVERY TRACKING DASHBOARD</a:t>
            </a:r>
            <a:endParaRPr lang="en-US" sz="800" dirty="0"/>
          </a:p>
        </p:txBody>
      </p:sp>
      <p:sp>
        <p:nvSpPr>
          <p:cNvPr id="8" name="Text 5"/>
          <p:cNvSpPr/>
          <p:nvPr/>
        </p:nvSpPr>
        <p:spPr>
          <a:xfrm>
            <a:off x="11277295" y="6510528"/>
            <a:ext cx="457200" cy="274320"/>
          </a:xfrm>
          <a:prstGeom prst="rect">
            <a:avLst/>
          </a:prstGeom>
          <a:noFill/>
          <a:ln/>
        </p:spPr>
        <p:txBody>
          <a:bodyPr wrap="square" lIns="0" tIns="0" rIns="0" bIns="0" rtlCol="0" anchor="ctr"/>
          <a:lstStyle/>
          <a:p>
            <a:pPr marL="0" indent="0" algn="r">
              <a:buNone/>
            </a:pPr>
            <a:r>
              <a:rPr lang="en-US" sz="800" dirty="0">
                <a:solidFill>
                  <a:srgbClr val="9FB0CC"/>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B36"/>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marL="0" indent="0">
              <a:buNone/>
            </a:pPr>
            <a:r>
              <a:rPr lang="en-US" sz="1200" b="1" kern="0" spc="100" dirty="0">
                <a:solidFill>
                  <a:srgbClr val="2EC4B6"/>
                </a:solidFill>
                <a:latin typeface="Calibri" pitchFamily="34" charset="0"/>
                <a:ea typeface="Calibri" pitchFamily="34" charset="-122"/>
                <a:cs typeface="Calibri" pitchFamily="34" charset="-120"/>
              </a:rPr>
              <a:t>DASHBOARD OVERVIEW</a:t>
            </a:r>
            <a:endParaRPr lang="en-US" sz="1200" dirty="0"/>
          </a:p>
        </p:txBody>
      </p:sp>
      <p:sp>
        <p:nvSpPr>
          <p:cNvPr id="3" name="Text 1"/>
          <p:cNvSpPr/>
          <p:nvPr/>
        </p:nvSpPr>
        <p:spPr>
          <a:xfrm>
            <a:off x="502920" y="576072"/>
            <a:ext cx="11155680" cy="502920"/>
          </a:xfrm>
          <a:prstGeom prst="rect">
            <a:avLst/>
          </a:prstGeom>
          <a:ln/>
        </p:spPr>
        <p:style>
          <a:lnRef idx="1">
            <a:schemeClr val="accent2"/>
          </a:lnRef>
          <a:fillRef idx="3">
            <a:schemeClr val="accent2"/>
          </a:fillRef>
          <a:effectRef idx="2">
            <a:schemeClr val="accent2"/>
          </a:effectRef>
          <a:fontRef idx="minor">
            <a:schemeClr val="lt1"/>
          </a:fontRef>
        </p:style>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Revenue Distribution &amp; Model-Wise Delivery Status :</a:t>
            </a:r>
            <a:endParaRPr lang="en-US" sz="2400" dirty="0"/>
          </a:p>
        </p:txBody>
      </p:sp>
      <p:sp>
        <p:nvSpPr>
          <p:cNvPr id="4" name="Shape 2"/>
          <p:cNvSpPr/>
          <p:nvPr/>
        </p:nvSpPr>
        <p:spPr>
          <a:xfrm>
            <a:off x="429768" y="1560122"/>
            <a:ext cx="11301984" cy="4127446"/>
          </a:xfrm>
          <a:prstGeom prst="roundRect">
            <a:avLst>
              <a:gd name="adj" fmla="val 1108"/>
            </a:avLst>
          </a:prstGeom>
          <a:solidFill>
            <a:srgbClr val="132A52"/>
          </a:solidFill>
          <a:ln w="12700">
            <a:solidFill>
              <a:srgbClr val="24406F"/>
            </a:solidFill>
            <a:prstDash val="solid"/>
          </a:ln>
          <a:effectLst>
            <a:outerShdw blurRad="127000" dist="38100" dir="5400000" algn="bl" rotWithShape="0">
              <a:srgbClr val="000000">
                <a:alpha val="40000"/>
              </a:srgbClr>
            </a:outerShdw>
          </a:effectLst>
        </p:spPr>
        <p:txBody>
          <a:bodyPr/>
          <a:lstStyle/>
          <a:p>
            <a:endParaRPr lang="en-IN" dirty="0"/>
          </a:p>
        </p:txBody>
      </p:sp>
      <p:pic>
        <p:nvPicPr>
          <p:cNvPr id="5" name="Image 0" descr="/mnt/user-data/uploads/dashboard-charts.png"/>
          <p:cNvPicPr>
            <a:picLocks noChangeAspect="1"/>
          </p:cNvPicPr>
          <p:nvPr/>
        </p:nvPicPr>
        <p:blipFill>
          <a:blip r:embed="rId3"/>
          <a:stretch>
            <a:fillRect/>
          </a:stretch>
        </p:blipFill>
        <p:spPr>
          <a:xfrm>
            <a:off x="502920" y="1633274"/>
            <a:ext cx="11155680" cy="3981142"/>
          </a:xfrm>
          <a:prstGeom prst="rect">
            <a:avLst/>
          </a:prstGeom>
        </p:spPr>
      </p:pic>
      <p:sp>
        <p:nvSpPr>
          <p:cNvPr id="6" name="Text 3"/>
          <p:cNvSpPr/>
          <p:nvPr/>
        </p:nvSpPr>
        <p:spPr>
          <a:xfrm>
            <a:off x="502920" y="5916168"/>
            <a:ext cx="11155680" cy="365760"/>
          </a:xfrm>
          <a:prstGeom prst="rect">
            <a:avLst/>
          </a:prstGeom>
          <a:noFill/>
          <a:ln/>
        </p:spPr>
        <p:txBody>
          <a:bodyPr wrap="square" lIns="0" tIns="0" rIns="0" bIns="0" rtlCol="0" anchor="ctr"/>
          <a:lstStyle/>
          <a:p>
            <a:pPr marL="0" indent="0" algn="ctr">
              <a:buNone/>
            </a:pPr>
            <a:r>
              <a:rPr lang="en-US" sz="1100" i="1" dirty="0">
                <a:solidFill>
                  <a:srgbClr val="9FB0CC"/>
                </a:solidFill>
                <a:latin typeface="Calibri" pitchFamily="34" charset="0"/>
                <a:ea typeface="Calibri" pitchFamily="34" charset="-122"/>
                <a:cs typeface="Calibri" pitchFamily="34" charset="-120"/>
              </a:rPr>
              <a:t>Figure 2 — City-category revenue trend, model comparison by tier, delivery status by model, and product cost vs. tax</a:t>
            </a:r>
            <a:endParaRPr lang="en-US" sz="1100" dirty="0"/>
          </a:p>
        </p:txBody>
      </p:sp>
      <p:sp>
        <p:nvSpPr>
          <p:cNvPr id="7" name="Text 4"/>
          <p:cNvSpPr/>
          <p:nvPr/>
        </p:nvSpPr>
        <p:spPr>
          <a:xfrm>
            <a:off x="457200" y="6510528"/>
            <a:ext cx="7772400" cy="274320"/>
          </a:xfrm>
          <a:prstGeom prst="rect">
            <a:avLst/>
          </a:prstGeom>
          <a:noFill/>
          <a:ln/>
        </p:spPr>
        <p:txBody>
          <a:bodyPr wrap="square" lIns="0" tIns="0" rIns="0" bIns="0" rtlCol="0" anchor="ctr"/>
          <a:lstStyle/>
          <a:p>
            <a:pPr marL="0" indent="0" algn="l">
              <a:buNone/>
            </a:pPr>
            <a:r>
              <a:rPr lang="en-US" sz="800" dirty="0">
                <a:solidFill>
                  <a:srgbClr val="9FB0CC"/>
                </a:solidFill>
                <a:latin typeface="Calibri" pitchFamily="34" charset="0"/>
                <a:ea typeface="Calibri" pitchFamily="34" charset="-122"/>
                <a:cs typeface="Calibri" pitchFamily="34" charset="-120"/>
              </a:rPr>
              <a:t>TATA MOTORS SALES PERFORMANCE &amp; DELIVERY TRACKING DASHBOARD</a:t>
            </a:r>
            <a:endParaRPr lang="en-US" sz="800" dirty="0"/>
          </a:p>
        </p:txBody>
      </p:sp>
      <p:sp>
        <p:nvSpPr>
          <p:cNvPr id="8" name="Text 5"/>
          <p:cNvSpPr/>
          <p:nvPr/>
        </p:nvSpPr>
        <p:spPr>
          <a:xfrm>
            <a:off x="11277295" y="6510528"/>
            <a:ext cx="457200" cy="274320"/>
          </a:xfrm>
          <a:prstGeom prst="rect">
            <a:avLst/>
          </a:prstGeom>
          <a:noFill/>
          <a:ln/>
        </p:spPr>
        <p:txBody>
          <a:bodyPr wrap="square" lIns="0" tIns="0" rIns="0" bIns="0" rtlCol="0" anchor="ctr"/>
          <a:lstStyle/>
          <a:p>
            <a:pPr marL="0" indent="0" algn="r">
              <a:buNone/>
            </a:pPr>
            <a:r>
              <a:rPr lang="en-US" sz="800" dirty="0">
                <a:solidFill>
                  <a:srgbClr val="9FB0CC"/>
                </a:solidFill>
                <a:latin typeface="Calibri" pitchFamily="34" charset="0"/>
                <a:ea typeface="Calibri" pitchFamily="34" charset="-122"/>
                <a:cs typeface="Calibri" pitchFamily="34" charset="-120"/>
              </a:rPr>
              <a:t>8</a:t>
            </a:r>
            <a:endParaRPr lang="en-US" sz="800" dirty="0"/>
          </a:p>
        </p:txBody>
      </p:sp>
      <p:sp>
        <p:nvSpPr>
          <p:cNvPr id="9" name="Rectangle 8">
            <a:extLst>
              <a:ext uri="{FF2B5EF4-FFF2-40B4-BE49-F238E27FC236}">
                <a16:creationId xmlns:a16="http://schemas.microsoft.com/office/drawing/2014/main" id="{62D69DBD-CC8B-716F-7EC8-2C45CA326EA4}"/>
              </a:ext>
            </a:extLst>
          </p:cNvPr>
          <p:cNvSpPr/>
          <p:nvPr/>
        </p:nvSpPr>
        <p:spPr>
          <a:xfrm>
            <a:off x="9907784" y="5224726"/>
            <a:ext cx="2106662" cy="94397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r>
              <a:rPr lang="en-IN" sz="1100" dirty="0">
                <a:latin typeface="Bahnschrift SemiBold" panose="020B0502040204020203" pitchFamily="34" charset="0"/>
              </a:rPr>
              <a:t>Slicers : A clickable filter panel listing all 13 Tata car models connected to every pivot chart on the dashboard.</a:t>
            </a:r>
          </a:p>
        </p:txBody>
      </p:sp>
      <p:sp>
        <p:nvSpPr>
          <p:cNvPr id="11" name="Arrow: Curved Up 10">
            <a:extLst>
              <a:ext uri="{FF2B5EF4-FFF2-40B4-BE49-F238E27FC236}">
                <a16:creationId xmlns:a16="http://schemas.microsoft.com/office/drawing/2014/main" id="{6F78F462-0469-11A6-BA08-2B81F2F9D701}"/>
              </a:ext>
            </a:extLst>
          </p:cNvPr>
          <p:cNvSpPr/>
          <p:nvPr/>
        </p:nvSpPr>
        <p:spPr>
          <a:xfrm rot="15091427">
            <a:off x="10785507" y="4045289"/>
            <a:ext cx="1801949" cy="697551"/>
          </a:xfrm>
          <a:prstGeom prst="curvedUpArrow">
            <a:avLst>
              <a:gd name="adj1" fmla="val 25000"/>
              <a:gd name="adj2" fmla="val 78688"/>
              <a:gd name="adj3" fmla="val 45266"/>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IN">
              <a:solidFill>
                <a:schemeClr val="tx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B36"/>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marL="0" indent="0">
              <a:buNone/>
            </a:pPr>
            <a:r>
              <a:rPr lang="en-US" sz="1200" b="1" kern="0" spc="100" dirty="0">
                <a:solidFill>
                  <a:srgbClr val="2EC4B6"/>
                </a:solidFill>
                <a:latin typeface="Calibri" pitchFamily="34" charset="0"/>
                <a:ea typeface="Calibri" pitchFamily="34" charset="-122"/>
                <a:cs typeface="Calibri" pitchFamily="34" charset="-120"/>
              </a:rPr>
              <a:t>DASHBOARD OVERVIEW</a:t>
            </a:r>
            <a:endParaRPr lang="en-US" sz="1200" dirty="0"/>
          </a:p>
        </p:txBody>
      </p:sp>
      <p:sp>
        <p:nvSpPr>
          <p:cNvPr id="3" name="Text 1"/>
          <p:cNvSpPr/>
          <p:nvPr/>
        </p:nvSpPr>
        <p:spPr>
          <a:xfrm>
            <a:off x="502920" y="610362"/>
            <a:ext cx="11155680" cy="502920"/>
          </a:xfrm>
          <a:prstGeom prst="rect">
            <a:avLst/>
          </a:prstGeom>
          <a:ln/>
        </p:spPr>
        <p:style>
          <a:lnRef idx="0">
            <a:schemeClr val="accent2"/>
          </a:lnRef>
          <a:fillRef idx="3">
            <a:schemeClr val="accent2"/>
          </a:fillRef>
          <a:effectRef idx="3">
            <a:schemeClr val="accent2"/>
          </a:effectRef>
          <a:fontRef idx="minor">
            <a:schemeClr val="lt1"/>
          </a:fontRef>
        </p:style>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Key Sales Insights &amp; City-Wise Distribution:</a:t>
            </a:r>
            <a:endParaRPr lang="en-US" sz="2400" dirty="0"/>
          </a:p>
        </p:txBody>
      </p:sp>
      <p:sp>
        <p:nvSpPr>
          <p:cNvPr id="4" name="Shape 2"/>
          <p:cNvSpPr/>
          <p:nvPr/>
        </p:nvSpPr>
        <p:spPr>
          <a:xfrm>
            <a:off x="429768" y="1668780"/>
            <a:ext cx="11301984" cy="3419670"/>
          </a:xfrm>
          <a:prstGeom prst="roundRect">
            <a:avLst>
              <a:gd name="adj" fmla="val 1337"/>
            </a:avLst>
          </a:prstGeom>
          <a:solidFill>
            <a:srgbClr val="132A52"/>
          </a:solidFill>
          <a:ln w="12700">
            <a:solidFill>
              <a:srgbClr val="24406F"/>
            </a:solidFill>
            <a:prstDash val="solid"/>
          </a:ln>
          <a:effectLst>
            <a:outerShdw blurRad="127000" dist="38100" dir="5400000" algn="bl" rotWithShape="0">
              <a:srgbClr val="000000">
                <a:alpha val="40000"/>
              </a:srgbClr>
            </a:outerShdw>
          </a:effectLst>
        </p:spPr>
        <p:txBody>
          <a:bodyPr/>
          <a:lstStyle/>
          <a:p>
            <a:endParaRPr lang="en-IN" dirty="0"/>
          </a:p>
        </p:txBody>
      </p:sp>
      <p:pic>
        <p:nvPicPr>
          <p:cNvPr id="5" name="Image 0" descr="/mnt/user-data/uploads/city-sale-insights.png"/>
          <p:cNvPicPr>
            <a:picLocks noChangeAspect="1"/>
          </p:cNvPicPr>
          <p:nvPr/>
        </p:nvPicPr>
        <p:blipFill>
          <a:blip r:embed="rId3"/>
          <a:stretch>
            <a:fillRect/>
          </a:stretch>
        </p:blipFill>
        <p:spPr>
          <a:xfrm>
            <a:off x="502920" y="1741932"/>
            <a:ext cx="11155680" cy="3273366"/>
          </a:xfrm>
          <a:prstGeom prst="rect">
            <a:avLst/>
          </a:prstGeom>
        </p:spPr>
      </p:pic>
      <p:sp>
        <p:nvSpPr>
          <p:cNvPr id="6" name="Text 3"/>
          <p:cNvSpPr/>
          <p:nvPr/>
        </p:nvSpPr>
        <p:spPr>
          <a:xfrm>
            <a:off x="502920" y="5640490"/>
            <a:ext cx="11155680" cy="365760"/>
          </a:xfrm>
          <a:prstGeom prst="rect">
            <a:avLst/>
          </a:prstGeom>
          <a:noFill/>
          <a:ln/>
        </p:spPr>
        <p:txBody>
          <a:bodyPr wrap="square" lIns="0" tIns="0" rIns="0" bIns="0" rtlCol="0" anchor="ctr"/>
          <a:lstStyle/>
          <a:p>
            <a:pPr marL="0" indent="0" algn="ctr">
              <a:buNone/>
            </a:pPr>
            <a:r>
              <a:rPr lang="en-US" sz="1100" i="1" dirty="0">
                <a:solidFill>
                  <a:srgbClr val="9FB0CC"/>
                </a:solidFill>
                <a:latin typeface="Calibri" pitchFamily="34" charset="0"/>
                <a:ea typeface="Calibri" pitchFamily="34" charset="-122"/>
                <a:cs typeface="Calibri" pitchFamily="34" charset="-120"/>
              </a:rPr>
              <a:t>Figure 3 — Delivery success rate, pending order value, top model &amp; batch, city-wise sale split, and P&amp;L estimation</a:t>
            </a:r>
            <a:endParaRPr lang="en-US" sz="1100" dirty="0"/>
          </a:p>
        </p:txBody>
      </p:sp>
      <p:sp>
        <p:nvSpPr>
          <p:cNvPr id="7" name="Text 4"/>
          <p:cNvSpPr/>
          <p:nvPr/>
        </p:nvSpPr>
        <p:spPr>
          <a:xfrm>
            <a:off x="457200" y="6510528"/>
            <a:ext cx="7772400" cy="274320"/>
          </a:xfrm>
          <a:prstGeom prst="rect">
            <a:avLst/>
          </a:prstGeom>
          <a:noFill/>
          <a:ln/>
        </p:spPr>
        <p:txBody>
          <a:bodyPr wrap="square" lIns="0" tIns="0" rIns="0" bIns="0" rtlCol="0" anchor="ctr"/>
          <a:lstStyle/>
          <a:p>
            <a:pPr marL="0" indent="0" algn="l">
              <a:buNone/>
            </a:pPr>
            <a:r>
              <a:rPr lang="en-US" sz="800" dirty="0">
                <a:solidFill>
                  <a:srgbClr val="9FB0CC"/>
                </a:solidFill>
                <a:latin typeface="Calibri" pitchFamily="34" charset="0"/>
                <a:ea typeface="Calibri" pitchFamily="34" charset="-122"/>
                <a:cs typeface="Calibri" pitchFamily="34" charset="-120"/>
              </a:rPr>
              <a:t>TATA MOTORS SALES PERFORMANCE &amp; DELIVERY TRACKING DASHBOARD</a:t>
            </a:r>
            <a:endParaRPr lang="en-US" sz="800" dirty="0"/>
          </a:p>
        </p:txBody>
      </p:sp>
      <p:sp>
        <p:nvSpPr>
          <p:cNvPr id="8" name="Text 5"/>
          <p:cNvSpPr/>
          <p:nvPr/>
        </p:nvSpPr>
        <p:spPr>
          <a:xfrm>
            <a:off x="11277295" y="6510528"/>
            <a:ext cx="457200" cy="274320"/>
          </a:xfrm>
          <a:prstGeom prst="rect">
            <a:avLst/>
          </a:prstGeom>
          <a:noFill/>
          <a:ln/>
        </p:spPr>
        <p:txBody>
          <a:bodyPr wrap="square" lIns="0" tIns="0" rIns="0" bIns="0" rtlCol="0" anchor="ctr"/>
          <a:lstStyle/>
          <a:p>
            <a:pPr marL="0" indent="0" algn="r">
              <a:buNone/>
            </a:pPr>
            <a:r>
              <a:rPr lang="en-US" sz="800" dirty="0">
                <a:solidFill>
                  <a:srgbClr val="9FB0CC"/>
                </a:solidFill>
                <a:latin typeface="Calibri" pitchFamily="34" charset="0"/>
                <a:ea typeface="Calibri" pitchFamily="34" charset="-122"/>
                <a:cs typeface="Calibri"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B36"/>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274320"/>
          </a:xfrm>
          <a:prstGeom prst="rect">
            <a:avLst/>
          </a:prstGeom>
          <a:noFill/>
          <a:ln/>
        </p:spPr>
        <p:txBody>
          <a:bodyPr wrap="square" lIns="0" tIns="0" rIns="0" bIns="0" rtlCol="0" anchor="ctr"/>
          <a:lstStyle/>
          <a:p>
            <a:pPr marL="0" indent="0">
              <a:buNone/>
            </a:pPr>
            <a:r>
              <a:rPr lang="en-US" sz="1200" b="1" kern="0" spc="100" dirty="0">
                <a:solidFill>
                  <a:srgbClr val="2EC4B6"/>
                </a:solidFill>
                <a:latin typeface="Calibri" pitchFamily="34" charset="0"/>
                <a:ea typeface="Calibri" pitchFamily="34" charset="-122"/>
                <a:cs typeface="Calibri" pitchFamily="34" charset="-120"/>
              </a:rPr>
              <a:t>DASHBOARD OVERVIEW</a:t>
            </a:r>
            <a:endParaRPr lang="en-US" sz="1200" dirty="0"/>
          </a:p>
        </p:txBody>
      </p:sp>
      <p:sp>
        <p:nvSpPr>
          <p:cNvPr id="3" name="Text 1"/>
          <p:cNvSpPr/>
          <p:nvPr/>
        </p:nvSpPr>
        <p:spPr>
          <a:xfrm>
            <a:off x="502920" y="722376"/>
            <a:ext cx="11155680" cy="502920"/>
          </a:xfrm>
          <a:prstGeom prst="rect">
            <a:avLst/>
          </a:prstGeom>
          <a:ln/>
        </p:spPr>
        <p:style>
          <a:lnRef idx="0">
            <a:schemeClr val="accent2"/>
          </a:lnRef>
          <a:fillRef idx="3">
            <a:schemeClr val="accent2"/>
          </a:fillRef>
          <a:effectRef idx="3">
            <a:schemeClr val="accent2"/>
          </a:effectRef>
          <a:fontRef idx="minor">
            <a:schemeClr val="lt1"/>
          </a:fontRef>
        </p:style>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Model-Wise Sale Report &amp; Product Cost:</a:t>
            </a:r>
            <a:endParaRPr lang="en-US" sz="2400" dirty="0"/>
          </a:p>
        </p:txBody>
      </p:sp>
      <p:sp>
        <p:nvSpPr>
          <p:cNvPr id="4" name="Shape 2"/>
          <p:cNvSpPr/>
          <p:nvPr/>
        </p:nvSpPr>
        <p:spPr>
          <a:xfrm>
            <a:off x="457200" y="1833223"/>
            <a:ext cx="11301984" cy="3438442"/>
          </a:xfrm>
          <a:prstGeom prst="roundRect">
            <a:avLst>
              <a:gd name="adj" fmla="val 1330"/>
            </a:avLst>
          </a:prstGeom>
          <a:solidFill>
            <a:srgbClr val="132A52"/>
          </a:solidFill>
          <a:ln w="12700">
            <a:solidFill>
              <a:srgbClr val="24406F"/>
            </a:solidFill>
            <a:prstDash val="solid"/>
          </a:ln>
          <a:effectLst>
            <a:outerShdw blurRad="127000" dist="38100" dir="5400000" algn="bl" rotWithShape="0">
              <a:srgbClr val="000000">
                <a:alpha val="40000"/>
              </a:srgbClr>
            </a:outerShdw>
          </a:effectLst>
        </p:spPr>
        <p:txBody>
          <a:bodyPr/>
          <a:lstStyle/>
          <a:p>
            <a:endParaRPr lang="en-IN"/>
          </a:p>
        </p:txBody>
      </p:sp>
      <p:pic>
        <p:nvPicPr>
          <p:cNvPr id="5" name="Image 0" descr="/mnt/user-data/uploads/model-sale-report.png"/>
          <p:cNvPicPr>
            <a:picLocks noChangeAspect="1"/>
          </p:cNvPicPr>
          <p:nvPr/>
        </p:nvPicPr>
        <p:blipFill>
          <a:blip r:embed="rId3"/>
          <a:stretch>
            <a:fillRect/>
          </a:stretch>
        </p:blipFill>
        <p:spPr>
          <a:xfrm>
            <a:off x="530352" y="1906226"/>
            <a:ext cx="11155680" cy="3292138"/>
          </a:xfrm>
          <a:prstGeom prst="rect">
            <a:avLst/>
          </a:prstGeom>
        </p:spPr>
      </p:pic>
      <p:sp>
        <p:nvSpPr>
          <p:cNvPr id="6" name="Text 3"/>
          <p:cNvSpPr/>
          <p:nvPr/>
        </p:nvSpPr>
        <p:spPr>
          <a:xfrm>
            <a:off x="-1825697" y="5363222"/>
            <a:ext cx="11155680" cy="365760"/>
          </a:xfrm>
          <a:prstGeom prst="rect">
            <a:avLst/>
          </a:prstGeom>
          <a:noFill/>
          <a:ln/>
        </p:spPr>
        <p:txBody>
          <a:bodyPr wrap="square" lIns="0" tIns="0" rIns="0" bIns="0" rtlCol="0" anchor="ctr"/>
          <a:lstStyle/>
          <a:p>
            <a:pPr marL="0" indent="0" algn="ctr">
              <a:buNone/>
            </a:pPr>
            <a:r>
              <a:rPr lang="en-US" sz="1100" i="1" dirty="0">
                <a:solidFill>
                  <a:srgbClr val="9FB0CC"/>
                </a:solidFill>
                <a:latin typeface="Calibri" pitchFamily="34" charset="0"/>
                <a:ea typeface="Calibri" pitchFamily="34" charset="-122"/>
                <a:cs typeface="Calibri" pitchFamily="34" charset="-120"/>
              </a:rPr>
              <a:t>Figure 4 — Delivered / Pending / In-Transit units by model, plotted against product cost &amp; tax-and-delivery cost</a:t>
            </a:r>
            <a:endParaRPr lang="en-US" sz="1100" dirty="0"/>
          </a:p>
        </p:txBody>
      </p:sp>
      <p:sp>
        <p:nvSpPr>
          <p:cNvPr id="7" name="Text 4"/>
          <p:cNvSpPr/>
          <p:nvPr/>
        </p:nvSpPr>
        <p:spPr>
          <a:xfrm>
            <a:off x="457200" y="6510528"/>
            <a:ext cx="7772400" cy="274320"/>
          </a:xfrm>
          <a:prstGeom prst="rect">
            <a:avLst/>
          </a:prstGeom>
          <a:noFill/>
          <a:ln/>
        </p:spPr>
        <p:txBody>
          <a:bodyPr wrap="square" lIns="0" tIns="0" rIns="0" bIns="0" rtlCol="0" anchor="ctr"/>
          <a:lstStyle/>
          <a:p>
            <a:pPr marL="0" indent="0" algn="l">
              <a:buNone/>
            </a:pPr>
            <a:r>
              <a:rPr lang="en-US" sz="800" dirty="0">
                <a:solidFill>
                  <a:srgbClr val="9FB0CC"/>
                </a:solidFill>
                <a:latin typeface="Calibri" pitchFamily="34" charset="0"/>
                <a:ea typeface="Calibri" pitchFamily="34" charset="-122"/>
                <a:cs typeface="Calibri" pitchFamily="34" charset="-120"/>
              </a:rPr>
              <a:t>TATA MOTORS SALES PERFORMANCE &amp; DELIVERY TRACKING DASHBOARD</a:t>
            </a:r>
            <a:endParaRPr lang="en-US" sz="800" dirty="0"/>
          </a:p>
        </p:txBody>
      </p:sp>
      <p:sp>
        <p:nvSpPr>
          <p:cNvPr id="8" name="Text 5"/>
          <p:cNvSpPr/>
          <p:nvPr/>
        </p:nvSpPr>
        <p:spPr>
          <a:xfrm>
            <a:off x="11277295" y="6510528"/>
            <a:ext cx="457200" cy="274320"/>
          </a:xfrm>
          <a:prstGeom prst="rect">
            <a:avLst/>
          </a:prstGeom>
          <a:noFill/>
          <a:ln/>
        </p:spPr>
        <p:txBody>
          <a:bodyPr wrap="square" lIns="0" tIns="0" rIns="0" bIns="0" rtlCol="0" anchor="ctr"/>
          <a:lstStyle/>
          <a:p>
            <a:pPr marL="0" indent="0" algn="r">
              <a:buNone/>
            </a:pPr>
            <a:r>
              <a:rPr lang="en-US" sz="800" dirty="0">
                <a:solidFill>
                  <a:srgbClr val="9FB0CC"/>
                </a:solidFill>
                <a:latin typeface="Calibri" pitchFamily="34" charset="0"/>
                <a:ea typeface="Calibri" pitchFamily="34" charset="-122"/>
                <a:cs typeface="Calibri" pitchFamily="34" charset="-120"/>
              </a:rPr>
              <a:t>10</a:t>
            </a:r>
            <a:endParaRPr lang="en-US" sz="800" dirty="0"/>
          </a:p>
        </p:txBody>
      </p:sp>
      <p:sp>
        <p:nvSpPr>
          <p:cNvPr id="9" name="Rectangle 8">
            <a:extLst>
              <a:ext uri="{FF2B5EF4-FFF2-40B4-BE49-F238E27FC236}">
                <a16:creationId xmlns:a16="http://schemas.microsoft.com/office/drawing/2014/main" id="{09791916-E8E1-29A1-45C5-4918FCC1485F}"/>
              </a:ext>
            </a:extLst>
          </p:cNvPr>
          <p:cNvSpPr/>
          <p:nvPr/>
        </p:nvSpPr>
        <p:spPr>
          <a:xfrm>
            <a:off x="7528264" y="5363222"/>
            <a:ext cx="3882559" cy="1430488"/>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US" sz="1400" b="1" dirty="0"/>
              <a:t>Business relevance</a:t>
            </a:r>
            <a:r>
              <a:rPr lang="en-US" sz="1200" b="1" dirty="0"/>
              <a:t>:</a:t>
            </a:r>
            <a:r>
              <a:rPr lang="en-US" sz="1200" dirty="0"/>
              <a:t> This breakdown helps separate the </a:t>
            </a:r>
            <a:r>
              <a:rPr lang="en-US" sz="1200" i="1" dirty="0"/>
              <a:t>base vehicle cost</a:t>
            </a:r>
            <a:r>
              <a:rPr lang="en-US" sz="1200" dirty="0"/>
              <a:t> from </a:t>
            </a:r>
            <a:r>
              <a:rPr lang="en-US" sz="1200" i="1" dirty="0"/>
              <a:t>logistics/tax overhead</a:t>
            </a:r>
            <a:r>
              <a:rPr lang="en-US" sz="1200" dirty="0"/>
              <a:t>, so management can see which models carry disproportionately high tax &amp; delivery costs relative to their base price — useful for pricing strategy and identifying where delivery costs might be eating into margins.</a:t>
            </a:r>
            <a:endParaRPr lang="en-IN" sz="1200" dirty="0"/>
          </a:p>
        </p:txBody>
      </p:sp>
      <p:sp>
        <p:nvSpPr>
          <p:cNvPr id="13" name="Arrow: Curved Left 12">
            <a:extLst>
              <a:ext uri="{FF2B5EF4-FFF2-40B4-BE49-F238E27FC236}">
                <a16:creationId xmlns:a16="http://schemas.microsoft.com/office/drawing/2014/main" id="{B3334530-35D7-D801-0C29-3E804C8414A8}"/>
              </a:ext>
            </a:extLst>
          </p:cNvPr>
          <p:cNvSpPr/>
          <p:nvPr/>
        </p:nvSpPr>
        <p:spPr>
          <a:xfrm>
            <a:off x="11253247" y="3835153"/>
            <a:ext cx="690860" cy="1847739"/>
          </a:xfrm>
          <a:prstGeom prst="curvedLeftArrow">
            <a:avLst>
              <a:gd name="adj1" fmla="val 25000"/>
              <a:gd name="adj2" fmla="val 55794"/>
              <a:gd name="adj3" fmla="val 48917"/>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IN">
              <a:solidFill>
                <a:schemeClr val="tx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B36"/>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502920"/>
          </a:xfrm>
          <a:prstGeom prst="rect">
            <a:avLst/>
          </a:prstGeom>
          <a:ln/>
        </p:spPr>
        <p:style>
          <a:lnRef idx="0">
            <a:schemeClr val="accent2"/>
          </a:lnRef>
          <a:fillRef idx="3">
            <a:schemeClr val="accent2"/>
          </a:fillRef>
          <a:effectRef idx="3">
            <a:schemeClr val="accent2"/>
          </a:effectRef>
          <a:fontRef idx="minor">
            <a:schemeClr val="lt1"/>
          </a:fontRef>
        </p:style>
        <p:txBody>
          <a:bodyPr wrap="square" lIns="0" tIns="0" rIns="0" bIns="0" rtlCol="0" anchor="ctr"/>
          <a:lstStyle/>
          <a:p>
            <a:pPr marL="0" indent="0" algn="l">
              <a:buNone/>
            </a:pPr>
            <a:r>
              <a:rPr lang="en-US" sz="2600" b="1" kern="0" spc="50" dirty="0">
                <a:solidFill>
                  <a:srgbClr val="FFFFFF"/>
                </a:solidFill>
                <a:latin typeface="Cambria" pitchFamily="34" charset="0"/>
                <a:ea typeface="Cambria" pitchFamily="34" charset="-122"/>
                <a:cs typeface="Cambria" pitchFamily="34" charset="-120"/>
              </a:rPr>
              <a:t>CHART ANALYSIS &amp; INTERPRETATION:</a:t>
            </a:r>
            <a:endParaRPr lang="en-US" sz="2600" dirty="0"/>
          </a:p>
        </p:txBody>
      </p:sp>
      <p:sp>
        <p:nvSpPr>
          <p:cNvPr id="3" name="Text 1"/>
          <p:cNvSpPr/>
          <p:nvPr/>
        </p:nvSpPr>
        <p:spPr>
          <a:xfrm>
            <a:off x="502920" y="804672"/>
            <a:ext cx="11155680" cy="292608"/>
          </a:xfrm>
          <a:prstGeom prst="rect">
            <a:avLst/>
          </a:prstGeom>
          <a:noFill/>
          <a:ln/>
        </p:spPr>
        <p:txBody>
          <a:bodyPr wrap="square" lIns="0" tIns="0" rIns="0" bIns="0" rtlCol="0" anchor="ctr"/>
          <a:lstStyle/>
          <a:p>
            <a:pPr marL="0" indent="0" algn="l">
              <a:buNone/>
            </a:pPr>
            <a:r>
              <a:rPr lang="en-US" sz="1250" i="1" dirty="0">
                <a:solidFill>
                  <a:srgbClr val="9FB0CC"/>
                </a:solidFill>
                <a:latin typeface="Calibri" pitchFamily="34" charset="0"/>
                <a:ea typeface="Calibri" pitchFamily="34" charset="-122"/>
                <a:cs typeface="Calibri" pitchFamily="34" charset="-120"/>
              </a:rPr>
              <a:t>What the dashboard visuals reveal about the business</a:t>
            </a:r>
            <a:endParaRPr lang="en-US" sz="1250" dirty="0"/>
          </a:p>
        </p:txBody>
      </p:sp>
      <p:sp>
        <p:nvSpPr>
          <p:cNvPr id="4" name="Shape 2"/>
          <p:cNvSpPr/>
          <p:nvPr/>
        </p:nvSpPr>
        <p:spPr>
          <a:xfrm>
            <a:off x="502920" y="1170432"/>
            <a:ext cx="11155680" cy="16459"/>
          </a:xfrm>
          <a:prstGeom prst="rect">
            <a:avLst/>
          </a:prstGeom>
          <a:solidFill>
            <a:srgbClr val="24406F"/>
          </a:solidFill>
          <a:ln/>
        </p:spPr>
        <p:txBody>
          <a:bodyPr/>
          <a:lstStyle/>
          <a:p>
            <a:endParaRPr lang="en-IN"/>
          </a:p>
        </p:txBody>
      </p:sp>
      <p:sp>
        <p:nvSpPr>
          <p:cNvPr id="5" name="Shape 3"/>
          <p:cNvSpPr/>
          <p:nvPr/>
        </p:nvSpPr>
        <p:spPr>
          <a:xfrm>
            <a:off x="502920" y="1442923"/>
            <a:ext cx="11155680" cy="1832458"/>
          </a:xfrm>
          <a:prstGeom prst="roundRect">
            <a:avLst>
              <a:gd name="adj" fmla="val 4828"/>
            </a:avLst>
          </a:prstGeom>
          <a:solidFill>
            <a:srgbClr val="132A52"/>
          </a:solidFill>
          <a:ln/>
        </p:spPr>
        <p:txBody>
          <a:bodyPr/>
          <a:lstStyle/>
          <a:p>
            <a:endParaRPr lang="en-IN"/>
          </a:p>
        </p:txBody>
      </p:sp>
      <p:sp>
        <p:nvSpPr>
          <p:cNvPr id="6" name="Shape 4"/>
          <p:cNvSpPr/>
          <p:nvPr/>
        </p:nvSpPr>
        <p:spPr>
          <a:xfrm>
            <a:off x="777240" y="1874520"/>
            <a:ext cx="685800" cy="685800"/>
          </a:xfrm>
          <a:prstGeom prst="ellipse">
            <a:avLst/>
          </a:prstGeom>
          <a:solidFill>
            <a:srgbClr val="2E75D6"/>
          </a:solidFill>
          <a:ln/>
          <a:effectLst>
            <a:outerShdw blurRad="76200" dist="25400" dir="5400000" algn="bl" rotWithShape="0">
              <a:srgbClr val="000000">
                <a:alpha val="35000"/>
              </a:srgbClr>
            </a:outerShdw>
          </a:effectLst>
        </p:spPr>
        <p:txBody>
          <a:bodyPr/>
          <a:lstStyle/>
          <a:p>
            <a:endParaRPr lang="en-IN"/>
          </a:p>
        </p:txBody>
      </p:sp>
      <p:sp>
        <p:nvSpPr>
          <p:cNvPr id="7" name="Text 5"/>
          <p:cNvSpPr/>
          <p:nvPr/>
        </p:nvSpPr>
        <p:spPr>
          <a:xfrm>
            <a:off x="777240" y="1874520"/>
            <a:ext cx="685800" cy="685800"/>
          </a:xfrm>
          <a:prstGeom prst="rect">
            <a:avLst/>
          </a:prstGeom>
          <a:noFill/>
          <a:ln/>
        </p:spPr>
        <p:txBody>
          <a:bodyPr wrap="square" lIns="0" tIns="0" rIns="0" bIns="0" rtlCol="0" anchor="ctr"/>
          <a:lstStyle/>
          <a:p>
            <a:pPr marL="0" indent="0" algn="ctr">
              <a:buNone/>
            </a:pPr>
            <a:r>
              <a:rPr lang="en-US" sz="1950" b="1" dirty="0">
                <a:solidFill>
                  <a:srgbClr val="FFFFFF"/>
                </a:solidFill>
                <a:latin typeface="Calibri" pitchFamily="34" charset="0"/>
                <a:ea typeface="Calibri" pitchFamily="34" charset="-122"/>
                <a:cs typeface="Calibri" pitchFamily="34" charset="-120"/>
              </a:rPr>
              <a:t>M</a:t>
            </a:r>
            <a:endParaRPr lang="en-US" sz="1950" dirty="0"/>
          </a:p>
        </p:txBody>
      </p:sp>
      <p:sp>
        <p:nvSpPr>
          <p:cNvPr id="8" name="Text 6"/>
          <p:cNvSpPr/>
          <p:nvPr/>
        </p:nvSpPr>
        <p:spPr>
          <a:xfrm>
            <a:off x="1737360" y="1719072"/>
            <a:ext cx="960120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City-Wise Sales Performance</a:t>
            </a:r>
            <a:endParaRPr lang="en-US" sz="1600" dirty="0"/>
          </a:p>
        </p:txBody>
      </p:sp>
      <p:sp>
        <p:nvSpPr>
          <p:cNvPr id="9" name="Text 7"/>
          <p:cNvSpPr/>
          <p:nvPr/>
        </p:nvSpPr>
        <p:spPr>
          <a:xfrm>
            <a:off x="1737360" y="2103120"/>
            <a:ext cx="3340667" cy="685800"/>
          </a:xfrm>
          <a:prstGeom prst="rect">
            <a:avLst/>
          </a:prstGeom>
          <a:noFill/>
          <a:ln/>
        </p:spPr>
        <p:txBody>
          <a:bodyPr wrap="square" lIns="0" tIns="0" rIns="0" bIns="0" rtlCol="0" anchor="ctr"/>
          <a:lstStyle/>
          <a:p>
            <a:pPr marL="0" indent="0">
              <a:buNone/>
            </a:pPr>
            <a:r>
              <a:rPr lang="en-US" sz="1250" dirty="0">
                <a:solidFill>
                  <a:srgbClr val="9FB0CC"/>
                </a:solidFill>
                <a:latin typeface="Calibri" pitchFamily="34" charset="0"/>
                <a:ea typeface="Calibri" pitchFamily="34" charset="-122"/>
                <a:cs typeface="Calibri" pitchFamily="34" charset="-120"/>
              </a:rPr>
              <a:t>Metro areas are the primary revenue drivers — marketing spend should be weighted toward urban centers.</a:t>
            </a:r>
            <a:endParaRPr lang="en-US" sz="1250" dirty="0"/>
          </a:p>
        </p:txBody>
      </p:sp>
      <p:sp>
        <p:nvSpPr>
          <p:cNvPr id="10" name="Shape 8"/>
          <p:cNvSpPr/>
          <p:nvPr/>
        </p:nvSpPr>
        <p:spPr>
          <a:xfrm>
            <a:off x="502920" y="3293669"/>
            <a:ext cx="11155680" cy="1634947"/>
          </a:xfrm>
          <a:prstGeom prst="roundRect">
            <a:avLst>
              <a:gd name="adj" fmla="val 4828"/>
            </a:avLst>
          </a:prstGeom>
          <a:solidFill>
            <a:srgbClr val="132A52"/>
          </a:solidFill>
          <a:ln/>
        </p:spPr>
        <p:txBody>
          <a:bodyPr/>
          <a:lstStyle/>
          <a:p>
            <a:endParaRPr lang="en-IN"/>
          </a:p>
        </p:txBody>
      </p:sp>
      <p:sp>
        <p:nvSpPr>
          <p:cNvPr id="11" name="Shape 9"/>
          <p:cNvSpPr/>
          <p:nvPr/>
        </p:nvSpPr>
        <p:spPr>
          <a:xfrm>
            <a:off x="777240" y="3410712"/>
            <a:ext cx="685800" cy="685800"/>
          </a:xfrm>
          <a:prstGeom prst="ellipse">
            <a:avLst/>
          </a:prstGeom>
          <a:solidFill>
            <a:srgbClr val="2EC4B6"/>
          </a:solidFill>
          <a:ln/>
          <a:effectLst>
            <a:outerShdw blurRad="76200" dist="25400" dir="5400000" algn="bl" rotWithShape="0">
              <a:srgbClr val="000000">
                <a:alpha val="35000"/>
              </a:srgbClr>
            </a:outerShdw>
          </a:effectLst>
        </p:spPr>
        <p:txBody>
          <a:bodyPr/>
          <a:lstStyle/>
          <a:p>
            <a:endParaRPr lang="en-IN"/>
          </a:p>
        </p:txBody>
      </p:sp>
      <p:sp>
        <p:nvSpPr>
          <p:cNvPr id="12" name="Text 10"/>
          <p:cNvSpPr/>
          <p:nvPr/>
        </p:nvSpPr>
        <p:spPr>
          <a:xfrm>
            <a:off x="777240" y="3410712"/>
            <a:ext cx="685800" cy="685800"/>
          </a:xfrm>
          <a:prstGeom prst="rect">
            <a:avLst/>
          </a:prstGeom>
          <a:noFill/>
          <a:ln/>
        </p:spPr>
        <p:txBody>
          <a:bodyPr wrap="square" lIns="0" tIns="0" rIns="0" bIns="0" rtlCol="0" anchor="ctr"/>
          <a:lstStyle/>
          <a:p>
            <a:pPr marL="0" indent="0" algn="ctr">
              <a:buNone/>
            </a:pPr>
            <a:r>
              <a:rPr lang="en-US" sz="1950" b="1" dirty="0">
                <a:solidFill>
                  <a:srgbClr val="FFFFFF"/>
                </a:solidFill>
                <a:latin typeface="Calibri" pitchFamily="34" charset="0"/>
                <a:ea typeface="Calibri" pitchFamily="34" charset="-122"/>
                <a:cs typeface="Calibri" pitchFamily="34" charset="-120"/>
              </a:rPr>
              <a:t>D</a:t>
            </a:r>
            <a:endParaRPr lang="en-US" sz="1950" dirty="0"/>
          </a:p>
        </p:txBody>
      </p:sp>
      <p:sp>
        <p:nvSpPr>
          <p:cNvPr id="13" name="Text 11"/>
          <p:cNvSpPr/>
          <p:nvPr/>
        </p:nvSpPr>
        <p:spPr>
          <a:xfrm>
            <a:off x="1737360" y="3255264"/>
            <a:ext cx="960120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Delivery Status Breakdown</a:t>
            </a:r>
            <a:endParaRPr lang="en-US" sz="1600" dirty="0"/>
          </a:p>
        </p:txBody>
      </p:sp>
      <p:sp>
        <p:nvSpPr>
          <p:cNvPr id="14" name="Text 12"/>
          <p:cNvSpPr/>
          <p:nvPr/>
        </p:nvSpPr>
        <p:spPr>
          <a:xfrm>
            <a:off x="1737360" y="3639312"/>
            <a:ext cx="3491588" cy="886968"/>
          </a:xfrm>
          <a:prstGeom prst="rect">
            <a:avLst/>
          </a:prstGeom>
          <a:noFill/>
          <a:ln/>
        </p:spPr>
        <p:txBody>
          <a:bodyPr wrap="square" lIns="0" tIns="0" rIns="0" bIns="0" rtlCol="0" anchor="ctr"/>
          <a:lstStyle/>
          <a:p>
            <a:pPr marL="0" indent="0">
              <a:buNone/>
            </a:pPr>
            <a:r>
              <a:rPr lang="en-US" sz="1250" dirty="0">
                <a:solidFill>
                  <a:srgbClr val="9FB0CC"/>
                </a:solidFill>
                <a:latin typeface="Calibri" pitchFamily="34" charset="0"/>
                <a:ea typeface="Calibri" pitchFamily="34" charset="-122"/>
                <a:cs typeface="Calibri" pitchFamily="34" charset="-120"/>
              </a:rPr>
              <a:t>Out of 65 documented orders, 86% were successfully delivered, while a distinct portion remains pending or in transit.</a:t>
            </a:r>
            <a:endParaRPr lang="en-US" sz="1250" dirty="0"/>
          </a:p>
        </p:txBody>
      </p:sp>
      <p:sp>
        <p:nvSpPr>
          <p:cNvPr id="15" name="Shape 13"/>
          <p:cNvSpPr/>
          <p:nvPr/>
        </p:nvSpPr>
        <p:spPr>
          <a:xfrm>
            <a:off x="502920" y="4855464"/>
            <a:ext cx="11155680" cy="1325880"/>
          </a:xfrm>
          <a:prstGeom prst="roundRect">
            <a:avLst>
              <a:gd name="adj" fmla="val 4828"/>
            </a:avLst>
          </a:prstGeom>
          <a:solidFill>
            <a:srgbClr val="132A52"/>
          </a:solidFill>
          <a:ln/>
        </p:spPr>
        <p:txBody>
          <a:bodyPr/>
          <a:lstStyle/>
          <a:p>
            <a:endParaRPr lang="en-IN" dirty="0"/>
          </a:p>
        </p:txBody>
      </p:sp>
      <p:sp>
        <p:nvSpPr>
          <p:cNvPr id="16" name="Shape 14"/>
          <p:cNvSpPr/>
          <p:nvPr/>
        </p:nvSpPr>
        <p:spPr>
          <a:xfrm>
            <a:off x="777240" y="4946904"/>
            <a:ext cx="685800" cy="685800"/>
          </a:xfrm>
          <a:prstGeom prst="ellipse">
            <a:avLst/>
          </a:prstGeom>
          <a:solidFill>
            <a:srgbClr val="F2994A"/>
          </a:solidFill>
          <a:ln/>
          <a:effectLst>
            <a:outerShdw blurRad="76200" dist="25400" dir="5400000" algn="bl" rotWithShape="0">
              <a:srgbClr val="000000">
                <a:alpha val="35000"/>
              </a:srgbClr>
            </a:outerShdw>
          </a:effectLst>
        </p:spPr>
        <p:txBody>
          <a:bodyPr/>
          <a:lstStyle/>
          <a:p>
            <a:endParaRPr lang="en-IN"/>
          </a:p>
        </p:txBody>
      </p:sp>
      <p:sp>
        <p:nvSpPr>
          <p:cNvPr id="17" name="Text 15"/>
          <p:cNvSpPr/>
          <p:nvPr/>
        </p:nvSpPr>
        <p:spPr>
          <a:xfrm>
            <a:off x="777240" y="4946904"/>
            <a:ext cx="685800" cy="685800"/>
          </a:xfrm>
          <a:prstGeom prst="rect">
            <a:avLst/>
          </a:prstGeom>
          <a:noFill/>
          <a:ln/>
        </p:spPr>
        <p:txBody>
          <a:bodyPr wrap="square" lIns="0" tIns="0" rIns="0" bIns="0" rtlCol="0" anchor="ctr"/>
          <a:lstStyle/>
          <a:p>
            <a:pPr marL="0" indent="0" algn="ctr">
              <a:buNone/>
            </a:pPr>
            <a:r>
              <a:rPr lang="en-US" sz="1950" b="1" dirty="0">
                <a:solidFill>
                  <a:srgbClr val="FFFFFF"/>
                </a:solidFill>
                <a:latin typeface="Calibri" pitchFamily="34" charset="0"/>
                <a:ea typeface="Calibri" pitchFamily="34" charset="-122"/>
                <a:cs typeface="Calibri" pitchFamily="34" charset="-120"/>
              </a:rPr>
              <a:t>P</a:t>
            </a:r>
            <a:endParaRPr lang="en-US" sz="1950" dirty="0"/>
          </a:p>
        </p:txBody>
      </p:sp>
      <p:sp>
        <p:nvSpPr>
          <p:cNvPr id="18" name="Text 16"/>
          <p:cNvSpPr/>
          <p:nvPr/>
        </p:nvSpPr>
        <p:spPr>
          <a:xfrm>
            <a:off x="1737360" y="4905756"/>
            <a:ext cx="960120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Model-Wise Sales &amp; Product Cost</a:t>
            </a:r>
            <a:endParaRPr lang="en-US" sz="1600" dirty="0"/>
          </a:p>
        </p:txBody>
      </p:sp>
      <p:sp>
        <p:nvSpPr>
          <p:cNvPr id="19" name="Text 17"/>
          <p:cNvSpPr/>
          <p:nvPr/>
        </p:nvSpPr>
        <p:spPr>
          <a:xfrm>
            <a:off x="1737360" y="5175504"/>
            <a:ext cx="9601200" cy="685800"/>
          </a:xfrm>
          <a:prstGeom prst="rect">
            <a:avLst/>
          </a:prstGeom>
          <a:noFill/>
          <a:ln/>
        </p:spPr>
        <p:txBody>
          <a:bodyPr wrap="square" lIns="0" tIns="0" rIns="0" bIns="0" rtlCol="0" anchor="ctr"/>
          <a:lstStyle/>
          <a:p>
            <a:pPr marL="0" indent="0">
              <a:buNone/>
            </a:pPr>
            <a:r>
              <a:rPr lang="en-US" sz="1250" dirty="0">
                <a:solidFill>
                  <a:srgbClr val="9FB0CC"/>
                </a:solidFill>
                <a:latin typeface="Calibri" pitchFamily="34" charset="0"/>
                <a:ea typeface="Calibri" pitchFamily="34" charset="-122"/>
                <a:cs typeface="Calibri" pitchFamily="34" charset="-120"/>
              </a:rPr>
              <a:t>Tata Nexon is the most sold model (14 units), while Tata Punch offers the best cost-to-price ratio.</a:t>
            </a:r>
            <a:endParaRPr lang="en-US" sz="1250" dirty="0"/>
          </a:p>
        </p:txBody>
      </p:sp>
      <p:sp>
        <p:nvSpPr>
          <p:cNvPr id="20" name="Text 18"/>
          <p:cNvSpPr/>
          <p:nvPr/>
        </p:nvSpPr>
        <p:spPr>
          <a:xfrm>
            <a:off x="457200" y="6510528"/>
            <a:ext cx="7772400" cy="274320"/>
          </a:xfrm>
          <a:prstGeom prst="rect">
            <a:avLst/>
          </a:prstGeom>
          <a:noFill/>
          <a:ln/>
        </p:spPr>
        <p:txBody>
          <a:bodyPr wrap="square" lIns="0" tIns="0" rIns="0" bIns="0" rtlCol="0" anchor="ctr"/>
          <a:lstStyle/>
          <a:p>
            <a:pPr marL="0" indent="0" algn="l">
              <a:buNone/>
            </a:pPr>
            <a:r>
              <a:rPr lang="en-US" sz="800" dirty="0">
                <a:solidFill>
                  <a:srgbClr val="9FB0CC"/>
                </a:solidFill>
                <a:latin typeface="Calibri" pitchFamily="34" charset="0"/>
                <a:ea typeface="Calibri" pitchFamily="34" charset="-122"/>
                <a:cs typeface="Calibri" pitchFamily="34" charset="-120"/>
              </a:rPr>
              <a:t>TATA MOTORS SALES PERFORMANCE &amp; DELIVERY TRACKING DASHBOARD</a:t>
            </a:r>
            <a:endParaRPr lang="en-US" sz="800" dirty="0"/>
          </a:p>
        </p:txBody>
      </p:sp>
      <p:sp>
        <p:nvSpPr>
          <p:cNvPr id="21" name="Text 19"/>
          <p:cNvSpPr/>
          <p:nvPr/>
        </p:nvSpPr>
        <p:spPr>
          <a:xfrm>
            <a:off x="11277295" y="6510528"/>
            <a:ext cx="457200" cy="274320"/>
          </a:xfrm>
          <a:prstGeom prst="rect">
            <a:avLst/>
          </a:prstGeom>
          <a:noFill/>
          <a:ln/>
        </p:spPr>
        <p:txBody>
          <a:bodyPr wrap="square" lIns="0" tIns="0" rIns="0" bIns="0" rtlCol="0" anchor="ctr"/>
          <a:lstStyle/>
          <a:p>
            <a:pPr marL="0" indent="0" algn="r">
              <a:buNone/>
            </a:pPr>
            <a:r>
              <a:rPr lang="en-US" sz="800" dirty="0">
                <a:solidFill>
                  <a:srgbClr val="9FB0CC"/>
                </a:solidFill>
                <a:latin typeface="Calibri" pitchFamily="34" charset="0"/>
                <a:ea typeface="Calibri" pitchFamily="34" charset="-122"/>
                <a:cs typeface="Calibri" pitchFamily="34" charset="-120"/>
              </a:rPr>
              <a:t>11</a:t>
            </a:r>
            <a:endParaRPr lang="en-US" sz="800" dirty="0"/>
          </a:p>
        </p:txBody>
      </p:sp>
      <p:graphicFrame>
        <p:nvGraphicFramePr>
          <p:cNvPr id="22" name="Chart 21">
            <a:extLst>
              <a:ext uri="{FF2B5EF4-FFF2-40B4-BE49-F238E27FC236}">
                <a16:creationId xmlns:a16="http://schemas.microsoft.com/office/drawing/2014/main" id="{AEE6408F-48E2-CAB8-4E9B-4DB49F90445B}"/>
              </a:ext>
            </a:extLst>
          </p:cNvPr>
          <p:cNvGraphicFramePr>
            <a:graphicFrameLocks/>
          </p:cNvGraphicFramePr>
          <p:nvPr>
            <p:extLst>
              <p:ext uri="{D42A27DB-BD31-4B8C-83A1-F6EECF244321}">
                <p14:modId xmlns:p14="http://schemas.microsoft.com/office/powerpoint/2010/main" val="983717300"/>
              </p:ext>
            </p:extLst>
          </p:nvPr>
        </p:nvGraphicFramePr>
        <p:xfrm>
          <a:off x="8479950" y="1467611"/>
          <a:ext cx="2246051" cy="1803198"/>
        </p:xfrm>
        <a:graphic>
          <a:graphicData uri="http://schemas.openxmlformats.org/drawingml/2006/chart">
            <c:chart xmlns:c="http://schemas.openxmlformats.org/drawingml/2006/chart" xmlns:r="http://schemas.openxmlformats.org/officeDocument/2006/relationships" r:id="rId3"/>
          </a:graphicData>
        </a:graphic>
      </p:graphicFrame>
      <p:pic>
        <p:nvPicPr>
          <p:cNvPr id="24" name="Picture 23">
            <a:extLst>
              <a:ext uri="{FF2B5EF4-FFF2-40B4-BE49-F238E27FC236}">
                <a16:creationId xmlns:a16="http://schemas.microsoft.com/office/drawing/2014/main" id="{6CE70730-A4FD-87FB-01AC-6CC9D2F920F8}"/>
              </a:ext>
            </a:extLst>
          </p:cNvPr>
          <p:cNvPicPr>
            <a:picLocks noChangeAspect="1"/>
          </p:cNvPicPr>
          <p:nvPr/>
        </p:nvPicPr>
        <p:blipFill>
          <a:blip r:embed="rId4"/>
          <a:stretch>
            <a:fillRect/>
          </a:stretch>
        </p:blipFill>
        <p:spPr>
          <a:xfrm>
            <a:off x="8479950" y="3582159"/>
            <a:ext cx="2698812" cy="254661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B36"/>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502920"/>
          </a:xfrm>
          <a:prstGeom prst="rect">
            <a:avLst/>
          </a:prstGeom>
          <a:ln/>
        </p:spPr>
        <p:style>
          <a:lnRef idx="0">
            <a:schemeClr val="accent2"/>
          </a:lnRef>
          <a:fillRef idx="3">
            <a:schemeClr val="accent2"/>
          </a:fillRef>
          <a:effectRef idx="3">
            <a:schemeClr val="accent2"/>
          </a:effectRef>
          <a:fontRef idx="minor">
            <a:schemeClr val="lt1"/>
          </a:fontRef>
        </p:style>
        <p:txBody>
          <a:bodyPr wrap="square" lIns="0" tIns="0" rIns="0" bIns="0" rtlCol="0" anchor="ctr"/>
          <a:lstStyle/>
          <a:p>
            <a:pPr marL="0" indent="0" algn="l">
              <a:buNone/>
            </a:pPr>
            <a:r>
              <a:rPr lang="en-US" sz="2600" b="1" kern="0" spc="50" dirty="0">
                <a:solidFill>
                  <a:srgbClr val="FFFFFF"/>
                </a:solidFill>
                <a:latin typeface="Cambria" pitchFamily="34" charset="0"/>
                <a:ea typeface="Cambria" pitchFamily="34" charset="-122"/>
                <a:cs typeface="Cambria" pitchFamily="34" charset="-120"/>
              </a:rPr>
              <a:t>KEY BUSINESS INSIGHTS &amp; FINDINGS: </a:t>
            </a:r>
            <a:endParaRPr lang="en-US" sz="2600" dirty="0"/>
          </a:p>
        </p:txBody>
      </p:sp>
      <p:sp>
        <p:nvSpPr>
          <p:cNvPr id="3" name="Text 1"/>
          <p:cNvSpPr/>
          <p:nvPr/>
        </p:nvSpPr>
        <p:spPr>
          <a:xfrm>
            <a:off x="502920" y="804672"/>
            <a:ext cx="11155680" cy="292608"/>
          </a:xfrm>
          <a:prstGeom prst="rect">
            <a:avLst/>
          </a:prstGeom>
          <a:noFill/>
          <a:ln/>
        </p:spPr>
        <p:txBody>
          <a:bodyPr wrap="square" lIns="0" tIns="0" rIns="0" bIns="0" rtlCol="0" anchor="ctr"/>
          <a:lstStyle/>
          <a:p>
            <a:pPr marL="0" indent="0" algn="l">
              <a:buNone/>
            </a:pPr>
            <a:r>
              <a:rPr lang="en-US" sz="1250" i="1" dirty="0">
                <a:solidFill>
                  <a:srgbClr val="9FB0CC"/>
                </a:solidFill>
                <a:latin typeface="Calibri" pitchFamily="34" charset="0"/>
                <a:ea typeface="Calibri" pitchFamily="34" charset="-122"/>
                <a:cs typeface="Calibri" pitchFamily="34" charset="-120"/>
              </a:rPr>
              <a:t>Critical patterns from the quantitative analysis</a:t>
            </a:r>
            <a:endParaRPr lang="en-US" sz="1250" dirty="0"/>
          </a:p>
        </p:txBody>
      </p:sp>
      <p:sp>
        <p:nvSpPr>
          <p:cNvPr id="4" name="Shape 2"/>
          <p:cNvSpPr/>
          <p:nvPr/>
        </p:nvSpPr>
        <p:spPr>
          <a:xfrm>
            <a:off x="502920" y="1170432"/>
            <a:ext cx="11155680" cy="16459"/>
          </a:xfrm>
          <a:prstGeom prst="rect">
            <a:avLst/>
          </a:prstGeom>
          <a:solidFill>
            <a:srgbClr val="24406F"/>
          </a:solidFill>
          <a:ln/>
        </p:spPr>
        <p:txBody>
          <a:bodyPr/>
          <a:lstStyle/>
          <a:p>
            <a:endParaRPr lang="en-IN"/>
          </a:p>
        </p:txBody>
      </p:sp>
      <p:sp>
        <p:nvSpPr>
          <p:cNvPr id="5" name="Shape 3"/>
          <p:cNvSpPr/>
          <p:nvPr/>
        </p:nvSpPr>
        <p:spPr>
          <a:xfrm>
            <a:off x="502920" y="1508760"/>
            <a:ext cx="5349240" cy="1965960"/>
          </a:xfrm>
          <a:prstGeom prst="roundRect">
            <a:avLst>
              <a:gd name="adj" fmla="val 3721"/>
            </a:avLst>
          </a:prstGeom>
          <a:solidFill>
            <a:srgbClr val="132A52"/>
          </a:solidFill>
          <a:ln/>
        </p:spPr>
        <p:txBody>
          <a:bodyPr/>
          <a:lstStyle/>
          <a:p>
            <a:endParaRPr lang="en-IN"/>
          </a:p>
        </p:txBody>
      </p:sp>
      <p:sp>
        <p:nvSpPr>
          <p:cNvPr id="6" name="Shape 4"/>
          <p:cNvSpPr/>
          <p:nvPr/>
        </p:nvSpPr>
        <p:spPr>
          <a:xfrm>
            <a:off x="502920" y="1508760"/>
            <a:ext cx="109728" cy="1965960"/>
          </a:xfrm>
          <a:prstGeom prst="rect">
            <a:avLst/>
          </a:prstGeom>
          <a:solidFill>
            <a:srgbClr val="2E75D6"/>
          </a:solidFill>
          <a:ln/>
        </p:spPr>
        <p:txBody>
          <a:bodyPr/>
          <a:lstStyle/>
          <a:p>
            <a:endParaRPr lang="en-IN"/>
          </a:p>
        </p:txBody>
      </p:sp>
      <p:sp>
        <p:nvSpPr>
          <p:cNvPr id="7" name="Text 5"/>
          <p:cNvSpPr/>
          <p:nvPr/>
        </p:nvSpPr>
        <p:spPr>
          <a:xfrm>
            <a:off x="822960" y="1673352"/>
            <a:ext cx="48006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Nexon</a:t>
            </a:r>
            <a:endParaRPr lang="en-US" sz="3200" dirty="0"/>
          </a:p>
        </p:txBody>
      </p:sp>
      <p:sp>
        <p:nvSpPr>
          <p:cNvPr id="8" name="Text 6"/>
          <p:cNvSpPr/>
          <p:nvPr/>
        </p:nvSpPr>
        <p:spPr>
          <a:xfrm>
            <a:off x="822960" y="2313432"/>
            <a:ext cx="4800600" cy="292608"/>
          </a:xfrm>
          <a:prstGeom prst="rect">
            <a:avLst/>
          </a:prstGeom>
          <a:noFill/>
          <a:ln/>
        </p:spPr>
        <p:txBody>
          <a:bodyPr wrap="square" lIns="0" tIns="0" rIns="0" bIns="0" rtlCol="0" anchor="ctr"/>
          <a:lstStyle/>
          <a:p>
            <a:pPr marL="0" indent="0">
              <a:buNone/>
            </a:pPr>
            <a:r>
              <a:rPr lang="en-US" sz="1200" b="1" dirty="0">
                <a:solidFill>
                  <a:srgbClr val="2E75D6"/>
                </a:solidFill>
                <a:latin typeface="Calibri" pitchFamily="34" charset="0"/>
                <a:ea typeface="Calibri" pitchFamily="34" charset="-122"/>
                <a:cs typeface="Calibri" pitchFamily="34" charset="-120"/>
              </a:rPr>
              <a:t>TOP PERFORMING MODEL</a:t>
            </a:r>
            <a:endParaRPr lang="en-US" sz="1200" dirty="0"/>
          </a:p>
        </p:txBody>
      </p:sp>
      <p:sp>
        <p:nvSpPr>
          <p:cNvPr id="9" name="Text 7"/>
          <p:cNvSpPr/>
          <p:nvPr/>
        </p:nvSpPr>
        <p:spPr>
          <a:xfrm>
            <a:off x="822960" y="2624328"/>
            <a:ext cx="4800600" cy="777240"/>
          </a:xfrm>
          <a:prstGeom prst="rect">
            <a:avLst/>
          </a:prstGeom>
          <a:noFill/>
          <a:ln/>
        </p:spPr>
        <p:txBody>
          <a:bodyPr wrap="square" lIns="0" tIns="0" rIns="0" bIns="0" rtlCol="0" anchor="ctr"/>
          <a:lstStyle/>
          <a:p>
            <a:pPr marL="0" indent="0">
              <a:buNone/>
            </a:pPr>
            <a:r>
              <a:rPr lang="en-US" sz="1100" dirty="0">
                <a:solidFill>
                  <a:srgbClr val="9FB0CC"/>
                </a:solidFill>
                <a:latin typeface="Calibri" pitchFamily="34" charset="0"/>
                <a:ea typeface="Calibri" pitchFamily="34" charset="-122"/>
                <a:cs typeface="Calibri" pitchFamily="34" charset="-120"/>
              </a:rPr>
              <a:t>14 units sold — most frequently ordered of 13 available models.</a:t>
            </a:r>
            <a:endParaRPr lang="en-US" sz="1100" dirty="0"/>
          </a:p>
        </p:txBody>
      </p:sp>
      <p:sp>
        <p:nvSpPr>
          <p:cNvPr id="10" name="Shape 8"/>
          <p:cNvSpPr/>
          <p:nvPr/>
        </p:nvSpPr>
        <p:spPr>
          <a:xfrm>
            <a:off x="6309360" y="1508760"/>
            <a:ext cx="5349240" cy="1965960"/>
          </a:xfrm>
          <a:prstGeom prst="roundRect">
            <a:avLst>
              <a:gd name="adj" fmla="val 3721"/>
            </a:avLst>
          </a:prstGeom>
          <a:solidFill>
            <a:srgbClr val="132A52"/>
          </a:solidFill>
          <a:ln/>
        </p:spPr>
        <p:txBody>
          <a:bodyPr/>
          <a:lstStyle/>
          <a:p>
            <a:endParaRPr lang="en-IN"/>
          </a:p>
        </p:txBody>
      </p:sp>
      <p:sp>
        <p:nvSpPr>
          <p:cNvPr id="11" name="Shape 9"/>
          <p:cNvSpPr/>
          <p:nvPr/>
        </p:nvSpPr>
        <p:spPr>
          <a:xfrm>
            <a:off x="6309360" y="1508760"/>
            <a:ext cx="109728" cy="1965960"/>
          </a:xfrm>
          <a:prstGeom prst="rect">
            <a:avLst/>
          </a:prstGeom>
          <a:solidFill>
            <a:srgbClr val="2EC4B6"/>
          </a:solidFill>
          <a:ln/>
        </p:spPr>
        <p:txBody>
          <a:bodyPr/>
          <a:lstStyle/>
          <a:p>
            <a:endParaRPr lang="en-IN"/>
          </a:p>
        </p:txBody>
      </p:sp>
      <p:sp>
        <p:nvSpPr>
          <p:cNvPr id="12" name="Text 10"/>
          <p:cNvSpPr/>
          <p:nvPr/>
        </p:nvSpPr>
        <p:spPr>
          <a:xfrm>
            <a:off x="6629400" y="1673352"/>
            <a:ext cx="48006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Punch</a:t>
            </a:r>
            <a:endParaRPr lang="en-US" sz="3200" dirty="0"/>
          </a:p>
        </p:txBody>
      </p:sp>
      <p:sp>
        <p:nvSpPr>
          <p:cNvPr id="13" name="Text 11"/>
          <p:cNvSpPr/>
          <p:nvPr/>
        </p:nvSpPr>
        <p:spPr>
          <a:xfrm>
            <a:off x="6629400" y="2313432"/>
            <a:ext cx="4800600" cy="292608"/>
          </a:xfrm>
          <a:prstGeom prst="rect">
            <a:avLst/>
          </a:prstGeom>
          <a:noFill/>
          <a:ln/>
        </p:spPr>
        <p:txBody>
          <a:bodyPr wrap="square" lIns="0" tIns="0" rIns="0" bIns="0" rtlCol="0" anchor="ctr"/>
          <a:lstStyle/>
          <a:p>
            <a:pPr marL="0" indent="0">
              <a:buNone/>
            </a:pPr>
            <a:r>
              <a:rPr lang="en-US" sz="1200" b="1" dirty="0">
                <a:solidFill>
                  <a:srgbClr val="2EC4B6"/>
                </a:solidFill>
                <a:latin typeface="Calibri" pitchFamily="34" charset="0"/>
                <a:ea typeface="Calibri" pitchFamily="34" charset="-122"/>
                <a:cs typeface="Calibri" pitchFamily="34" charset="-120"/>
              </a:rPr>
              <a:t>BEST COST EFFICIENCY</a:t>
            </a:r>
            <a:endParaRPr lang="en-US" sz="1200" dirty="0"/>
          </a:p>
        </p:txBody>
      </p:sp>
      <p:sp>
        <p:nvSpPr>
          <p:cNvPr id="14" name="Text 12"/>
          <p:cNvSpPr/>
          <p:nvPr/>
        </p:nvSpPr>
        <p:spPr>
          <a:xfrm>
            <a:off x="6629400" y="2624328"/>
            <a:ext cx="4800600" cy="777240"/>
          </a:xfrm>
          <a:prstGeom prst="rect">
            <a:avLst/>
          </a:prstGeom>
          <a:noFill/>
          <a:ln/>
        </p:spPr>
        <p:txBody>
          <a:bodyPr wrap="square" lIns="0" tIns="0" rIns="0" bIns="0" rtlCol="0" anchor="ctr"/>
          <a:lstStyle/>
          <a:p>
            <a:pPr marL="0" indent="0">
              <a:buNone/>
            </a:pPr>
            <a:r>
              <a:rPr lang="en-US" sz="1100" dirty="0">
                <a:solidFill>
                  <a:srgbClr val="9FB0CC"/>
                </a:solidFill>
                <a:latin typeface="Calibri" pitchFamily="34" charset="0"/>
                <a:ea typeface="Calibri" pitchFamily="34" charset="-122"/>
                <a:cs typeface="Calibri" pitchFamily="34" charset="-120"/>
              </a:rPr>
              <a:t>Identified as the model with the best cost-to-price ratio.</a:t>
            </a:r>
            <a:endParaRPr lang="en-US" sz="1100" dirty="0"/>
          </a:p>
        </p:txBody>
      </p:sp>
      <p:sp>
        <p:nvSpPr>
          <p:cNvPr id="15" name="Shape 13"/>
          <p:cNvSpPr/>
          <p:nvPr/>
        </p:nvSpPr>
        <p:spPr>
          <a:xfrm>
            <a:off x="502920" y="3794760"/>
            <a:ext cx="5349240" cy="1965960"/>
          </a:xfrm>
          <a:prstGeom prst="roundRect">
            <a:avLst>
              <a:gd name="adj" fmla="val 3721"/>
            </a:avLst>
          </a:prstGeom>
          <a:solidFill>
            <a:srgbClr val="132A52"/>
          </a:solidFill>
          <a:ln/>
        </p:spPr>
        <p:txBody>
          <a:bodyPr/>
          <a:lstStyle/>
          <a:p>
            <a:endParaRPr lang="en-IN"/>
          </a:p>
        </p:txBody>
      </p:sp>
      <p:sp>
        <p:nvSpPr>
          <p:cNvPr id="16" name="Shape 14"/>
          <p:cNvSpPr/>
          <p:nvPr/>
        </p:nvSpPr>
        <p:spPr>
          <a:xfrm>
            <a:off x="502920" y="3794760"/>
            <a:ext cx="109728" cy="1965960"/>
          </a:xfrm>
          <a:prstGeom prst="rect">
            <a:avLst/>
          </a:prstGeom>
          <a:solidFill>
            <a:srgbClr val="F2994A"/>
          </a:solidFill>
          <a:ln/>
        </p:spPr>
        <p:txBody>
          <a:bodyPr/>
          <a:lstStyle/>
          <a:p>
            <a:endParaRPr lang="en-IN"/>
          </a:p>
        </p:txBody>
      </p:sp>
      <p:sp>
        <p:nvSpPr>
          <p:cNvPr id="17" name="Text 15"/>
          <p:cNvSpPr/>
          <p:nvPr/>
        </p:nvSpPr>
        <p:spPr>
          <a:xfrm>
            <a:off x="822960" y="3959352"/>
            <a:ext cx="48006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86%</a:t>
            </a:r>
            <a:endParaRPr lang="en-US" sz="3200" dirty="0"/>
          </a:p>
        </p:txBody>
      </p:sp>
      <p:sp>
        <p:nvSpPr>
          <p:cNvPr id="18" name="Text 16"/>
          <p:cNvSpPr/>
          <p:nvPr/>
        </p:nvSpPr>
        <p:spPr>
          <a:xfrm>
            <a:off x="822960" y="4599432"/>
            <a:ext cx="4800600" cy="292608"/>
          </a:xfrm>
          <a:prstGeom prst="rect">
            <a:avLst/>
          </a:prstGeom>
          <a:noFill/>
          <a:ln/>
        </p:spPr>
        <p:txBody>
          <a:bodyPr wrap="square" lIns="0" tIns="0" rIns="0" bIns="0" rtlCol="0" anchor="ctr"/>
          <a:lstStyle/>
          <a:p>
            <a:pPr marL="0" indent="0">
              <a:buNone/>
            </a:pPr>
            <a:r>
              <a:rPr lang="en-US" sz="1200" b="1" dirty="0">
                <a:solidFill>
                  <a:srgbClr val="F2994A"/>
                </a:solidFill>
                <a:latin typeface="Calibri" pitchFamily="34" charset="0"/>
                <a:ea typeface="Calibri" pitchFamily="34" charset="-122"/>
                <a:cs typeface="Calibri" pitchFamily="34" charset="-120"/>
              </a:rPr>
              <a:t>DELIVERY SUCCESS RATE</a:t>
            </a:r>
            <a:endParaRPr lang="en-US" sz="1200" dirty="0"/>
          </a:p>
        </p:txBody>
      </p:sp>
      <p:sp>
        <p:nvSpPr>
          <p:cNvPr id="19" name="Text 17"/>
          <p:cNvSpPr/>
          <p:nvPr/>
        </p:nvSpPr>
        <p:spPr>
          <a:xfrm>
            <a:off x="822960" y="4910328"/>
            <a:ext cx="4800600" cy="777240"/>
          </a:xfrm>
          <a:prstGeom prst="rect">
            <a:avLst/>
          </a:prstGeom>
          <a:noFill/>
          <a:ln/>
        </p:spPr>
        <p:txBody>
          <a:bodyPr wrap="square" lIns="0" tIns="0" rIns="0" bIns="0" rtlCol="0" anchor="ctr"/>
          <a:lstStyle/>
          <a:p>
            <a:pPr marL="0" indent="0">
              <a:buNone/>
            </a:pPr>
            <a:r>
              <a:rPr lang="en-US" sz="1100" dirty="0">
                <a:solidFill>
                  <a:srgbClr val="9FB0CC"/>
                </a:solidFill>
                <a:latin typeface="Calibri" pitchFamily="34" charset="0"/>
                <a:ea typeface="Calibri" pitchFamily="34" charset="-122"/>
                <a:cs typeface="Calibri" pitchFamily="34" charset="-120"/>
              </a:rPr>
              <a:t>Solid fulfillment — though ₹12.4 Cr in value remains stuck in pending orders.</a:t>
            </a:r>
            <a:endParaRPr lang="en-US" sz="1100" dirty="0"/>
          </a:p>
        </p:txBody>
      </p:sp>
      <p:sp>
        <p:nvSpPr>
          <p:cNvPr id="20" name="Shape 18"/>
          <p:cNvSpPr/>
          <p:nvPr/>
        </p:nvSpPr>
        <p:spPr>
          <a:xfrm>
            <a:off x="6309360" y="3794760"/>
            <a:ext cx="5349240" cy="1965960"/>
          </a:xfrm>
          <a:prstGeom prst="roundRect">
            <a:avLst>
              <a:gd name="adj" fmla="val 3721"/>
            </a:avLst>
          </a:prstGeom>
          <a:solidFill>
            <a:srgbClr val="132A52"/>
          </a:solidFill>
          <a:ln/>
        </p:spPr>
        <p:txBody>
          <a:bodyPr/>
          <a:lstStyle/>
          <a:p>
            <a:endParaRPr lang="en-IN"/>
          </a:p>
        </p:txBody>
      </p:sp>
      <p:sp>
        <p:nvSpPr>
          <p:cNvPr id="21" name="Shape 19"/>
          <p:cNvSpPr/>
          <p:nvPr/>
        </p:nvSpPr>
        <p:spPr>
          <a:xfrm>
            <a:off x="6309360" y="3794760"/>
            <a:ext cx="109728" cy="1965960"/>
          </a:xfrm>
          <a:prstGeom prst="rect">
            <a:avLst/>
          </a:prstGeom>
          <a:solidFill>
            <a:srgbClr val="F2C94C"/>
          </a:solidFill>
          <a:ln/>
        </p:spPr>
        <p:txBody>
          <a:bodyPr/>
          <a:lstStyle/>
          <a:p>
            <a:endParaRPr lang="en-IN"/>
          </a:p>
        </p:txBody>
      </p:sp>
      <p:sp>
        <p:nvSpPr>
          <p:cNvPr id="22" name="Text 20"/>
          <p:cNvSpPr/>
          <p:nvPr/>
        </p:nvSpPr>
        <p:spPr>
          <a:xfrm>
            <a:off x="6629400" y="3959352"/>
            <a:ext cx="48006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₹4.0 Cr</a:t>
            </a:r>
            <a:endParaRPr lang="en-US" sz="3200" dirty="0"/>
          </a:p>
        </p:txBody>
      </p:sp>
      <p:sp>
        <p:nvSpPr>
          <p:cNvPr id="23" name="Text 21"/>
          <p:cNvSpPr/>
          <p:nvPr/>
        </p:nvSpPr>
        <p:spPr>
          <a:xfrm>
            <a:off x="6629400" y="4599432"/>
            <a:ext cx="4800600" cy="292608"/>
          </a:xfrm>
          <a:prstGeom prst="rect">
            <a:avLst/>
          </a:prstGeom>
          <a:noFill/>
          <a:ln/>
        </p:spPr>
        <p:txBody>
          <a:bodyPr wrap="square" lIns="0" tIns="0" rIns="0" bIns="0" rtlCol="0" anchor="ctr"/>
          <a:lstStyle/>
          <a:p>
            <a:pPr marL="0" indent="0">
              <a:buNone/>
            </a:pPr>
            <a:r>
              <a:rPr lang="en-US" sz="1200" b="1" dirty="0">
                <a:solidFill>
                  <a:srgbClr val="F2C94C"/>
                </a:solidFill>
                <a:latin typeface="Calibri" pitchFamily="34" charset="0"/>
                <a:ea typeface="Calibri" pitchFamily="34" charset="-122"/>
                <a:cs typeface="Calibri" pitchFamily="34" charset="-120"/>
              </a:rPr>
              <a:t>REVENUE REALIZED</a:t>
            </a:r>
            <a:endParaRPr lang="en-US" sz="1200" dirty="0"/>
          </a:p>
        </p:txBody>
      </p:sp>
      <p:sp>
        <p:nvSpPr>
          <p:cNvPr id="24" name="Text 22"/>
          <p:cNvSpPr/>
          <p:nvPr/>
        </p:nvSpPr>
        <p:spPr>
          <a:xfrm>
            <a:off x="6629400" y="4910328"/>
            <a:ext cx="4800600" cy="777240"/>
          </a:xfrm>
          <a:prstGeom prst="rect">
            <a:avLst/>
          </a:prstGeom>
          <a:noFill/>
          <a:ln/>
        </p:spPr>
        <p:txBody>
          <a:bodyPr wrap="square" lIns="0" tIns="0" rIns="0" bIns="0" rtlCol="0" anchor="ctr"/>
          <a:lstStyle/>
          <a:p>
            <a:pPr marL="0" indent="0">
              <a:buNone/>
            </a:pPr>
            <a:r>
              <a:rPr lang="en-US" sz="1100" dirty="0">
                <a:solidFill>
                  <a:srgbClr val="9FB0CC"/>
                </a:solidFill>
                <a:latin typeface="Calibri" pitchFamily="34" charset="0"/>
                <a:ea typeface="Calibri" pitchFamily="34" charset="-122"/>
                <a:cs typeface="Calibri" pitchFamily="34" charset="-120"/>
              </a:rPr>
              <a:t>Recognized revenue from delivered units, with unrealized P&amp;L tied to delayed logistics.</a:t>
            </a:r>
            <a:endParaRPr lang="en-US" sz="1100" dirty="0"/>
          </a:p>
        </p:txBody>
      </p:sp>
      <p:sp>
        <p:nvSpPr>
          <p:cNvPr id="25" name="Text 23"/>
          <p:cNvSpPr/>
          <p:nvPr/>
        </p:nvSpPr>
        <p:spPr>
          <a:xfrm>
            <a:off x="457200" y="6510528"/>
            <a:ext cx="7772400" cy="274320"/>
          </a:xfrm>
          <a:prstGeom prst="rect">
            <a:avLst/>
          </a:prstGeom>
          <a:noFill/>
          <a:ln/>
        </p:spPr>
        <p:txBody>
          <a:bodyPr wrap="square" lIns="0" tIns="0" rIns="0" bIns="0" rtlCol="0" anchor="ctr"/>
          <a:lstStyle/>
          <a:p>
            <a:pPr marL="0" indent="0" algn="l">
              <a:buNone/>
            </a:pPr>
            <a:r>
              <a:rPr lang="en-US" sz="800" dirty="0">
                <a:solidFill>
                  <a:srgbClr val="9FB0CC"/>
                </a:solidFill>
                <a:latin typeface="Calibri" pitchFamily="34" charset="0"/>
                <a:ea typeface="Calibri" pitchFamily="34" charset="-122"/>
                <a:cs typeface="Calibri" pitchFamily="34" charset="-120"/>
              </a:rPr>
              <a:t>TATA MOTORS SALES PERFORMANCE &amp; DELIVERY TRACKING DASHBOARD</a:t>
            </a:r>
            <a:endParaRPr lang="en-US" sz="800" dirty="0"/>
          </a:p>
        </p:txBody>
      </p:sp>
      <p:sp>
        <p:nvSpPr>
          <p:cNvPr id="26" name="Text 24"/>
          <p:cNvSpPr/>
          <p:nvPr/>
        </p:nvSpPr>
        <p:spPr>
          <a:xfrm>
            <a:off x="11277295" y="6510528"/>
            <a:ext cx="457200" cy="274320"/>
          </a:xfrm>
          <a:prstGeom prst="rect">
            <a:avLst/>
          </a:prstGeom>
          <a:noFill/>
          <a:ln/>
        </p:spPr>
        <p:txBody>
          <a:bodyPr wrap="square" lIns="0" tIns="0" rIns="0" bIns="0" rtlCol="0" anchor="ctr"/>
          <a:lstStyle/>
          <a:p>
            <a:pPr marL="0" indent="0" algn="r">
              <a:buNone/>
            </a:pPr>
            <a:r>
              <a:rPr lang="en-US" sz="800" dirty="0">
                <a:solidFill>
                  <a:srgbClr val="9FB0CC"/>
                </a:solidFill>
                <a:latin typeface="Calibri" pitchFamily="34" charset="0"/>
                <a:ea typeface="Calibri" pitchFamily="34" charset="-122"/>
                <a:cs typeface="Calibri" pitchFamily="34" charset="-120"/>
              </a:rPr>
              <a:t>12</a:t>
            </a:r>
            <a:endParaRPr lang="en-US" sz="800" dirty="0"/>
          </a:p>
        </p:txBody>
      </p:sp>
      <p:pic>
        <p:nvPicPr>
          <p:cNvPr id="27" name="Graphic 23" descr="Statistics">
            <a:extLst>
              <a:ext uri="{FF2B5EF4-FFF2-40B4-BE49-F238E27FC236}">
                <a16:creationId xmlns:a16="http://schemas.microsoft.com/office/drawing/2014/main" id="{385C52EA-73E9-AA7D-5B0C-81C0845274F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13165" y="1737360"/>
            <a:ext cx="1035530" cy="1062398"/>
          </a:xfrm>
          <a:prstGeom prst="rect">
            <a:avLst/>
          </a:prstGeom>
        </p:spPr>
      </p:pic>
      <p:pic>
        <p:nvPicPr>
          <p:cNvPr id="28" name="Graphic 29" descr="Bullseye">
            <a:extLst>
              <a:ext uri="{FF2B5EF4-FFF2-40B4-BE49-F238E27FC236}">
                <a16:creationId xmlns:a16="http://schemas.microsoft.com/office/drawing/2014/main" id="{C441B046-9648-4B2E-93D0-176A1135069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093988" y="1849098"/>
            <a:ext cx="1075350" cy="1104414"/>
          </a:xfrm>
          <a:prstGeom prst="rect">
            <a:avLst/>
          </a:prstGeom>
        </p:spPr>
      </p:pic>
      <p:pic>
        <p:nvPicPr>
          <p:cNvPr id="29" name="Graphic 19" descr="Truck">
            <a:extLst>
              <a:ext uri="{FF2B5EF4-FFF2-40B4-BE49-F238E27FC236}">
                <a16:creationId xmlns:a16="http://schemas.microsoft.com/office/drawing/2014/main" id="{988866A3-DB92-0E6E-793A-7DEFCB302D7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322250" y="4050792"/>
            <a:ext cx="1190784" cy="1229222"/>
          </a:xfrm>
          <a:prstGeom prst="rect">
            <a:avLst/>
          </a:prstGeom>
        </p:spPr>
      </p:pic>
      <p:pic>
        <p:nvPicPr>
          <p:cNvPr id="32" name="Graphic 27" descr="Money">
            <a:extLst>
              <a:ext uri="{FF2B5EF4-FFF2-40B4-BE49-F238E27FC236}">
                <a16:creationId xmlns:a16="http://schemas.microsoft.com/office/drawing/2014/main" id="{209F039C-A8C4-AF6C-8507-A12D309AF86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093988" y="3983588"/>
            <a:ext cx="980682" cy="101072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0A1B36"/>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502920"/>
          </a:xfrm>
          <a:prstGeom prst="rect">
            <a:avLst/>
          </a:prstGeom>
          <a:ln/>
        </p:spPr>
        <p:style>
          <a:lnRef idx="0">
            <a:schemeClr val="accent2"/>
          </a:lnRef>
          <a:fillRef idx="3">
            <a:schemeClr val="accent2"/>
          </a:fillRef>
          <a:effectRef idx="3">
            <a:schemeClr val="accent2"/>
          </a:effectRef>
          <a:fontRef idx="minor">
            <a:schemeClr val="lt1"/>
          </a:fontRef>
        </p:style>
        <p:txBody>
          <a:bodyPr wrap="square" lIns="0" tIns="0" rIns="0" bIns="0" rtlCol="0" anchor="ctr"/>
          <a:lstStyle/>
          <a:p>
            <a:pPr marL="0" indent="0" algn="l">
              <a:buNone/>
            </a:pPr>
            <a:r>
              <a:rPr lang="en-US" sz="2600" b="1" kern="0" spc="50" dirty="0">
                <a:solidFill>
                  <a:srgbClr val="FFFFFF"/>
                </a:solidFill>
                <a:latin typeface="Cambria" pitchFamily="34" charset="0"/>
                <a:ea typeface="Cambria" pitchFamily="34" charset="-122"/>
                <a:cs typeface="Cambria" pitchFamily="34" charset="-120"/>
              </a:rPr>
              <a:t>FUTURE PLAN &amp; DASHBOARD SCOPE</a:t>
            </a:r>
            <a:endParaRPr lang="en-US" sz="2600" dirty="0"/>
          </a:p>
        </p:txBody>
      </p:sp>
      <p:sp>
        <p:nvSpPr>
          <p:cNvPr id="3" name="Text 1"/>
          <p:cNvSpPr/>
          <p:nvPr/>
        </p:nvSpPr>
        <p:spPr>
          <a:xfrm>
            <a:off x="502920" y="804672"/>
            <a:ext cx="11155680" cy="292608"/>
          </a:xfrm>
          <a:prstGeom prst="rect">
            <a:avLst/>
          </a:prstGeom>
          <a:noFill/>
          <a:ln/>
        </p:spPr>
        <p:txBody>
          <a:bodyPr wrap="square" lIns="0" tIns="0" rIns="0" bIns="0" rtlCol="0" anchor="ctr"/>
          <a:lstStyle/>
          <a:p>
            <a:pPr marL="0" indent="0" algn="l">
              <a:buNone/>
            </a:pPr>
            <a:r>
              <a:rPr lang="en-US" sz="1250" i="1" dirty="0">
                <a:solidFill>
                  <a:srgbClr val="9FB0CC"/>
                </a:solidFill>
                <a:latin typeface="Calibri" pitchFamily="34" charset="0"/>
                <a:ea typeface="Calibri" pitchFamily="34" charset="-122"/>
                <a:cs typeface="Calibri" pitchFamily="34" charset="-120"/>
              </a:rPr>
              <a:t>From a static tracker to a comprehensive predictive system</a:t>
            </a:r>
            <a:endParaRPr lang="en-US" sz="1250" dirty="0"/>
          </a:p>
        </p:txBody>
      </p:sp>
      <p:sp>
        <p:nvSpPr>
          <p:cNvPr id="4" name="Shape 2"/>
          <p:cNvSpPr/>
          <p:nvPr/>
        </p:nvSpPr>
        <p:spPr>
          <a:xfrm>
            <a:off x="502920" y="1170432"/>
            <a:ext cx="11155680" cy="16459"/>
          </a:xfrm>
          <a:prstGeom prst="rect">
            <a:avLst/>
          </a:prstGeom>
          <a:solidFill>
            <a:srgbClr val="24406F"/>
          </a:solidFill>
          <a:ln/>
        </p:spPr>
        <p:txBody>
          <a:bodyPr/>
          <a:lstStyle/>
          <a:p>
            <a:endParaRPr lang="en-IN"/>
          </a:p>
        </p:txBody>
      </p:sp>
      <p:sp>
        <p:nvSpPr>
          <p:cNvPr id="5" name="Shape 3"/>
          <p:cNvSpPr/>
          <p:nvPr/>
        </p:nvSpPr>
        <p:spPr>
          <a:xfrm>
            <a:off x="502920" y="1508760"/>
            <a:ext cx="5349240" cy="1874520"/>
          </a:xfrm>
          <a:prstGeom prst="roundRect">
            <a:avLst>
              <a:gd name="adj" fmla="val 3902"/>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a:lstStyle/>
          <a:p>
            <a:endParaRPr lang="en-IN"/>
          </a:p>
        </p:txBody>
      </p:sp>
      <p:sp>
        <p:nvSpPr>
          <p:cNvPr id="6" name="Shape 4"/>
          <p:cNvSpPr/>
          <p:nvPr/>
        </p:nvSpPr>
        <p:spPr>
          <a:xfrm>
            <a:off x="777240" y="1801368"/>
            <a:ext cx="777240" cy="777240"/>
          </a:xfrm>
          <a:prstGeom prst="ellipse">
            <a:avLst/>
          </a:prstGeom>
          <a:solidFill>
            <a:srgbClr val="2E75D6"/>
          </a:solidFill>
          <a:ln/>
          <a:effectLst>
            <a:outerShdw blurRad="76200" dist="25400" dir="5400000" algn="bl" rotWithShape="0">
              <a:srgbClr val="000000">
                <a:alpha val="35000"/>
              </a:srgbClr>
            </a:outerShdw>
          </a:effectLst>
        </p:spPr>
        <p:txBody>
          <a:bodyPr/>
          <a:lstStyle/>
          <a:p>
            <a:endParaRPr lang="en-IN"/>
          </a:p>
        </p:txBody>
      </p:sp>
      <p:sp>
        <p:nvSpPr>
          <p:cNvPr id="7" name="Text 5"/>
          <p:cNvSpPr/>
          <p:nvPr/>
        </p:nvSpPr>
        <p:spPr>
          <a:xfrm>
            <a:off x="777240" y="1801368"/>
            <a:ext cx="777240" cy="777240"/>
          </a:xfrm>
          <a:prstGeom prst="rect">
            <a:avLst/>
          </a:prstGeom>
          <a:noFill/>
          <a:ln/>
        </p:spPr>
        <p:txBody>
          <a:bodyPr wrap="square" lIns="0" tIns="0" rIns="0" bIns="0" rtlCol="0" anchor="ctr"/>
          <a:lstStyle/>
          <a:p>
            <a:pPr marL="0" indent="0" algn="ctr">
              <a:buNone/>
            </a:pPr>
            <a:r>
              <a:rPr lang="en-US" sz="2210" b="1" dirty="0">
                <a:solidFill>
                  <a:srgbClr val="FFFFFF"/>
                </a:solidFill>
                <a:latin typeface="Calibri" pitchFamily="34" charset="0"/>
                <a:ea typeface="Calibri" pitchFamily="34" charset="-122"/>
                <a:cs typeface="Calibri" pitchFamily="34" charset="-120"/>
              </a:rPr>
              <a:t>→</a:t>
            </a:r>
            <a:endParaRPr lang="en-US" sz="2210" dirty="0"/>
          </a:p>
        </p:txBody>
      </p:sp>
      <p:sp>
        <p:nvSpPr>
          <p:cNvPr id="8" name="Text 6"/>
          <p:cNvSpPr/>
          <p:nvPr/>
        </p:nvSpPr>
        <p:spPr>
          <a:xfrm>
            <a:off x="1737360" y="1764792"/>
            <a:ext cx="3886200" cy="54864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Customer ID &amp; Demographics</a:t>
            </a:r>
            <a:endParaRPr lang="en-US" sz="1500" dirty="0"/>
          </a:p>
        </p:txBody>
      </p:sp>
      <p:sp>
        <p:nvSpPr>
          <p:cNvPr id="9" name="Text 7"/>
          <p:cNvSpPr/>
          <p:nvPr/>
        </p:nvSpPr>
        <p:spPr>
          <a:xfrm>
            <a:off x="1737360" y="2286000"/>
            <a:ext cx="3886200" cy="960120"/>
          </a:xfrm>
          <a:prstGeom prst="rect">
            <a:avLst/>
          </a:prstGeom>
          <a:noFill/>
          <a:ln/>
        </p:spPr>
        <p:txBody>
          <a:bodyPr wrap="square" lIns="0" tIns="0" rIns="0" bIns="0" rtlCol="0" anchor="t"/>
          <a:lstStyle/>
          <a:p>
            <a:pPr marL="0" indent="0">
              <a:buNone/>
            </a:pPr>
            <a:r>
              <a:rPr lang="en-US" sz="1150" dirty="0">
                <a:solidFill>
                  <a:srgbClr val="9FB0CC"/>
                </a:solidFill>
                <a:latin typeface="Calibri" pitchFamily="34" charset="0"/>
                <a:ea typeface="Calibri" pitchFamily="34" charset="-122"/>
                <a:cs typeface="Calibri" pitchFamily="34" charset="-120"/>
              </a:rPr>
              <a:t>Enable loyalty tracking, customer segmentation, and repeat-buyer analysis.</a:t>
            </a:r>
            <a:endParaRPr lang="en-US" sz="1150" dirty="0"/>
          </a:p>
        </p:txBody>
      </p:sp>
      <p:sp>
        <p:nvSpPr>
          <p:cNvPr id="10" name="Shape 8"/>
          <p:cNvSpPr/>
          <p:nvPr/>
        </p:nvSpPr>
        <p:spPr>
          <a:xfrm>
            <a:off x="6309360" y="1508760"/>
            <a:ext cx="5349240" cy="1874520"/>
          </a:xfrm>
          <a:prstGeom prst="roundRect">
            <a:avLst>
              <a:gd name="adj" fmla="val 3902"/>
            </a:avLst>
          </a:prstGeom>
          <a:solidFill>
            <a:srgbClr val="132A52"/>
          </a:solidFill>
          <a:ln w="12700">
            <a:solidFill>
              <a:srgbClr val="24406F"/>
            </a:solidFill>
            <a:prstDash val="solid"/>
          </a:ln>
        </p:spPr>
        <p:txBody>
          <a:bodyPr/>
          <a:lstStyle/>
          <a:p>
            <a:endParaRPr lang="en-IN"/>
          </a:p>
        </p:txBody>
      </p:sp>
      <p:sp>
        <p:nvSpPr>
          <p:cNvPr id="11" name="Shape 9"/>
          <p:cNvSpPr/>
          <p:nvPr/>
        </p:nvSpPr>
        <p:spPr>
          <a:xfrm>
            <a:off x="6583680" y="1801368"/>
            <a:ext cx="777240" cy="777240"/>
          </a:xfrm>
          <a:prstGeom prst="ellipse">
            <a:avLst/>
          </a:prstGeom>
          <a:solidFill>
            <a:srgbClr val="2EC4B6"/>
          </a:solidFill>
          <a:ln/>
          <a:effectLst>
            <a:outerShdw blurRad="76200" dist="25400" dir="5400000" algn="bl" rotWithShape="0">
              <a:srgbClr val="000000">
                <a:alpha val="35000"/>
              </a:srgbClr>
            </a:outerShdw>
          </a:effectLst>
        </p:spPr>
        <p:txBody>
          <a:bodyPr/>
          <a:lstStyle/>
          <a:p>
            <a:endParaRPr lang="en-IN"/>
          </a:p>
        </p:txBody>
      </p:sp>
      <p:sp>
        <p:nvSpPr>
          <p:cNvPr id="12" name="Text 10"/>
          <p:cNvSpPr/>
          <p:nvPr/>
        </p:nvSpPr>
        <p:spPr>
          <a:xfrm>
            <a:off x="6583680" y="1801368"/>
            <a:ext cx="777240" cy="777240"/>
          </a:xfrm>
          <a:prstGeom prst="rect">
            <a:avLst/>
          </a:prstGeom>
          <a:noFill/>
          <a:ln/>
        </p:spPr>
        <p:txBody>
          <a:bodyPr wrap="square" lIns="0" tIns="0" rIns="0" bIns="0" rtlCol="0" anchor="ctr"/>
          <a:lstStyle/>
          <a:p>
            <a:pPr marL="0" indent="0" algn="ctr">
              <a:buNone/>
            </a:pPr>
            <a:r>
              <a:rPr lang="en-US" sz="2210" b="1" dirty="0">
                <a:solidFill>
                  <a:srgbClr val="FFFFFF"/>
                </a:solidFill>
                <a:latin typeface="Calibri" pitchFamily="34" charset="0"/>
                <a:ea typeface="Calibri" pitchFamily="34" charset="-122"/>
                <a:cs typeface="Calibri" pitchFamily="34" charset="-120"/>
              </a:rPr>
              <a:t>→</a:t>
            </a:r>
            <a:endParaRPr lang="en-US" sz="2210" dirty="0"/>
          </a:p>
        </p:txBody>
      </p:sp>
      <p:sp>
        <p:nvSpPr>
          <p:cNvPr id="13" name="Text 11"/>
          <p:cNvSpPr/>
          <p:nvPr/>
        </p:nvSpPr>
        <p:spPr>
          <a:xfrm>
            <a:off x="7543800" y="1764792"/>
            <a:ext cx="3886200" cy="54864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Sale / Booking Date</a:t>
            </a:r>
            <a:endParaRPr lang="en-US" sz="1500" dirty="0"/>
          </a:p>
        </p:txBody>
      </p:sp>
      <p:sp>
        <p:nvSpPr>
          <p:cNvPr id="14" name="Text 12"/>
          <p:cNvSpPr/>
          <p:nvPr/>
        </p:nvSpPr>
        <p:spPr>
          <a:xfrm>
            <a:off x="7543800" y="2286000"/>
            <a:ext cx="3886200" cy="960120"/>
          </a:xfrm>
          <a:prstGeom prst="rect">
            <a:avLst/>
          </a:prstGeom>
          <a:noFill/>
          <a:ln/>
        </p:spPr>
        <p:txBody>
          <a:bodyPr wrap="square" lIns="0" tIns="0" rIns="0" bIns="0" rtlCol="0" anchor="t"/>
          <a:lstStyle/>
          <a:p>
            <a:pPr marL="0" indent="0">
              <a:buNone/>
            </a:pPr>
            <a:r>
              <a:rPr lang="en-US" sz="1150" dirty="0">
                <a:solidFill>
                  <a:srgbClr val="9FB0CC"/>
                </a:solidFill>
                <a:latin typeface="Calibri" pitchFamily="34" charset="0"/>
                <a:ea typeface="Calibri" pitchFamily="34" charset="-122"/>
                <a:cs typeface="Calibri" pitchFamily="34" charset="-120"/>
              </a:rPr>
              <a:t>Unlock Month-over-Month and Year-over-Year revenue trend charts.</a:t>
            </a:r>
            <a:endParaRPr lang="en-US" sz="1150" dirty="0"/>
          </a:p>
        </p:txBody>
      </p:sp>
      <p:sp>
        <p:nvSpPr>
          <p:cNvPr id="15" name="Shape 13"/>
          <p:cNvSpPr/>
          <p:nvPr/>
        </p:nvSpPr>
        <p:spPr>
          <a:xfrm>
            <a:off x="502920" y="3749040"/>
            <a:ext cx="5349240" cy="1874520"/>
          </a:xfrm>
          <a:prstGeom prst="roundRect">
            <a:avLst>
              <a:gd name="adj" fmla="val 3902"/>
            </a:avLst>
          </a:prstGeom>
          <a:solidFill>
            <a:srgbClr val="132A52"/>
          </a:solidFill>
          <a:ln w="12700">
            <a:solidFill>
              <a:srgbClr val="24406F"/>
            </a:solidFill>
            <a:prstDash val="solid"/>
          </a:ln>
        </p:spPr>
        <p:txBody>
          <a:bodyPr/>
          <a:lstStyle/>
          <a:p>
            <a:endParaRPr lang="en-IN"/>
          </a:p>
        </p:txBody>
      </p:sp>
      <p:sp>
        <p:nvSpPr>
          <p:cNvPr id="16" name="Shape 14"/>
          <p:cNvSpPr/>
          <p:nvPr/>
        </p:nvSpPr>
        <p:spPr>
          <a:xfrm>
            <a:off x="777240" y="4041648"/>
            <a:ext cx="777240" cy="777240"/>
          </a:xfrm>
          <a:prstGeom prst="ellipse">
            <a:avLst/>
          </a:prstGeom>
          <a:solidFill>
            <a:srgbClr val="F2994A"/>
          </a:solidFill>
          <a:ln/>
          <a:effectLst>
            <a:outerShdw blurRad="76200" dist="25400" dir="5400000" algn="bl" rotWithShape="0">
              <a:srgbClr val="000000">
                <a:alpha val="35000"/>
              </a:srgbClr>
            </a:outerShdw>
          </a:effectLst>
        </p:spPr>
        <p:txBody>
          <a:bodyPr/>
          <a:lstStyle/>
          <a:p>
            <a:endParaRPr lang="en-IN"/>
          </a:p>
        </p:txBody>
      </p:sp>
      <p:sp>
        <p:nvSpPr>
          <p:cNvPr id="17" name="Text 15"/>
          <p:cNvSpPr/>
          <p:nvPr/>
        </p:nvSpPr>
        <p:spPr>
          <a:xfrm>
            <a:off x="777240" y="4041648"/>
            <a:ext cx="777240" cy="777240"/>
          </a:xfrm>
          <a:prstGeom prst="rect">
            <a:avLst/>
          </a:prstGeom>
          <a:noFill/>
          <a:ln/>
        </p:spPr>
        <p:txBody>
          <a:bodyPr wrap="square" lIns="0" tIns="0" rIns="0" bIns="0" rtlCol="0" anchor="ctr"/>
          <a:lstStyle/>
          <a:p>
            <a:pPr marL="0" indent="0" algn="ctr">
              <a:buNone/>
            </a:pPr>
            <a:r>
              <a:rPr lang="en-US" sz="2210" b="1" dirty="0">
                <a:solidFill>
                  <a:srgbClr val="FFFFFF"/>
                </a:solidFill>
                <a:latin typeface="Calibri" pitchFamily="34" charset="0"/>
                <a:ea typeface="Calibri" pitchFamily="34" charset="-122"/>
                <a:cs typeface="Calibri" pitchFamily="34" charset="-120"/>
              </a:rPr>
              <a:t>→</a:t>
            </a:r>
            <a:endParaRPr lang="en-US" sz="2210" dirty="0"/>
          </a:p>
        </p:txBody>
      </p:sp>
      <p:sp>
        <p:nvSpPr>
          <p:cNvPr id="18" name="Text 16"/>
          <p:cNvSpPr/>
          <p:nvPr/>
        </p:nvSpPr>
        <p:spPr>
          <a:xfrm>
            <a:off x="1737360" y="4005072"/>
            <a:ext cx="3886200" cy="54864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Salesperson Information</a:t>
            </a:r>
            <a:endParaRPr lang="en-US" sz="1500" dirty="0"/>
          </a:p>
        </p:txBody>
      </p:sp>
      <p:sp>
        <p:nvSpPr>
          <p:cNvPr id="19" name="Text 17"/>
          <p:cNvSpPr/>
          <p:nvPr/>
        </p:nvSpPr>
        <p:spPr>
          <a:xfrm>
            <a:off x="1737360" y="4526280"/>
            <a:ext cx="3886200" cy="960120"/>
          </a:xfrm>
          <a:prstGeom prst="rect">
            <a:avLst/>
          </a:prstGeom>
          <a:noFill/>
          <a:ln/>
        </p:spPr>
        <p:txBody>
          <a:bodyPr wrap="square" lIns="0" tIns="0" rIns="0" bIns="0" rtlCol="0" anchor="t"/>
          <a:lstStyle/>
          <a:p>
            <a:pPr marL="0" indent="0">
              <a:buNone/>
            </a:pPr>
            <a:r>
              <a:rPr lang="en-US" sz="1150" dirty="0">
                <a:solidFill>
                  <a:srgbClr val="9FB0CC"/>
                </a:solidFill>
                <a:latin typeface="Calibri" pitchFamily="34" charset="0"/>
                <a:ea typeface="Calibri" pitchFamily="34" charset="-122"/>
                <a:cs typeface="Calibri" pitchFamily="34" charset="-120"/>
              </a:rPr>
              <a:t>Introduce a Salesman Leaderboard for performance &amp; commission analysis.</a:t>
            </a:r>
            <a:endParaRPr lang="en-US" sz="1150" dirty="0"/>
          </a:p>
        </p:txBody>
      </p:sp>
      <p:sp>
        <p:nvSpPr>
          <p:cNvPr id="20" name="Shape 18"/>
          <p:cNvSpPr/>
          <p:nvPr/>
        </p:nvSpPr>
        <p:spPr>
          <a:xfrm>
            <a:off x="6309360" y="3749040"/>
            <a:ext cx="5349240" cy="1874520"/>
          </a:xfrm>
          <a:prstGeom prst="roundRect">
            <a:avLst>
              <a:gd name="adj" fmla="val 3902"/>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a:lstStyle/>
          <a:p>
            <a:endParaRPr lang="en-IN"/>
          </a:p>
        </p:txBody>
      </p:sp>
      <p:sp>
        <p:nvSpPr>
          <p:cNvPr id="21" name="Shape 19"/>
          <p:cNvSpPr/>
          <p:nvPr/>
        </p:nvSpPr>
        <p:spPr>
          <a:xfrm>
            <a:off x="6583680" y="4041648"/>
            <a:ext cx="777240" cy="777240"/>
          </a:xfrm>
          <a:prstGeom prst="ellipse">
            <a:avLst/>
          </a:prstGeom>
          <a:solidFill>
            <a:srgbClr val="F2C94C"/>
          </a:solidFill>
          <a:ln/>
          <a:effectLst>
            <a:outerShdw blurRad="76200" dist="25400" dir="5400000" algn="bl" rotWithShape="0">
              <a:srgbClr val="000000">
                <a:alpha val="35000"/>
              </a:srgbClr>
            </a:outerShdw>
          </a:effectLst>
        </p:spPr>
        <p:txBody>
          <a:bodyPr/>
          <a:lstStyle/>
          <a:p>
            <a:endParaRPr lang="en-IN"/>
          </a:p>
        </p:txBody>
      </p:sp>
      <p:sp>
        <p:nvSpPr>
          <p:cNvPr id="22" name="Text 20"/>
          <p:cNvSpPr/>
          <p:nvPr/>
        </p:nvSpPr>
        <p:spPr>
          <a:xfrm>
            <a:off x="6583680" y="4041648"/>
            <a:ext cx="777240" cy="777240"/>
          </a:xfrm>
          <a:prstGeom prst="rect">
            <a:avLst/>
          </a:prstGeom>
          <a:noFill/>
          <a:ln/>
        </p:spPr>
        <p:txBody>
          <a:bodyPr wrap="square" lIns="0" tIns="0" rIns="0" bIns="0" rtlCol="0" anchor="ctr"/>
          <a:lstStyle/>
          <a:p>
            <a:pPr marL="0" indent="0" algn="ctr">
              <a:buNone/>
            </a:pPr>
            <a:r>
              <a:rPr lang="en-US" sz="2210" b="1" dirty="0">
                <a:solidFill>
                  <a:srgbClr val="FFFFFF"/>
                </a:solidFill>
                <a:latin typeface="Calibri" pitchFamily="34" charset="0"/>
                <a:ea typeface="Calibri" pitchFamily="34" charset="-122"/>
                <a:cs typeface="Calibri" pitchFamily="34" charset="-120"/>
              </a:rPr>
              <a:t>→</a:t>
            </a:r>
            <a:endParaRPr lang="en-US" sz="2210" dirty="0"/>
          </a:p>
        </p:txBody>
      </p:sp>
      <p:sp>
        <p:nvSpPr>
          <p:cNvPr id="23" name="Text 21"/>
          <p:cNvSpPr/>
          <p:nvPr/>
        </p:nvSpPr>
        <p:spPr>
          <a:xfrm>
            <a:off x="7543800" y="4005072"/>
            <a:ext cx="3886200" cy="54864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Dynamic Slicers &amp; Automation</a:t>
            </a:r>
            <a:endParaRPr lang="en-US" sz="1500" dirty="0"/>
          </a:p>
        </p:txBody>
      </p:sp>
      <p:sp>
        <p:nvSpPr>
          <p:cNvPr id="24" name="Text 22"/>
          <p:cNvSpPr/>
          <p:nvPr/>
        </p:nvSpPr>
        <p:spPr>
          <a:xfrm>
            <a:off x="7543800" y="4526280"/>
            <a:ext cx="3886200" cy="960120"/>
          </a:xfrm>
          <a:prstGeom prst="rect">
            <a:avLst/>
          </a:prstGeom>
          <a:noFill/>
          <a:ln/>
        </p:spPr>
        <p:txBody>
          <a:bodyPr wrap="square" lIns="0" tIns="0" rIns="0" bIns="0" rtlCol="0" anchor="t"/>
          <a:lstStyle/>
          <a:p>
            <a:pPr marL="0" indent="0">
              <a:buNone/>
            </a:pPr>
            <a:r>
              <a:rPr lang="en-US" sz="1150" dirty="0">
                <a:solidFill>
                  <a:srgbClr val="9FB0CC"/>
                </a:solidFill>
                <a:latin typeface="Calibri" pitchFamily="34" charset="0"/>
                <a:ea typeface="Calibri" pitchFamily="34" charset="-122"/>
                <a:cs typeface="Calibri" pitchFamily="34" charset="-120"/>
              </a:rPr>
              <a:t>Integrate Power Query for automated, seamless CRM database exports.</a:t>
            </a:r>
            <a:endParaRPr lang="en-US" sz="1150" dirty="0"/>
          </a:p>
        </p:txBody>
      </p:sp>
      <p:sp>
        <p:nvSpPr>
          <p:cNvPr id="25" name="Text 23"/>
          <p:cNvSpPr/>
          <p:nvPr/>
        </p:nvSpPr>
        <p:spPr>
          <a:xfrm>
            <a:off x="457200" y="6510528"/>
            <a:ext cx="7772400" cy="274320"/>
          </a:xfrm>
          <a:prstGeom prst="rect">
            <a:avLst/>
          </a:prstGeom>
          <a:noFill/>
          <a:ln/>
        </p:spPr>
        <p:txBody>
          <a:bodyPr wrap="square" lIns="0" tIns="0" rIns="0" bIns="0" rtlCol="0" anchor="ctr"/>
          <a:lstStyle/>
          <a:p>
            <a:pPr marL="0" indent="0" algn="l">
              <a:buNone/>
            </a:pPr>
            <a:r>
              <a:rPr lang="en-US" sz="800" dirty="0">
                <a:solidFill>
                  <a:srgbClr val="9FB0CC"/>
                </a:solidFill>
                <a:latin typeface="Calibri" pitchFamily="34" charset="0"/>
                <a:ea typeface="Calibri" pitchFamily="34" charset="-122"/>
                <a:cs typeface="Calibri" pitchFamily="34" charset="-120"/>
              </a:rPr>
              <a:t>TATA MOTORS SALES PERFORMANCE &amp; DELIVERY TRACKING DASHBOARD</a:t>
            </a:r>
            <a:endParaRPr lang="en-US" sz="800" dirty="0"/>
          </a:p>
        </p:txBody>
      </p:sp>
      <p:sp>
        <p:nvSpPr>
          <p:cNvPr id="26" name="Text 24"/>
          <p:cNvSpPr/>
          <p:nvPr/>
        </p:nvSpPr>
        <p:spPr>
          <a:xfrm>
            <a:off x="11277295" y="6510528"/>
            <a:ext cx="457200" cy="274320"/>
          </a:xfrm>
          <a:prstGeom prst="rect">
            <a:avLst/>
          </a:prstGeom>
          <a:noFill/>
          <a:ln/>
        </p:spPr>
        <p:txBody>
          <a:bodyPr wrap="square" lIns="0" tIns="0" rIns="0" bIns="0" rtlCol="0" anchor="ctr"/>
          <a:lstStyle/>
          <a:p>
            <a:pPr marL="0" indent="0" algn="r">
              <a:buNone/>
            </a:pPr>
            <a:r>
              <a:rPr lang="en-US" sz="800" dirty="0">
                <a:solidFill>
                  <a:srgbClr val="9FB0CC"/>
                </a:solidFill>
                <a:latin typeface="Calibri" pitchFamily="34" charset="0"/>
                <a:ea typeface="Calibri" pitchFamily="34" charset="-122"/>
                <a:cs typeface="Calibri" pitchFamily="34" charset="-120"/>
              </a:rPr>
              <a:t>14</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0A1B36"/>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502920"/>
          </a:xfrm>
          <a:prstGeom prst="rect">
            <a:avLst/>
          </a:prstGeom>
          <a:ln/>
        </p:spPr>
        <p:style>
          <a:lnRef idx="0">
            <a:schemeClr val="accent2"/>
          </a:lnRef>
          <a:fillRef idx="3">
            <a:schemeClr val="accent2"/>
          </a:fillRef>
          <a:effectRef idx="3">
            <a:schemeClr val="accent2"/>
          </a:effectRef>
          <a:fontRef idx="minor">
            <a:schemeClr val="lt1"/>
          </a:fontRef>
        </p:style>
        <p:txBody>
          <a:bodyPr wrap="square" lIns="0" tIns="0" rIns="0" bIns="0" rtlCol="0" anchor="ctr"/>
          <a:lstStyle/>
          <a:p>
            <a:pPr marL="0" indent="0" algn="l">
              <a:buNone/>
            </a:pPr>
            <a:r>
              <a:rPr lang="en-US" sz="2600" b="1" kern="0" spc="50" dirty="0">
                <a:solidFill>
                  <a:srgbClr val="FFFFFF"/>
                </a:solidFill>
                <a:latin typeface="Cambria" pitchFamily="34" charset="0"/>
                <a:ea typeface="Cambria" pitchFamily="34" charset="-122"/>
                <a:cs typeface="Cambria" pitchFamily="34" charset="-120"/>
              </a:rPr>
              <a:t>APPENDIX — PIVOT ENGINE EXTRACT:</a:t>
            </a:r>
            <a:endParaRPr lang="en-US" sz="2600" dirty="0"/>
          </a:p>
        </p:txBody>
      </p:sp>
      <p:sp>
        <p:nvSpPr>
          <p:cNvPr id="3" name="Text 1"/>
          <p:cNvSpPr/>
          <p:nvPr/>
        </p:nvSpPr>
        <p:spPr>
          <a:xfrm>
            <a:off x="502920" y="804672"/>
            <a:ext cx="11155680" cy="292608"/>
          </a:xfrm>
          <a:prstGeom prst="rect">
            <a:avLst/>
          </a:prstGeom>
          <a:noFill/>
          <a:ln/>
        </p:spPr>
        <p:txBody>
          <a:bodyPr wrap="square" lIns="0" tIns="0" rIns="0" bIns="0" rtlCol="0" anchor="ctr"/>
          <a:lstStyle/>
          <a:p>
            <a:pPr marL="0" indent="0" algn="l">
              <a:buNone/>
            </a:pPr>
            <a:r>
              <a:rPr lang="en-US" sz="1250" i="1" dirty="0">
                <a:solidFill>
                  <a:srgbClr val="9FB0CC"/>
                </a:solidFill>
                <a:latin typeface="Calibri" pitchFamily="34" charset="0"/>
                <a:ea typeface="Calibri" pitchFamily="34" charset="-122"/>
                <a:cs typeface="Calibri" pitchFamily="34" charset="-120"/>
              </a:rPr>
              <a:t>Sample aggregation output feeding the dashboard (city_wise_analysis tab)</a:t>
            </a:r>
            <a:endParaRPr lang="en-US" sz="1250" dirty="0"/>
          </a:p>
        </p:txBody>
      </p:sp>
      <p:sp>
        <p:nvSpPr>
          <p:cNvPr id="4" name="Shape 2"/>
          <p:cNvSpPr/>
          <p:nvPr/>
        </p:nvSpPr>
        <p:spPr>
          <a:xfrm>
            <a:off x="502920" y="1170432"/>
            <a:ext cx="11155680" cy="16459"/>
          </a:xfrm>
          <a:prstGeom prst="rect">
            <a:avLst/>
          </a:prstGeom>
          <a:solidFill>
            <a:srgbClr val="24406F"/>
          </a:solidFill>
          <a:ln/>
        </p:spPr>
        <p:txBody>
          <a:bodyPr/>
          <a:lstStyle/>
          <a:p>
            <a:endParaRPr lang="en-IN"/>
          </a:p>
        </p:txBody>
      </p:sp>
      <p:graphicFrame>
        <p:nvGraphicFramePr>
          <p:cNvPr id="16" name="Table 0"/>
          <p:cNvGraphicFramePr>
            <a:graphicFrameLocks noGrp="1"/>
          </p:cNvGraphicFramePr>
          <p:nvPr>
            <p:extLst>
              <p:ext uri="{D42A27DB-BD31-4B8C-83A1-F6EECF244321}">
                <p14:modId xmlns:p14="http://schemas.microsoft.com/office/powerpoint/2010/main" val="1156361310"/>
              </p:ext>
            </p:extLst>
          </p:nvPr>
        </p:nvGraphicFramePr>
        <p:xfrm>
          <a:off x="345341" y="1461530"/>
          <a:ext cx="9601200" cy="2194560"/>
        </p:xfrm>
        <a:graphic>
          <a:graphicData uri="http://schemas.openxmlformats.org/drawingml/2006/table">
            <a:tbl>
              <a:tblPr>
                <a:tableStyleId>{35758FB7-9AC5-4552-8A53-C91805E547FA}</a:tableStyleId>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548640">
                <a:tc>
                  <a:txBody>
                    <a:bodyPr/>
                    <a:lstStyle/>
                    <a:p>
                      <a:pPr marL="0" indent="0" algn="ctr">
                        <a:buNone/>
                      </a:pPr>
                      <a:r>
                        <a:rPr lang="en-US" sz="1300" b="1" dirty="0">
                          <a:solidFill>
                            <a:srgbClr val="FFFFFF"/>
                          </a:solidFill>
                        </a:rPr>
                        <a:t>City</a:t>
                      </a:r>
                      <a:endParaRPr lang="en-US" sz="1300" dirty="0">
                        <a:latin typeface="Calibri" charset="0"/>
                        <a:ea typeface="Calibri" charset="0"/>
                        <a:cs typeface="Calibri" charset="0"/>
                      </a:endParaRPr>
                    </a:p>
                  </a:txBody>
                  <a:tcPr anchor="ctr">
                    <a:solidFill>
                      <a:srgbClr val="002060"/>
                    </a:solidFill>
                  </a:tcPr>
                </a:tc>
                <a:tc>
                  <a:txBody>
                    <a:bodyPr/>
                    <a:lstStyle/>
                    <a:p>
                      <a:pPr marL="0" indent="0" algn="ctr">
                        <a:buNone/>
                      </a:pPr>
                      <a:r>
                        <a:rPr lang="en-US" sz="1300" b="1" dirty="0">
                          <a:solidFill>
                            <a:srgbClr val="FFFFFF"/>
                          </a:solidFill>
                        </a:rPr>
                        <a:t>Cars Sold</a:t>
                      </a:r>
                      <a:endParaRPr lang="en-US" sz="1300" dirty="0">
                        <a:latin typeface="Calibri" charset="0"/>
                        <a:ea typeface="Calibri" charset="0"/>
                        <a:cs typeface="Calibri" charset="0"/>
                      </a:endParaRPr>
                    </a:p>
                  </a:txBody>
                  <a:tcPr anchor="ctr">
                    <a:solidFill>
                      <a:srgbClr val="002060"/>
                    </a:solidFill>
                  </a:tcPr>
                </a:tc>
                <a:tc>
                  <a:txBody>
                    <a:bodyPr/>
                    <a:lstStyle/>
                    <a:p>
                      <a:pPr marL="0" indent="0" algn="ctr">
                        <a:buNone/>
                      </a:pPr>
                      <a:r>
                        <a:rPr lang="en-US" sz="1300" b="1" dirty="0">
                          <a:solidFill>
                            <a:srgbClr val="FFFFFF"/>
                          </a:solidFill>
                        </a:rPr>
                        <a:t>Total Sales (₹)</a:t>
                      </a:r>
                      <a:endParaRPr lang="en-US" sz="1300" dirty="0">
                        <a:latin typeface="Calibri" charset="0"/>
                        <a:ea typeface="Calibri" charset="0"/>
                        <a:cs typeface="Calibri" charset="0"/>
                      </a:endParaRPr>
                    </a:p>
                  </a:txBody>
                  <a:tcPr anchor="ctr">
                    <a:solidFill>
                      <a:srgbClr val="002060"/>
                    </a:solidFill>
                  </a:tcPr>
                </a:tc>
                <a:tc>
                  <a:txBody>
                    <a:bodyPr/>
                    <a:lstStyle/>
                    <a:p>
                      <a:pPr marL="0" indent="0" algn="ctr">
                        <a:buNone/>
                      </a:pPr>
                      <a:r>
                        <a:rPr lang="en-US" sz="1300" b="1" dirty="0">
                          <a:solidFill>
                            <a:srgbClr val="FFFFFF"/>
                          </a:solidFill>
                        </a:rPr>
                        <a:t>Average Sale Price (₹)</a:t>
                      </a:r>
                      <a:endParaRPr lang="en-US" sz="1300" dirty="0">
                        <a:latin typeface="Calibri" charset="0"/>
                        <a:ea typeface="Calibri" charset="0"/>
                        <a:cs typeface="Calibri" charset="0"/>
                      </a:endParaRPr>
                    </a:p>
                  </a:txBody>
                  <a:tcPr anchor="ctr">
                    <a:solidFill>
                      <a:srgbClr val="002060"/>
                    </a:solidFill>
                  </a:tcPr>
                </a:tc>
                <a:extLst>
                  <a:ext uri="{0D108BD9-81ED-4DB2-BD59-A6C34878D82A}">
                    <a16:rowId xmlns:a16="http://schemas.microsoft.com/office/drawing/2014/main" val="10000"/>
                  </a:ext>
                </a:extLst>
              </a:tr>
              <a:tr h="548640">
                <a:tc>
                  <a:txBody>
                    <a:bodyPr/>
                    <a:lstStyle/>
                    <a:p>
                      <a:pPr marL="0" indent="0" algn="ctr">
                        <a:buNone/>
                      </a:pPr>
                      <a:r>
                        <a:rPr lang="en-US" sz="1400" b="1" dirty="0">
                          <a:solidFill>
                            <a:schemeClr val="accent1">
                              <a:lumMod val="50000"/>
                            </a:schemeClr>
                          </a:solidFill>
                        </a:rPr>
                        <a:t>Metro</a:t>
                      </a:r>
                      <a:endParaRPr lang="en-US" sz="1400" b="1" dirty="0">
                        <a:solidFill>
                          <a:schemeClr val="accent1">
                            <a:lumMod val="50000"/>
                          </a:schemeClr>
                        </a:solidFill>
                        <a:latin typeface="Calibri" charset="0"/>
                        <a:ea typeface="Calibri" charset="0"/>
                        <a:cs typeface="Calibri" charset="0"/>
                      </a:endParaRPr>
                    </a:p>
                  </a:txBody>
                  <a:tcPr anchor="ctr"/>
                </a:tc>
                <a:tc>
                  <a:txBody>
                    <a:bodyPr/>
                    <a:lstStyle/>
                    <a:p>
                      <a:pPr marL="0" indent="0" algn="ctr">
                        <a:buNone/>
                      </a:pPr>
                      <a:r>
                        <a:rPr lang="en-US" sz="1400" b="1" dirty="0">
                          <a:solidFill>
                            <a:schemeClr val="accent1">
                              <a:lumMod val="50000"/>
                            </a:schemeClr>
                          </a:solidFill>
                        </a:rPr>
                        <a:t>17</a:t>
                      </a:r>
                      <a:endParaRPr lang="en-US" sz="1400" b="1" dirty="0">
                        <a:solidFill>
                          <a:schemeClr val="accent1">
                            <a:lumMod val="50000"/>
                          </a:schemeClr>
                        </a:solidFill>
                        <a:latin typeface="Calibri" charset="0"/>
                        <a:ea typeface="Calibri" charset="0"/>
                        <a:cs typeface="Calibri" charset="0"/>
                      </a:endParaRPr>
                    </a:p>
                  </a:txBody>
                  <a:tcPr anchor="ctr"/>
                </a:tc>
                <a:tc>
                  <a:txBody>
                    <a:bodyPr/>
                    <a:lstStyle/>
                    <a:p>
                      <a:pPr marL="0" indent="0" algn="ctr">
                        <a:buNone/>
                      </a:pPr>
                      <a:r>
                        <a:rPr lang="en-US" sz="1400" b="1" dirty="0">
                          <a:solidFill>
                            <a:schemeClr val="accent1">
                              <a:lumMod val="50000"/>
                            </a:schemeClr>
                          </a:solidFill>
                        </a:rPr>
                        <a:t>2,09,84,000</a:t>
                      </a:r>
                      <a:endParaRPr lang="en-US" sz="1400" b="1" dirty="0">
                        <a:solidFill>
                          <a:schemeClr val="accent1">
                            <a:lumMod val="50000"/>
                          </a:schemeClr>
                        </a:solidFill>
                        <a:latin typeface="Calibri" charset="0"/>
                        <a:ea typeface="Calibri" charset="0"/>
                        <a:cs typeface="Calibri" charset="0"/>
                      </a:endParaRPr>
                    </a:p>
                  </a:txBody>
                  <a:tcPr anchor="ctr"/>
                </a:tc>
                <a:tc>
                  <a:txBody>
                    <a:bodyPr/>
                    <a:lstStyle/>
                    <a:p>
                      <a:pPr marL="0" indent="0" algn="ctr">
                        <a:buNone/>
                      </a:pPr>
                      <a:r>
                        <a:rPr lang="en-US" sz="1400" b="1" dirty="0">
                          <a:solidFill>
                            <a:schemeClr val="accent1">
                              <a:lumMod val="50000"/>
                            </a:schemeClr>
                          </a:solidFill>
                        </a:rPr>
                        <a:t>12,34,353</a:t>
                      </a:r>
                      <a:endParaRPr lang="en-US" sz="1400" b="1" dirty="0">
                        <a:solidFill>
                          <a:schemeClr val="accent1">
                            <a:lumMod val="50000"/>
                          </a:schemeClr>
                        </a:solidFill>
                        <a:latin typeface="Calibri" charset="0"/>
                        <a:ea typeface="Calibri" charset="0"/>
                        <a:cs typeface="Calibri" charset="0"/>
                      </a:endParaRPr>
                    </a:p>
                  </a:txBody>
                  <a:tcPr anchor="ctr"/>
                </a:tc>
                <a:extLst>
                  <a:ext uri="{0D108BD9-81ED-4DB2-BD59-A6C34878D82A}">
                    <a16:rowId xmlns:a16="http://schemas.microsoft.com/office/drawing/2014/main" val="10001"/>
                  </a:ext>
                </a:extLst>
              </a:tr>
              <a:tr h="548640">
                <a:tc>
                  <a:txBody>
                    <a:bodyPr/>
                    <a:lstStyle/>
                    <a:p>
                      <a:pPr marL="0" indent="0" algn="ctr">
                        <a:buNone/>
                      </a:pPr>
                      <a:r>
                        <a:rPr lang="en-US" sz="1400" b="1" dirty="0">
                          <a:solidFill>
                            <a:schemeClr val="accent1">
                              <a:lumMod val="50000"/>
                            </a:schemeClr>
                          </a:solidFill>
                        </a:rPr>
                        <a:t>Tier 1</a:t>
                      </a:r>
                      <a:endParaRPr lang="en-US" sz="1400" b="1" dirty="0">
                        <a:solidFill>
                          <a:schemeClr val="accent1">
                            <a:lumMod val="50000"/>
                          </a:schemeClr>
                        </a:solidFill>
                        <a:latin typeface="Calibri" charset="0"/>
                        <a:ea typeface="Calibri" charset="0"/>
                        <a:cs typeface="Calibri" charset="0"/>
                      </a:endParaRPr>
                    </a:p>
                  </a:txBody>
                  <a:tcPr anchor="ctr"/>
                </a:tc>
                <a:tc>
                  <a:txBody>
                    <a:bodyPr/>
                    <a:lstStyle/>
                    <a:p>
                      <a:pPr marL="0" indent="0" algn="ctr">
                        <a:buNone/>
                      </a:pPr>
                      <a:r>
                        <a:rPr lang="en-US" sz="1400" b="1" dirty="0">
                          <a:solidFill>
                            <a:schemeClr val="accent1">
                              <a:lumMod val="50000"/>
                            </a:schemeClr>
                          </a:solidFill>
                        </a:rPr>
                        <a:t>11</a:t>
                      </a:r>
                      <a:endParaRPr lang="en-US" sz="1400" b="1" dirty="0">
                        <a:solidFill>
                          <a:schemeClr val="accent1">
                            <a:lumMod val="50000"/>
                          </a:schemeClr>
                        </a:solidFill>
                        <a:latin typeface="Calibri" charset="0"/>
                        <a:ea typeface="Calibri" charset="0"/>
                        <a:cs typeface="Calibri" charset="0"/>
                      </a:endParaRPr>
                    </a:p>
                  </a:txBody>
                  <a:tcPr anchor="ctr"/>
                </a:tc>
                <a:tc>
                  <a:txBody>
                    <a:bodyPr/>
                    <a:lstStyle/>
                    <a:p>
                      <a:pPr marL="0" indent="0" algn="ctr">
                        <a:buNone/>
                      </a:pPr>
                      <a:r>
                        <a:rPr lang="en-US" sz="1400" b="1" dirty="0">
                          <a:solidFill>
                            <a:schemeClr val="accent1">
                              <a:lumMod val="50000"/>
                            </a:schemeClr>
                          </a:solidFill>
                        </a:rPr>
                        <a:t>1,22,29,000</a:t>
                      </a:r>
                      <a:endParaRPr lang="en-US" sz="1400" b="1" dirty="0">
                        <a:solidFill>
                          <a:schemeClr val="accent1">
                            <a:lumMod val="50000"/>
                          </a:schemeClr>
                        </a:solidFill>
                        <a:latin typeface="Calibri" charset="0"/>
                        <a:ea typeface="Calibri" charset="0"/>
                        <a:cs typeface="Calibri" charset="0"/>
                      </a:endParaRPr>
                    </a:p>
                  </a:txBody>
                  <a:tcPr anchor="ctr"/>
                </a:tc>
                <a:tc>
                  <a:txBody>
                    <a:bodyPr/>
                    <a:lstStyle/>
                    <a:p>
                      <a:pPr marL="0" indent="0" algn="ctr">
                        <a:buNone/>
                      </a:pPr>
                      <a:r>
                        <a:rPr lang="en-US" sz="1400" b="1" dirty="0">
                          <a:solidFill>
                            <a:schemeClr val="accent1">
                              <a:lumMod val="50000"/>
                            </a:schemeClr>
                          </a:solidFill>
                        </a:rPr>
                        <a:t>11,11,727</a:t>
                      </a:r>
                      <a:endParaRPr lang="en-US" sz="1400" b="1" dirty="0">
                        <a:solidFill>
                          <a:schemeClr val="accent1">
                            <a:lumMod val="50000"/>
                          </a:schemeClr>
                        </a:solidFill>
                        <a:latin typeface="Calibri" charset="0"/>
                        <a:ea typeface="Calibri" charset="0"/>
                        <a:cs typeface="Calibri" charset="0"/>
                      </a:endParaRPr>
                    </a:p>
                  </a:txBody>
                  <a:tcPr anchor="ctr"/>
                </a:tc>
                <a:extLst>
                  <a:ext uri="{0D108BD9-81ED-4DB2-BD59-A6C34878D82A}">
                    <a16:rowId xmlns:a16="http://schemas.microsoft.com/office/drawing/2014/main" val="10002"/>
                  </a:ext>
                </a:extLst>
              </a:tr>
              <a:tr h="548640">
                <a:tc>
                  <a:txBody>
                    <a:bodyPr/>
                    <a:lstStyle/>
                    <a:p>
                      <a:pPr marL="0" indent="0" algn="ctr">
                        <a:buNone/>
                      </a:pPr>
                      <a:r>
                        <a:rPr lang="en-US" sz="1400" b="1" dirty="0">
                          <a:solidFill>
                            <a:schemeClr val="accent1">
                              <a:lumMod val="50000"/>
                            </a:schemeClr>
                          </a:solidFill>
                        </a:rPr>
                        <a:t>Tier 2</a:t>
                      </a:r>
                      <a:endParaRPr lang="en-US" sz="1400" b="1" dirty="0">
                        <a:solidFill>
                          <a:schemeClr val="accent1">
                            <a:lumMod val="50000"/>
                          </a:schemeClr>
                        </a:solidFill>
                        <a:latin typeface="Calibri" charset="0"/>
                        <a:ea typeface="Calibri" charset="0"/>
                        <a:cs typeface="Calibri" charset="0"/>
                      </a:endParaRPr>
                    </a:p>
                  </a:txBody>
                  <a:tcPr anchor="ctr"/>
                </a:tc>
                <a:tc>
                  <a:txBody>
                    <a:bodyPr/>
                    <a:lstStyle/>
                    <a:p>
                      <a:pPr marL="0" indent="0" algn="ctr">
                        <a:buNone/>
                      </a:pPr>
                      <a:r>
                        <a:rPr lang="en-US" sz="1400" b="1" dirty="0">
                          <a:solidFill>
                            <a:schemeClr val="accent1">
                              <a:lumMod val="50000"/>
                            </a:schemeClr>
                          </a:solidFill>
                        </a:rPr>
                        <a:t>7</a:t>
                      </a:r>
                      <a:endParaRPr lang="en-US" sz="1400" b="1" dirty="0">
                        <a:solidFill>
                          <a:schemeClr val="accent1">
                            <a:lumMod val="50000"/>
                          </a:schemeClr>
                        </a:solidFill>
                        <a:latin typeface="Calibri" charset="0"/>
                        <a:ea typeface="Calibri" charset="0"/>
                        <a:cs typeface="Calibri" charset="0"/>
                      </a:endParaRPr>
                    </a:p>
                  </a:txBody>
                  <a:tcPr anchor="ctr"/>
                </a:tc>
                <a:tc>
                  <a:txBody>
                    <a:bodyPr/>
                    <a:lstStyle/>
                    <a:p>
                      <a:pPr marL="0" indent="0" algn="ctr">
                        <a:buNone/>
                      </a:pPr>
                      <a:r>
                        <a:rPr lang="en-US" sz="1400" b="1" dirty="0">
                          <a:solidFill>
                            <a:schemeClr val="accent1">
                              <a:lumMod val="50000"/>
                            </a:schemeClr>
                          </a:solidFill>
                        </a:rPr>
                        <a:t>67,97,000</a:t>
                      </a:r>
                      <a:endParaRPr lang="en-US" sz="1400" b="1" dirty="0">
                        <a:solidFill>
                          <a:schemeClr val="accent1">
                            <a:lumMod val="50000"/>
                          </a:schemeClr>
                        </a:solidFill>
                        <a:latin typeface="Calibri" charset="0"/>
                        <a:ea typeface="Calibri" charset="0"/>
                        <a:cs typeface="Calibri" charset="0"/>
                      </a:endParaRPr>
                    </a:p>
                  </a:txBody>
                  <a:tcPr anchor="ctr"/>
                </a:tc>
                <a:tc>
                  <a:txBody>
                    <a:bodyPr/>
                    <a:lstStyle/>
                    <a:p>
                      <a:pPr marL="0" indent="0" algn="ctr">
                        <a:buNone/>
                      </a:pPr>
                      <a:r>
                        <a:rPr lang="en-US" sz="1400" b="1" dirty="0">
                          <a:solidFill>
                            <a:schemeClr val="accent1">
                              <a:lumMod val="50000"/>
                            </a:schemeClr>
                          </a:solidFill>
                        </a:rPr>
                        <a:t>9,71,000</a:t>
                      </a:r>
                      <a:endParaRPr lang="en-US" sz="1400" b="1" dirty="0">
                        <a:solidFill>
                          <a:schemeClr val="accent1">
                            <a:lumMod val="50000"/>
                          </a:schemeClr>
                        </a:solidFill>
                        <a:latin typeface="Calibri" charset="0"/>
                        <a:ea typeface="Calibri" charset="0"/>
                        <a:cs typeface="Calibri" charset="0"/>
                      </a:endParaRPr>
                    </a:p>
                  </a:txBody>
                  <a:tcPr anchor="ctr"/>
                </a:tc>
                <a:extLst>
                  <a:ext uri="{0D108BD9-81ED-4DB2-BD59-A6C34878D82A}">
                    <a16:rowId xmlns:a16="http://schemas.microsoft.com/office/drawing/2014/main" val="10003"/>
                  </a:ext>
                </a:extLst>
              </a:tr>
            </a:tbl>
          </a:graphicData>
        </a:graphic>
      </p:graphicFrame>
      <p:sp>
        <p:nvSpPr>
          <p:cNvPr id="6" name="Text 3"/>
          <p:cNvSpPr/>
          <p:nvPr/>
        </p:nvSpPr>
        <p:spPr>
          <a:xfrm>
            <a:off x="1280160" y="3665829"/>
            <a:ext cx="9601200" cy="365760"/>
          </a:xfrm>
          <a:prstGeom prst="rect">
            <a:avLst/>
          </a:prstGeom>
          <a:noFill/>
          <a:ln/>
        </p:spPr>
        <p:txBody>
          <a:bodyPr wrap="square" lIns="0" tIns="0" rIns="0" bIns="0" rtlCol="0" anchor="ctr"/>
          <a:lstStyle/>
          <a:p>
            <a:pPr marL="0" indent="0" algn="ctr">
              <a:buNone/>
            </a:pPr>
            <a:r>
              <a:rPr lang="en-US" sz="1200" i="1" dirty="0">
                <a:solidFill>
                  <a:srgbClr val="9FB0CC"/>
                </a:solidFill>
                <a:latin typeface="Calibri" pitchFamily="34" charset="0"/>
                <a:ea typeface="Calibri" pitchFamily="34" charset="-122"/>
                <a:cs typeface="Calibri" pitchFamily="34" charset="-120"/>
              </a:rPr>
              <a:t>Grand total: 35 delivered · 8 pending · 7 in transit across 65 vehicle orders and 13 Tata models.</a:t>
            </a:r>
            <a:endParaRPr lang="en-US" sz="1200" dirty="0"/>
          </a:p>
        </p:txBody>
      </p:sp>
      <p:sp>
        <p:nvSpPr>
          <p:cNvPr id="7" name="Text 4"/>
          <p:cNvSpPr/>
          <p:nvPr/>
        </p:nvSpPr>
        <p:spPr>
          <a:xfrm>
            <a:off x="776017" y="4142285"/>
            <a:ext cx="2881583" cy="1761365"/>
          </a:xfrm>
          <a:prstGeom prst="rect">
            <a:avLst/>
          </a:prstGeom>
          <a:noFill/>
          <a:ln/>
        </p:spPr>
        <p:txBody>
          <a:bodyPr wrap="square" lIns="0" tIns="0" rIns="0" bIns="0" rtlCol="0" anchor="ctr"/>
          <a:lstStyle/>
          <a:p>
            <a:pPr marL="0" indent="0" algn="ctr">
              <a:buNone/>
            </a:pPr>
            <a:r>
              <a:rPr lang="en-US" sz="1400" dirty="0">
                <a:solidFill>
                  <a:srgbClr val="2EC4B6"/>
                </a:solidFill>
                <a:latin typeface="Calibri" pitchFamily="34" charset="0"/>
                <a:ea typeface="Calibri" pitchFamily="34" charset="-122"/>
                <a:cs typeface="Calibri" pitchFamily="34" charset="-120"/>
              </a:rPr>
              <a:t>Techniques applied: Pivot Tables · Pivot Charts · Data Validation · Calculated Sheets — isolating raw data from the dashboard UI </a:t>
            </a:r>
            <a:r>
              <a:rPr lang="en-US" sz="1600" dirty="0">
                <a:solidFill>
                  <a:srgbClr val="2EC4B6"/>
                </a:solidFill>
                <a:latin typeface="Calibri" pitchFamily="34" charset="0"/>
                <a:ea typeface="Calibri" pitchFamily="34" charset="-122"/>
                <a:cs typeface="Calibri" pitchFamily="34" charset="-120"/>
              </a:rPr>
              <a:t>for</a:t>
            </a:r>
            <a:r>
              <a:rPr lang="en-US" sz="1400" dirty="0">
                <a:solidFill>
                  <a:srgbClr val="2EC4B6"/>
                </a:solidFill>
                <a:latin typeface="Calibri" pitchFamily="34" charset="0"/>
                <a:ea typeface="Calibri" pitchFamily="34" charset="-122"/>
                <a:cs typeface="Calibri" pitchFamily="34" charset="-120"/>
              </a:rPr>
              <a:t> integrity.</a:t>
            </a:r>
            <a:endParaRPr lang="en-US" sz="1400" dirty="0"/>
          </a:p>
        </p:txBody>
      </p:sp>
      <p:sp>
        <p:nvSpPr>
          <p:cNvPr id="8" name="Text 5"/>
          <p:cNvSpPr/>
          <p:nvPr/>
        </p:nvSpPr>
        <p:spPr>
          <a:xfrm>
            <a:off x="457200" y="6510528"/>
            <a:ext cx="7772400" cy="274320"/>
          </a:xfrm>
          <a:prstGeom prst="rect">
            <a:avLst/>
          </a:prstGeom>
          <a:noFill/>
          <a:ln/>
        </p:spPr>
        <p:txBody>
          <a:bodyPr wrap="square" lIns="0" tIns="0" rIns="0" bIns="0" rtlCol="0" anchor="ctr"/>
          <a:lstStyle/>
          <a:p>
            <a:pPr marL="0" indent="0" algn="l">
              <a:buNone/>
            </a:pPr>
            <a:r>
              <a:rPr lang="en-US" sz="800" dirty="0">
                <a:solidFill>
                  <a:srgbClr val="9FB0CC"/>
                </a:solidFill>
                <a:latin typeface="Calibri" pitchFamily="34" charset="0"/>
                <a:ea typeface="Calibri" pitchFamily="34" charset="-122"/>
                <a:cs typeface="Calibri" pitchFamily="34" charset="-120"/>
              </a:rPr>
              <a:t>TATA MOTORS SALES PERFORMANCE &amp; DELIVERY TRACKING DASHBOARD</a:t>
            </a:r>
            <a:endParaRPr lang="en-US" sz="800" dirty="0"/>
          </a:p>
        </p:txBody>
      </p:sp>
      <p:sp>
        <p:nvSpPr>
          <p:cNvPr id="9" name="Text 6"/>
          <p:cNvSpPr/>
          <p:nvPr/>
        </p:nvSpPr>
        <p:spPr>
          <a:xfrm>
            <a:off x="11277295" y="6510528"/>
            <a:ext cx="457200" cy="274320"/>
          </a:xfrm>
          <a:prstGeom prst="rect">
            <a:avLst/>
          </a:prstGeom>
          <a:noFill/>
          <a:ln/>
        </p:spPr>
        <p:txBody>
          <a:bodyPr wrap="square" lIns="0" tIns="0" rIns="0" bIns="0" rtlCol="0" anchor="ctr"/>
          <a:lstStyle/>
          <a:p>
            <a:pPr marL="0" indent="0" algn="r">
              <a:buNone/>
            </a:pPr>
            <a:r>
              <a:rPr lang="en-US" sz="800" dirty="0">
                <a:solidFill>
                  <a:srgbClr val="9FB0CC"/>
                </a:solidFill>
                <a:latin typeface="Calibri" pitchFamily="34" charset="0"/>
                <a:ea typeface="Calibri" pitchFamily="34" charset="-122"/>
                <a:cs typeface="Calibri" pitchFamily="34" charset="-120"/>
              </a:rPr>
              <a:t>15</a:t>
            </a:r>
            <a:endParaRPr lang="en-US" sz="800" dirty="0"/>
          </a:p>
        </p:txBody>
      </p:sp>
      <p:graphicFrame>
        <p:nvGraphicFramePr>
          <p:cNvPr id="5" name="Chart 4">
            <a:extLst>
              <a:ext uri="{FF2B5EF4-FFF2-40B4-BE49-F238E27FC236}">
                <a16:creationId xmlns:a16="http://schemas.microsoft.com/office/drawing/2014/main" id="{154AB4E7-3B59-4AA5-A7B9-34F7C29F648F}"/>
              </a:ext>
            </a:extLst>
          </p:cNvPr>
          <p:cNvGraphicFramePr>
            <a:graphicFrameLocks/>
          </p:cNvGraphicFramePr>
          <p:nvPr>
            <p:extLst>
              <p:ext uri="{D42A27DB-BD31-4B8C-83A1-F6EECF244321}">
                <p14:modId xmlns:p14="http://schemas.microsoft.com/office/powerpoint/2010/main" val="1759473980"/>
              </p:ext>
            </p:extLst>
          </p:nvPr>
        </p:nvGraphicFramePr>
        <p:xfrm>
          <a:off x="3922372" y="4031589"/>
          <a:ext cx="7982584" cy="2607118"/>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0A1B36"/>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502920"/>
          </a:xfrm>
          <a:prstGeom prst="rect">
            <a:avLst/>
          </a:prstGeom>
          <a:ln/>
        </p:spPr>
        <p:style>
          <a:lnRef idx="0">
            <a:schemeClr val="accent2"/>
          </a:lnRef>
          <a:fillRef idx="3">
            <a:schemeClr val="accent2"/>
          </a:fillRef>
          <a:effectRef idx="3">
            <a:schemeClr val="accent2"/>
          </a:effectRef>
          <a:fontRef idx="minor">
            <a:schemeClr val="lt1"/>
          </a:fontRef>
        </p:style>
        <p:txBody>
          <a:bodyPr wrap="square" lIns="0" tIns="0" rIns="0" bIns="0" rtlCol="0" anchor="ctr"/>
          <a:lstStyle/>
          <a:p>
            <a:pPr marL="0" indent="0" algn="l">
              <a:buNone/>
            </a:pPr>
            <a:r>
              <a:rPr lang="en-US" sz="2600" b="1" kern="0" spc="50" dirty="0">
                <a:solidFill>
                  <a:srgbClr val="FFFFFF"/>
                </a:solidFill>
                <a:latin typeface="Cambria" pitchFamily="34" charset="0"/>
                <a:ea typeface="Cambria" pitchFamily="34" charset="-122"/>
                <a:cs typeface="Cambria" pitchFamily="34" charset="-120"/>
              </a:rPr>
              <a:t>CONCLUSION &amp; REFERENCES:</a:t>
            </a:r>
            <a:endParaRPr lang="en-US" sz="2600" dirty="0"/>
          </a:p>
        </p:txBody>
      </p:sp>
      <p:sp>
        <p:nvSpPr>
          <p:cNvPr id="3" name="Shape 1"/>
          <p:cNvSpPr/>
          <p:nvPr/>
        </p:nvSpPr>
        <p:spPr>
          <a:xfrm>
            <a:off x="502920" y="914400"/>
            <a:ext cx="11155680" cy="16459"/>
          </a:xfrm>
          <a:prstGeom prst="rect">
            <a:avLst/>
          </a:prstGeom>
          <a:solidFill>
            <a:srgbClr val="24406F"/>
          </a:solidFill>
          <a:ln/>
        </p:spPr>
        <p:txBody>
          <a:bodyPr/>
          <a:lstStyle/>
          <a:p>
            <a:endParaRPr lang="en-IN"/>
          </a:p>
        </p:txBody>
      </p:sp>
      <p:sp>
        <p:nvSpPr>
          <p:cNvPr id="4" name="Shape 2"/>
          <p:cNvSpPr/>
          <p:nvPr/>
        </p:nvSpPr>
        <p:spPr>
          <a:xfrm>
            <a:off x="502920" y="1463040"/>
            <a:ext cx="11155680" cy="2377440"/>
          </a:xfrm>
          <a:prstGeom prst="roundRect">
            <a:avLst>
              <a:gd name="adj" fmla="val 3077"/>
            </a:avLst>
          </a:prstGeom>
          <a:solidFill>
            <a:srgbClr val="132A52"/>
          </a:solidFill>
          <a:ln/>
        </p:spPr>
        <p:txBody>
          <a:bodyPr/>
          <a:lstStyle/>
          <a:p>
            <a:endParaRPr lang="en-IN"/>
          </a:p>
        </p:txBody>
      </p:sp>
      <p:sp>
        <p:nvSpPr>
          <p:cNvPr id="5" name="Text 3"/>
          <p:cNvSpPr/>
          <p:nvPr/>
        </p:nvSpPr>
        <p:spPr>
          <a:xfrm>
            <a:off x="868680" y="1691640"/>
            <a:ext cx="10424160" cy="1920240"/>
          </a:xfrm>
          <a:prstGeom prst="rect">
            <a:avLst/>
          </a:prstGeom>
          <a:noFill/>
          <a:ln/>
        </p:spPr>
        <p:txBody>
          <a:bodyPr wrap="square" lIns="0" tIns="0" rIns="0" bIns="0" rtlCol="0" anchor="ctr"/>
          <a:lstStyle/>
          <a:p>
            <a:pPr marL="0" indent="0">
              <a:lnSpc>
                <a:spcPct val="125000"/>
              </a:lnSpc>
              <a:buNone/>
            </a:pPr>
            <a:r>
              <a:rPr lang="en-US" sz="1350" dirty="0">
                <a:solidFill>
                  <a:srgbClr val="FFFFFF"/>
                </a:solidFill>
                <a:latin typeface="Calibri" pitchFamily="34" charset="0"/>
                <a:ea typeface="Calibri" pitchFamily="34" charset="-122"/>
                <a:cs typeface="Calibri" pitchFamily="34" charset="-120"/>
              </a:rPr>
              <a:t>This project successfully transformed raw sales data into a structured, functional Excel dashboard. By processing automotive sales records, aggregating the data through Pivot Tables, and visualizing the results, the project highlights crucial operational metrics — most notably the revenue dominance of Metro regions and the fulfillment rates of specific car models. Implementing the proposed future scope will further enhance the dashboard's capacity to drive agile, data-driven decisions for automotive retail management.</a:t>
            </a:r>
            <a:endParaRPr lang="en-US" sz="1350" dirty="0"/>
          </a:p>
        </p:txBody>
      </p:sp>
      <p:sp>
        <p:nvSpPr>
          <p:cNvPr id="6" name="Text 4"/>
          <p:cNvSpPr/>
          <p:nvPr/>
        </p:nvSpPr>
        <p:spPr>
          <a:xfrm>
            <a:off x="502920" y="4160520"/>
            <a:ext cx="11155680" cy="365760"/>
          </a:xfrm>
          <a:prstGeom prst="rect">
            <a:avLst/>
          </a:prstGeom>
          <a:noFill/>
          <a:ln/>
        </p:spPr>
        <p:txBody>
          <a:bodyPr wrap="square" lIns="0" tIns="0" rIns="0" bIns="0" rtlCol="0" anchor="ctr"/>
          <a:lstStyle/>
          <a:p>
            <a:pPr marL="0" indent="0">
              <a:buNone/>
            </a:pPr>
            <a:r>
              <a:rPr lang="en-US" sz="1400" b="1" dirty="0">
                <a:solidFill>
                  <a:srgbClr val="F2994A"/>
                </a:solidFill>
                <a:latin typeface="Calibri" pitchFamily="34" charset="0"/>
                <a:ea typeface="Calibri" pitchFamily="34" charset="-122"/>
                <a:cs typeface="Calibri" pitchFamily="34" charset="-120"/>
              </a:rPr>
              <a:t>REFERENCES :</a:t>
            </a:r>
            <a:endParaRPr lang="en-US" sz="1400" dirty="0"/>
          </a:p>
        </p:txBody>
      </p:sp>
      <p:sp>
        <p:nvSpPr>
          <p:cNvPr id="7" name="Text 5"/>
          <p:cNvSpPr/>
          <p:nvPr/>
        </p:nvSpPr>
        <p:spPr>
          <a:xfrm>
            <a:off x="777240" y="4663440"/>
            <a:ext cx="10607040" cy="365760"/>
          </a:xfrm>
          <a:prstGeom prst="rect">
            <a:avLst/>
          </a:prstGeom>
          <a:noFill/>
          <a:ln/>
        </p:spPr>
        <p:txBody>
          <a:bodyPr wrap="square" lIns="0" tIns="0" rIns="0" bIns="0" rtlCol="0" anchor="ctr"/>
          <a:lstStyle/>
          <a:p>
            <a:pPr marL="0" indent="0">
              <a:buNone/>
            </a:pPr>
            <a:r>
              <a:rPr lang="en-US" sz="1250" dirty="0">
                <a:solidFill>
                  <a:srgbClr val="9FB0CC"/>
                </a:solidFill>
                <a:latin typeface="Calibri" pitchFamily="34" charset="0"/>
                <a:ea typeface="Calibri" pitchFamily="34" charset="-122"/>
                <a:cs typeface="Calibri" pitchFamily="34" charset="-120"/>
              </a:rPr>
              <a:t>•  Dataset: car_sale_final.xlsx</a:t>
            </a:r>
            <a:endParaRPr lang="en-US" sz="1250" dirty="0"/>
          </a:p>
        </p:txBody>
      </p:sp>
      <p:sp>
        <p:nvSpPr>
          <p:cNvPr id="8" name="Text 6"/>
          <p:cNvSpPr/>
          <p:nvPr/>
        </p:nvSpPr>
        <p:spPr>
          <a:xfrm>
            <a:off x="777240" y="5074920"/>
            <a:ext cx="10607040" cy="365760"/>
          </a:xfrm>
          <a:prstGeom prst="rect">
            <a:avLst/>
          </a:prstGeom>
          <a:noFill/>
          <a:ln/>
        </p:spPr>
        <p:txBody>
          <a:bodyPr wrap="square" lIns="0" tIns="0" rIns="0" bIns="0" rtlCol="0" anchor="ctr"/>
          <a:lstStyle/>
          <a:p>
            <a:pPr marL="0" indent="0">
              <a:buNone/>
            </a:pPr>
            <a:r>
              <a:rPr lang="en-US" sz="1250" dirty="0">
                <a:solidFill>
                  <a:srgbClr val="9FB0CC"/>
                </a:solidFill>
                <a:latin typeface="Calibri" pitchFamily="34" charset="0"/>
                <a:ea typeface="Calibri" pitchFamily="34" charset="-122"/>
                <a:cs typeface="Calibri" pitchFamily="34" charset="-120"/>
              </a:rPr>
              <a:t>•  Microsoft Excel Support Documentation &amp; Pivot Table Aggregation Guides</a:t>
            </a:r>
            <a:endParaRPr lang="en-US" sz="1250" dirty="0"/>
          </a:p>
        </p:txBody>
      </p:sp>
      <p:sp>
        <p:nvSpPr>
          <p:cNvPr id="9" name="Text 7"/>
          <p:cNvSpPr/>
          <p:nvPr/>
        </p:nvSpPr>
        <p:spPr>
          <a:xfrm>
            <a:off x="457200" y="6510528"/>
            <a:ext cx="7772400" cy="274320"/>
          </a:xfrm>
          <a:prstGeom prst="rect">
            <a:avLst/>
          </a:prstGeom>
          <a:noFill/>
          <a:ln/>
        </p:spPr>
        <p:txBody>
          <a:bodyPr wrap="square" lIns="0" tIns="0" rIns="0" bIns="0" rtlCol="0" anchor="ctr"/>
          <a:lstStyle/>
          <a:p>
            <a:pPr marL="0" indent="0" algn="l">
              <a:buNone/>
            </a:pPr>
            <a:r>
              <a:rPr lang="en-US" sz="800" dirty="0">
                <a:solidFill>
                  <a:srgbClr val="9FB0CC"/>
                </a:solidFill>
                <a:latin typeface="Calibri" pitchFamily="34" charset="0"/>
                <a:ea typeface="Calibri" pitchFamily="34" charset="-122"/>
                <a:cs typeface="Calibri" pitchFamily="34" charset="-120"/>
              </a:rPr>
              <a:t>TATA MOTORS SALES PERFORMANCE &amp; DELIVERY TRACKING DASHBOARD</a:t>
            </a:r>
            <a:endParaRPr lang="en-US" sz="800" dirty="0"/>
          </a:p>
        </p:txBody>
      </p:sp>
      <p:sp>
        <p:nvSpPr>
          <p:cNvPr id="10" name="Text 8"/>
          <p:cNvSpPr/>
          <p:nvPr/>
        </p:nvSpPr>
        <p:spPr>
          <a:xfrm>
            <a:off x="11277295" y="6510528"/>
            <a:ext cx="457200" cy="274320"/>
          </a:xfrm>
          <a:prstGeom prst="rect">
            <a:avLst/>
          </a:prstGeom>
          <a:noFill/>
          <a:ln/>
        </p:spPr>
        <p:txBody>
          <a:bodyPr wrap="square" lIns="0" tIns="0" rIns="0" bIns="0" rtlCol="0" anchor="ctr"/>
          <a:lstStyle/>
          <a:p>
            <a:pPr marL="0" indent="0" algn="r">
              <a:buNone/>
            </a:pPr>
            <a:r>
              <a:rPr lang="en-US" sz="800" dirty="0">
                <a:solidFill>
                  <a:srgbClr val="9FB0CC"/>
                </a:solidFill>
                <a:latin typeface="Calibri" pitchFamily="34" charset="0"/>
                <a:ea typeface="Calibri" pitchFamily="34" charset="-122"/>
                <a:cs typeface="Calibri" pitchFamily="34" charset="-120"/>
              </a:rPr>
              <a:t>16</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0A1B36"/>
        </a:solidFill>
        <a:effectLst/>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ln/>
        </p:spPr>
        <p:style>
          <a:lnRef idx="0">
            <a:schemeClr val="accent2"/>
          </a:lnRef>
          <a:fillRef idx="3">
            <a:schemeClr val="accent2"/>
          </a:fillRef>
          <a:effectRef idx="3">
            <a:schemeClr val="accent2"/>
          </a:effectRef>
          <a:fontRef idx="minor">
            <a:schemeClr val="lt1"/>
          </a:fontRef>
        </p:style>
        <p:txBody>
          <a:bodyPr/>
          <a:lstStyle/>
          <a:p>
            <a:endParaRPr lang="en-IN"/>
          </a:p>
        </p:txBody>
      </p:sp>
      <p:sp>
        <p:nvSpPr>
          <p:cNvPr id="3" name="Text 1"/>
          <p:cNvSpPr/>
          <p:nvPr/>
        </p:nvSpPr>
        <p:spPr>
          <a:xfrm>
            <a:off x="0" y="2743200"/>
            <a:ext cx="4206240" cy="91440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THANK YOU</a:t>
            </a:r>
            <a:endParaRPr lang="en-US" sz="3400" dirty="0"/>
          </a:p>
        </p:txBody>
      </p:sp>
      <p:sp>
        <p:nvSpPr>
          <p:cNvPr id="4" name="Text 2"/>
          <p:cNvSpPr/>
          <p:nvPr/>
        </p:nvSpPr>
        <p:spPr>
          <a:xfrm>
            <a:off x="0" y="3429000"/>
            <a:ext cx="4206240" cy="457200"/>
          </a:xfrm>
          <a:prstGeom prst="rect">
            <a:avLst/>
          </a:prstGeom>
          <a:noFill/>
          <a:ln/>
        </p:spPr>
        <p:txBody>
          <a:bodyPr wrap="square" lIns="0" tIns="0" rIns="0" bIns="0" rtlCol="0" anchor="ctr"/>
          <a:lstStyle/>
          <a:p>
            <a:pPr marL="0" indent="0" algn="ctr">
              <a:buNone/>
            </a:pPr>
            <a:r>
              <a:rPr lang="en-US" sz="1300" i="1" dirty="0">
                <a:solidFill>
                  <a:srgbClr val="CFE0FA"/>
                </a:solidFill>
                <a:latin typeface="Calibri" pitchFamily="34" charset="0"/>
                <a:ea typeface="Calibri" pitchFamily="34" charset="-122"/>
                <a:cs typeface="Calibri" pitchFamily="34" charset="-120"/>
              </a:rPr>
              <a:t>TATA Motors Sales Dashboard</a:t>
            </a:r>
            <a:endParaRPr lang="en-US" sz="1300" dirty="0"/>
          </a:p>
        </p:txBody>
      </p:sp>
      <p:sp>
        <p:nvSpPr>
          <p:cNvPr id="5" name="Text 3"/>
          <p:cNvSpPr/>
          <p:nvPr/>
        </p:nvSpPr>
        <p:spPr>
          <a:xfrm>
            <a:off x="4663440" y="1005840"/>
            <a:ext cx="6949440" cy="365760"/>
          </a:xfrm>
          <a:prstGeom prst="rect">
            <a:avLst/>
          </a:prstGeom>
          <a:noFill/>
          <a:ln/>
        </p:spPr>
        <p:txBody>
          <a:bodyPr wrap="square" lIns="0" tIns="0" rIns="0" bIns="0" rtlCol="0" anchor="ctr"/>
          <a:lstStyle/>
          <a:p>
            <a:pPr marL="0" indent="0">
              <a:buNone/>
            </a:pPr>
            <a:r>
              <a:rPr lang="en-US" sz="1400" b="1" dirty="0">
                <a:solidFill>
                  <a:srgbClr val="2EC4B6"/>
                </a:solidFill>
                <a:latin typeface="Calibri" pitchFamily="34" charset="0"/>
                <a:ea typeface="Calibri" pitchFamily="34" charset="-122"/>
                <a:cs typeface="Calibri" pitchFamily="34" charset="-120"/>
              </a:rPr>
              <a:t>PROJECT HIGHLIGHTS</a:t>
            </a:r>
            <a:endParaRPr lang="en-US" sz="1400" dirty="0"/>
          </a:p>
        </p:txBody>
      </p:sp>
      <p:sp>
        <p:nvSpPr>
          <p:cNvPr id="6" name="Shape 4"/>
          <p:cNvSpPr/>
          <p:nvPr/>
        </p:nvSpPr>
        <p:spPr>
          <a:xfrm>
            <a:off x="4663440" y="1673352"/>
            <a:ext cx="128016" cy="128016"/>
          </a:xfrm>
          <a:prstGeom prst="ellipse">
            <a:avLst/>
          </a:prstGeom>
          <a:solidFill>
            <a:srgbClr val="F2C94C"/>
          </a:solidFill>
          <a:ln/>
        </p:spPr>
        <p:txBody>
          <a:bodyPr/>
          <a:lstStyle/>
          <a:p>
            <a:endParaRPr lang="en-IN"/>
          </a:p>
        </p:txBody>
      </p:sp>
      <p:sp>
        <p:nvSpPr>
          <p:cNvPr id="7" name="Text 5"/>
          <p:cNvSpPr/>
          <p:nvPr/>
        </p:nvSpPr>
        <p:spPr>
          <a:xfrm>
            <a:off x="4956048" y="1527048"/>
            <a:ext cx="6675120" cy="5486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Interactive dashboard tracking 65 vehicle orders across 13 Tata models</a:t>
            </a:r>
            <a:endParaRPr lang="en-US" sz="1300" dirty="0"/>
          </a:p>
        </p:txBody>
      </p:sp>
      <p:sp>
        <p:nvSpPr>
          <p:cNvPr id="8" name="Shape 6"/>
          <p:cNvSpPr/>
          <p:nvPr/>
        </p:nvSpPr>
        <p:spPr>
          <a:xfrm>
            <a:off x="4663440" y="2450592"/>
            <a:ext cx="128016" cy="128016"/>
          </a:xfrm>
          <a:prstGeom prst="ellipse">
            <a:avLst/>
          </a:prstGeom>
          <a:solidFill>
            <a:srgbClr val="F2C94C"/>
          </a:solidFill>
          <a:ln/>
        </p:spPr>
        <p:txBody>
          <a:bodyPr/>
          <a:lstStyle/>
          <a:p>
            <a:endParaRPr lang="en-IN"/>
          </a:p>
        </p:txBody>
      </p:sp>
      <p:sp>
        <p:nvSpPr>
          <p:cNvPr id="9" name="Text 7"/>
          <p:cNvSpPr/>
          <p:nvPr/>
        </p:nvSpPr>
        <p:spPr>
          <a:xfrm>
            <a:off x="4956048" y="2304288"/>
            <a:ext cx="6675120" cy="5486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Pivot-table-driven revenue, delivery &amp; regional performance analysis</a:t>
            </a:r>
            <a:endParaRPr lang="en-US" sz="1300" dirty="0"/>
          </a:p>
        </p:txBody>
      </p:sp>
      <p:sp>
        <p:nvSpPr>
          <p:cNvPr id="10" name="Shape 8"/>
          <p:cNvSpPr/>
          <p:nvPr/>
        </p:nvSpPr>
        <p:spPr>
          <a:xfrm>
            <a:off x="4663440" y="3227832"/>
            <a:ext cx="128016" cy="128016"/>
          </a:xfrm>
          <a:prstGeom prst="ellipse">
            <a:avLst/>
          </a:prstGeom>
          <a:solidFill>
            <a:srgbClr val="F2C94C"/>
          </a:solidFill>
          <a:ln/>
        </p:spPr>
        <p:txBody>
          <a:bodyPr/>
          <a:lstStyle/>
          <a:p>
            <a:endParaRPr lang="en-IN"/>
          </a:p>
        </p:txBody>
      </p:sp>
      <p:sp>
        <p:nvSpPr>
          <p:cNvPr id="11" name="Text 9"/>
          <p:cNvSpPr/>
          <p:nvPr/>
        </p:nvSpPr>
        <p:spPr>
          <a:xfrm>
            <a:off x="4956048" y="3081528"/>
            <a:ext cx="6675120" cy="5486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86% delivery success rate with ₹12.4 Cr identified in pending orders</a:t>
            </a:r>
            <a:endParaRPr lang="en-US" sz="1300" dirty="0"/>
          </a:p>
        </p:txBody>
      </p:sp>
      <p:sp>
        <p:nvSpPr>
          <p:cNvPr id="12" name="Shape 10"/>
          <p:cNvSpPr/>
          <p:nvPr/>
        </p:nvSpPr>
        <p:spPr>
          <a:xfrm>
            <a:off x="4663440" y="4005072"/>
            <a:ext cx="128016" cy="128016"/>
          </a:xfrm>
          <a:prstGeom prst="ellipse">
            <a:avLst/>
          </a:prstGeom>
          <a:solidFill>
            <a:srgbClr val="F2C94C"/>
          </a:solidFill>
          <a:ln/>
        </p:spPr>
        <p:txBody>
          <a:bodyPr/>
          <a:lstStyle/>
          <a:p>
            <a:endParaRPr lang="en-IN"/>
          </a:p>
        </p:txBody>
      </p:sp>
      <p:sp>
        <p:nvSpPr>
          <p:cNvPr id="13" name="Text 11"/>
          <p:cNvSpPr/>
          <p:nvPr/>
        </p:nvSpPr>
        <p:spPr>
          <a:xfrm>
            <a:off x="4956048" y="3858768"/>
            <a:ext cx="6675120" cy="5486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Tata Nexon: top seller (14 units) · Tata Punch: best cost efficiency</a:t>
            </a:r>
            <a:endParaRPr lang="en-US" sz="1300" dirty="0"/>
          </a:p>
        </p:txBody>
      </p:sp>
      <p:sp>
        <p:nvSpPr>
          <p:cNvPr id="14" name="Shape 12"/>
          <p:cNvSpPr/>
          <p:nvPr/>
        </p:nvSpPr>
        <p:spPr>
          <a:xfrm>
            <a:off x="4663440" y="4782312"/>
            <a:ext cx="128016" cy="128016"/>
          </a:xfrm>
          <a:prstGeom prst="ellipse">
            <a:avLst/>
          </a:prstGeom>
          <a:solidFill>
            <a:srgbClr val="F2C94C"/>
          </a:solidFill>
          <a:ln/>
        </p:spPr>
        <p:txBody>
          <a:bodyPr/>
          <a:lstStyle/>
          <a:p>
            <a:endParaRPr lang="en-IN"/>
          </a:p>
        </p:txBody>
      </p:sp>
      <p:sp>
        <p:nvSpPr>
          <p:cNvPr id="15" name="Text 13"/>
          <p:cNvSpPr/>
          <p:nvPr/>
        </p:nvSpPr>
        <p:spPr>
          <a:xfrm>
            <a:off x="4956048" y="4636008"/>
            <a:ext cx="6675120" cy="5486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Clear roadmap for customer analytics, trend tracking &amp; automation</a:t>
            </a:r>
            <a:endParaRPr lang="en-US" sz="1300" dirty="0"/>
          </a:p>
        </p:txBody>
      </p:sp>
      <p:sp>
        <p:nvSpPr>
          <p:cNvPr id="16" name="Text 14"/>
          <p:cNvSpPr/>
          <p:nvPr/>
        </p:nvSpPr>
        <p:spPr>
          <a:xfrm>
            <a:off x="0" y="6035040"/>
            <a:ext cx="4206240" cy="365760"/>
          </a:xfrm>
          <a:prstGeom prst="rect">
            <a:avLst/>
          </a:prstGeom>
          <a:noFill/>
          <a:ln/>
        </p:spPr>
        <p:txBody>
          <a:bodyPr wrap="square" lIns="0" tIns="0" rIns="0" bIns="0" rtlCol="0" anchor="ctr"/>
          <a:lstStyle/>
          <a:p>
            <a:pPr marL="0" indent="0" algn="ctr">
              <a:buNone/>
            </a:pPr>
            <a:r>
              <a:rPr lang="en-US" sz="1100" dirty="0">
                <a:solidFill>
                  <a:srgbClr val="CFE0FA"/>
                </a:solidFill>
                <a:latin typeface="Calibri" pitchFamily="34" charset="0"/>
                <a:ea typeface="Calibri" pitchFamily="34" charset="-122"/>
                <a:cs typeface="Calibri" pitchFamily="34" charset="-120"/>
              </a:rPr>
              <a:t>Vivek Kumar  ·  Tandrima Nandy  ·  Shrayan Biswas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200</TotalTime>
  <Words>1323</Words>
  <Application>Microsoft Office PowerPoint</Application>
  <PresentationFormat>Widescreen</PresentationFormat>
  <Paragraphs>240</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Bahnschrift SemiBold</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Tandrima Nandy</cp:lastModifiedBy>
  <cp:revision>34</cp:revision>
  <dcterms:created xsi:type="dcterms:W3CDTF">2026-09-01T06:04:24Z</dcterms:created>
  <dcterms:modified xsi:type="dcterms:W3CDTF">2026-09-02T11:21:35Z</dcterms:modified>
</cp:coreProperties>
</file>